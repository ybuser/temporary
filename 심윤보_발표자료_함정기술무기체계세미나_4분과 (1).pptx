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1675"/>
  <p:notesSz cx="6858000" cy="12191675"/>
  <p:embeddedFontLst>
    <p:embeddedFont>
      <p:font typeface="No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jXVsHNmjtmHEIqNGLH+DaHClyg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NotoSans-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otoSans-italic.fntdata"/><Relationship Id="rId25" Type="http://schemas.openxmlformats.org/officeDocument/2006/relationships/font" Target="fonts/NotoSans-bold.fntdata"/><Relationship Id="rId28" Type="http://customschemas.google.com/relationships/presentationmetadata" Target="metadata"/><Relationship Id="rId27" Type="http://schemas.openxmlformats.org/officeDocument/2006/relationships/font" Target="fonts/Noto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lvl="1"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2pPr>
            <a:lvl3pPr lvl="2"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3pPr>
            <a:lvl4pPr lvl="3"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4pPr>
            <a:lvl5pPr lvl="4"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5pPr>
            <a:lvl6pPr lvl="5"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6pPr>
            <a:lvl7pPr lvl="6"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7pPr>
            <a:lvl8pPr lvl="7"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8pPr>
            <a:lvl9pPr lvl="8"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lvl="1"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2pPr>
            <a:lvl3pPr lvl="2"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3pPr>
            <a:lvl4pPr lvl="3"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4pPr>
            <a:lvl5pPr lvl="4"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5pPr>
            <a:lvl6pPr lvl="5"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6pPr>
            <a:lvl7pPr lvl="6"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7pPr>
            <a:lvl8pPr lvl="7"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8pPr>
            <a:lvl9pPr lvl="8"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indent="-228600" lvl="1" marL="9144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2pPr>
            <a:lvl3pPr indent="-228600" lvl="2" marL="13716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3pPr>
            <a:lvl4pPr indent="-228600" lvl="3" marL="18288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4pPr>
            <a:lvl5pPr indent="-228600" lvl="4" marL="22860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5pPr>
            <a:lvl6pPr indent="-228600" lvl="5" marL="27432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6pPr>
            <a:lvl7pPr indent="-228600" lvl="6" marL="32004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7pPr>
            <a:lvl8pPr indent="-228600" lvl="7" marL="36576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8pPr>
            <a:lvl9pPr indent="-228600" lvl="8" marL="41148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lvl="1"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2pPr>
            <a:lvl3pPr lvl="2"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3pPr>
            <a:lvl4pPr lvl="3"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4pPr>
            <a:lvl5pPr lvl="4"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5pPr>
            <a:lvl6pPr lvl="5"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6pPr>
            <a:lvl7pPr lvl="6"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7pPr>
            <a:lvl8pPr lvl="7"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8pPr>
            <a:lvl9pPr lvl="8"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Noto Sans"/>
                <a:ea typeface="Noto Sans"/>
                <a:cs typeface="Noto Sans"/>
                <a:sym typeface="Noto Sans"/>
              </a:rPr>
              <a:t>‹#›</a:t>
            </a:fld>
            <a:endParaRPr b="0" i="0" sz="1200" u="none" cap="none" strike="noStrike">
              <a:solidFill>
                <a:schemeClr val="dk1"/>
              </a:solidFill>
              <a:latin typeface="Noto Sans"/>
              <a:ea typeface="Noto Sans"/>
              <a:cs typeface="Noto Sans"/>
              <a:sym typeface="Noto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안녕하십니까. 해군 지능정보체계단 인공지능개발특기병 상병 심윤보입니다.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오늘 발표드릴 주제는 </a:t>
            </a:r>
            <a:r>
              <a:rPr b="1" lang="en-US" sz="1100">
                <a:latin typeface="Arial"/>
                <a:ea typeface="Arial"/>
                <a:cs typeface="Arial"/>
                <a:sym typeface="Arial"/>
              </a:rPr>
              <a:t>공개자료 기반 함정형 다중 CCTV 화재·연기 조기경보 시스템의 설계와 예비 검증</a:t>
            </a:r>
            <a:r>
              <a:rPr lang="en-US" sz="1100">
                <a:latin typeface="Arial"/>
                <a:ea typeface="Arial"/>
                <a:cs typeface="Arial"/>
                <a:sym typeface="Arial"/>
              </a:rPr>
              <a:t>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본 연구는 실제 해군 함정 CCTV 영상을 사용하지 않았고, 함정에 실제 화재 및 연기가 나는 데이터도 사용하지 않았습니다. </a:t>
            </a:r>
            <a:br>
              <a:rPr lang="en-US" sz="1100">
                <a:latin typeface="Arial"/>
                <a:ea typeface="Arial"/>
                <a:cs typeface="Arial"/>
                <a:sym typeface="Arial"/>
              </a:rPr>
            </a:br>
            <a:r>
              <a:rPr lang="en-US" sz="1100">
                <a:latin typeface="Arial"/>
                <a:ea typeface="Arial"/>
                <a:cs typeface="Arial"/>
                <a:sym typeface="Arial"/>
              </a:rPr>
              <a:t>따라서 실함 운용환경에서의 성능 입증이나 배치 가능성을 주장하는 연구가 아닙니다.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대신 제가 확인하고자 한 질문은, </a:t>
            </a:r>
            <a:r>
              <a:rPr b="1" lang="en-US" sz="1100">
                <a:latin typeface="Arial"/>
                <a:ea typeface="Arial"/>
                <a:cs typeface="Arial"/>
                <a:sym typeface="Arial"/>
              </a:rPr>
              <a:t>공개자료만으로 데이터 구성, 합성 positive proxy, detector, temporal verifier, event evidence까지 이어지는 재현 가능한 연구 뼈대 파이프라인을 만들 수 있는가</a:t>
            </a:r>
            <a:r>
              <a:rPr lang="en-US" sz="1100">
                <a:latin typeface="Arial"/>
                <a:ea typeface="Arial"/>
                <a:cs typeface="Arial"/>
                <a:sym typeface="Arial"/>
              </a:rPr>
              <a:t>입니다.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오늘 발표의 핵심은 직접 설계해본 scaffold를 살펴보며, </a:t>
            </a:r>
            <a:r>
              <a:rPr b="1" lang="en-US" sz="1100">
                <a:latin typeface="Arial"/>
                <a:ea typeface="Arial"/>
                <a:cs typeface="Arial"/>
                <a:sym typeface="Arial"/>
              </a:rPr>
              <a:t>어디까지 가능했고, 어디서 실패했으며, 실함 운용을 위한 AI 연구 문제가 무엇인지</a:t>
            </a:r>
            <a:r>
              <a:rPr lang="en-US" sz="1100">
                <a:latin typeface="Arial"/>
                <a:ea typeface="Arial"/>
                <a:cs typeface="Arial"/>
                <a:sym typeface="Arial"/>
              </a:rPr>
              <a:t>를 기술적으로 보여드리는 것입니다</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함정에서 화재와 연기 감지가 어려운 이유는 단순히 “불을 잘 찾는 detector” 하나로 끝나지 않기 때문입니다.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함정 내부는 제한된 공간이고, 장비와 배관, 전장품이 밀집되어 있습니다. 시야 안에는 붉은 밸브, 반사광, 표시등, 모니터 화면처럼 화재와 혼동될 수 있는 요소가 많습니다. 또 화재가 실제로 발생했을 때는 구획과 격벽 때문에 초기 대응 시간이 매우 중요합니다.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그래서 이 문제는 단일 이미지에서 fire 또는 smoke box를 찾는 </a:t>
            </a:r>
            <a:r>
              <a:rPr b="1" lang="en-US" sz="1100">
                <a:latin typeface="Arial"/>
                <a:ea typeface="Arial"/>
                <a:cs typeface="Arial"/>
                <a:sym typeface="Arial"/>
              </a:rPr>
              <a:t>frame-level detection</a:t>
            </a:r>
            <a:r>
              <a:rPr lang="en-US" sz="1100">
                <a:latin typeface="Arial"/>
                <a:ea typeface="Arial"/>
                <a:cs typeface="Arial"/>
                <a:sym typeface="Arial"/>
              </a:rPr>
              <a:t> 문제를 넘어갑니다. 실제로는 여러 CCTV 입력에서 순간적인 오인식을 억제하면서, 시간적으로 일관된 신호를 </a:t>
            </a:r>
            <a:r>
              <a:rPr b="1" lang="en-US" sz="1100">
                <a:latin typeface="Arial"/>
                <a:ea typeface="Arial"/>
                <a:cs typeface="Arial"/>
                <a:sym typeface="Arial"/>
              </a:rPr>
              <a:t>event-level warning</a:t>
            </a:r>
            <a:r>
              <a:rPr lang="en-US" sz="1100">
                <a:latin typeface="Arial"/>
                <a:ea typeface="Arial"/>
                <a:cs typeface="Arial"/>
                <a:sym typeface="Arial"/>
              </a:rPr>
              <a:t>으로 바꾸는 문제입니다.</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우측 그림에 해당 구조의 간단히 표현을 볼 수 있습니다. detector는 매 프레임마다 후보를 냅니다. 하지만 경보 시스템은 그 후보를 바로 alarm으로 바꾸지 않고, 시간 검증기, 즉 temporal verifier를 통해 짧지만 충분한 시간 속 반복성과 지속성을 확인하고, 그 결과를 alarm과 evidence로 남겨야 합니다.</a:t>
            </a:r>
            <a:endParaRPr/>
          </a:p>
        </p:txBody>
      </p:sp>
      <p:sp>
        <p:nvSpPr>
          <p:cNvPr id="44" name="Google Shape;4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 연구는 세 가지 제약에서 출발했습니다.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첫째, 실제 해군 함정 CCTV를 사용하지 않습니다. 둘째, 특정 함급이나 구획 배치를 복원할 수 있는 비공개 내부 구조 자료를 사용하지 않습니다. 셋째, 실제 함정 화재나 연기 상황의 positive label도 없습니다.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본 연구는 이 제약 자체를 문제 정의로 삼았습니다. </a:t>
            </a:r>
            <a:r>
              <a:rPr b="1" lang="en-US" sz="1100">
                <a:latin typeface="Arial"/>
                <a:ea typeface="Arial"/>
                <a:cs typeface="Arial"/>
                <a:sym typeface="Arial"/>
              </a:rPr>
              <a:t>비공개 데이터 없이, 공개자료만으로 어디까지 재현 가능한 검증 체계를 만들 수 있는가</a:t>
            </a:r>
            <a:r>
              <a:rPr lang="en-US" sz="1100">
                <a:latin typeface="Arial"/>
                <a:ea typeface="Arial"/>
                <a:cs typeface="Arial"/>
                <a:sym typeface="Arial"/>
              </a:rPr>
              <a:t>를 묻고, </a:t>
            </a:r>
            <a:br>
              <a:rPr lang="en-US" sz="1100">
                <a:latin typeface="Arial"/>
                <a:ea typeface="Arial"/>
                <a:cs typeface="Arial"/>
                <a:sym typeface="Arial"/>
              </a:rPr>
            </a:br>
            <a:r>
              <a:rPr lang="en-US" sz="1100">
                <a:latin typeface="Arial"/>
                <a:ea typeface="Arial"/>
                <a:cs typeface="Arial"/>
                <a:sym typeface="Arial"/>
              </a:rPr>
              <a:t>동시에 </a:t>
            </a:r>
            <a:r>
              <a:rPr b="1" lang="en-US" sz="1100">
                <a:latin typeface="Arial"/>
                <a:ea typeface="Arial"/>
                <a:cs typeface="Arial"/>
                <a:sym typeface="Arial"/>
              </a:rPr>
              <a:t>향후 필요 부서에서 실함 배치 시 사용 가능하도록 구조를 설계하여 파이프라인을 검증</a:t>
            </a:r>
            <a:r>
              <a:rPr lang="en-US" sz="1100">
                <a:latin typeface="Arial"/>
                <a:ea typeface="Arial"/>
                <a:cs typeface="Arial"/>
                <a:sym typeface="Arial"/>
              </a:rPr>
              <a:t>하고자 하였습니다.</a:t>
            </a:r>
            <a:endParaRPr/>
          </a:p>
        </p:txBody>
      </p:sp>
      <p:sp>
        <p:nvSpPr>
          <p:cNvPr id="87" name="Google Shape;8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저희는 본 연구를 통해 공개자료 기반 data construction workflow를 만들었고, 합성 데이터 synthetic v1 positive proxy를 생성했으며, detector에서 temporal verifier, event evidence로 이어지는 pipeline을 구현했습니다. 그리고 hard-negative confuser에서 어떤 failure mode가 나타나는지도 관찰했습니다.</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반대로 실제 데이터를 이용하지 않았기에, 함정 운용환경에서의 성능을 입증하지 않습니다. 즉, 배치 가능성이나 운용 적합성을 검증하지 않고, 연구에서 생성한 synthetic v1을 실제 함정 화재 positive label로 간주하지 않습니다. 또한 이번 fast detector baseline은 localization benchmark가 아닙니다.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이 경계를 명확히 하는 이유는, 군사 보안 환경에서 AI 연구를 할 때 성능 수치보다 더 중요한 것이 </a:t>
            </a:r>
            <a:r>
              <a:rPr b="1" lang="en-US" sz="1100">
                <a:latin typeface="Arial"/>
                <a:ea typeface="Arial"/>
                <a:cs typeface="Arial"/>
                <a:sym typeface="Arial"/>
              </a:rPr>
              <a:t>데이터 경계와 검증 경계</a:t>
            </a:r>
            <a:r>
              <a:rPr lang="en-US" sz="1100">
                <a:latin typeface="Arial"/>
                <a:ea typeface="Arial"/>
                <a:cs typeface="Arial"/>
                <a:sym typeface="Arial"/>
              </a:rPr>
              <a:t>이기 때문입니다.</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이제 데이터 전략을 설명드리겠습니다.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실제 함정 positive label이 없기 때문에, 데이터를 세 층으로 나누어 구성했습니다.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첫 번째 층은 </a:t>
            </a:r>
            <a:r>
              <a:rPr b="1" lang="en-US" sz="1100">
                <a:latin typeface="Arial"/>
                <a:ea typeface="Arial"/>
                <a:cs typeface="Arial"/>
                <a:sym typeface="Arial"/>
              </a:rPr>
              <a:t>fire/smoke donor crop bank</a:t>
            </a:r>
            <a:r>
              <a:rPr lang="en-US" sz="1100">
                <a:latin typeface="Arial"/>
                <a:ea typeface="Arial"/>
                <a:cs typeface="Arial"/>
                <a:sym typeface="Arial"/>
              </a:rPr>
              <a:t>입니다. (xx기관의) D-Fire와 CQU(xx대학교)의 FireSmokeYOLO에서 각각 1,000개씩, 총 2,000개의 fire/smoke crop을 구성했습니다. class 분포는 fire 1,071개, smoke 929개입니다.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두 번째 층은 </a:t>
            </a:r>
            <a:r>
              <a:rPr b="1" lang="en-US" sz="1100">
                <a:latin typeface="Arial"/>
                <a:ea typeface="Arial"/>
                <a:cs typeface="Arial"/>
                <a:sym typeface="Arial"/>
              </a:rPr>
              <a:t>ship-like background와 confuser bank</a:t>
            </a:r>
            <a:r>
              <a:rPr lang="en-US" sz="1100">
                <a:latin typeface="Arial"/>
                <a:ea typeface="Arial"/>
                <a:cs typeface="Arial"/>
                <a:sym typeface="Arial"/>
              </a:rPr>
              <a:t>입니다. (xx기관)DVIDS와 (xx기관)NOAA의 공개자료에서 792개의 keyframe 후보를 수동 태깅하여 추출했고, 수동 검토 및 라벨링 과정을 거쳐 사용 가능한 화재 없는 함정 frame과 confuser frame 259장을 만들었습니다.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세 번째 층은 </a:t>
            </a:r>
            <a:r>
              <a:rPr b="1" lang="en-US" sz="1100">
                <a:latin typeface="Arial"/>
                <a:ea typeface="Arial"/>
                <a:cs typeface="Arial"/>
                <a:sym typeface="Arial"/>
              </a:rPr>
              <a:t>synthetic v1 positive proxy</a:t>
            </a:r>
            <a:r>
              <a:rPr lang="en-US" sz="1100">
                <a:latin typeface="Arial"/>
                <a:ea typeface="Arial"/>
                <a:cs typeface="Arial"/>
                <a:sym typeface="Arial"/>
              </a:rPr>
              <a:t>입니다. 사람이 없는 engine-room background 위에 공개 fire/smoke donor crop을 합성해 총 170장의 positive proxy를 만들었습니다. fire 85장, smoke 85장입니다.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이 구조의 목적은 공개자료 조건에서 positive, background, confuser를 분리해 </a:t>
            </a:r>
            <a:r>
              <a:rPr b="1" lang="en-US" sz="1100">
                <a:latin typeface="Arial"/>
                <a:ea typeface="Arial"/>
                <a:cs typeface="Arial"/>
                <a:sym typeface="Arial"/>
              </a:rPr>
              <a:t>prototype 검증이 가능한 최소 데이터 scaffold</a:t>
            </a:r>
            <a:r>
              <a:rPr lang="en-US" sz="1100">
                <a:latin typeface="Arial"/>
                <a:ea typeface="Arial"/>
                <a:cs typeface="Arial"/>
                <a:sym typeface="Arial"/>
              </a:rPr>
              <a:t>를 만드는 것입니다.</a:t>
            </a:r>
            <a:endParaRPr/>
          </a:p>
        </p:txBody>
      </p:sp>
      <p:sp>
        <p:nvSpPr>
          <p:cNvPr id="138" name="Google Shape;1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실제 positive label이 없을 때 중요한 것은 non-fire frame입니다. </a:t>
            </a:r>
            <a:br>
              <a:rPr lang="en-US" sz="1100">
                <a:latin typeface="Arial"/>
                <a:ea typeface="Arial"/>
                <a:cs typeface="Arial"/>
                <a:sym typeface="Arial"/>
              </a:rPr>
            </a:br>
            <a:r>
              <a:rPr b="1" lang="en-US" sz="1100">
                <a:latin typeface="Arial"/>
                <a:ea typeface="Arial"/>
                <a:cs typeface="Arial"/>
                <a:sym typeface="Arial"/>
              </a:rPr>
              <a:t>불이 아닌 것을 계속 불이라고 말하는 것</a:t>
            </a:r>
            <a:r>
              <a:rPr lang="en-US" sz="1100">
                <a:latin typeface="Arial"/>
                <a:ea typeface="Arial"/>
                <a:cs typeface="Arial"/>
                <a:sym typeface="Arial"/>
              </a:rPr>
              <a:t>을 최소한으로 하기 위해, 함정형 환경에서는 붉은 밸브, 붉은 장비, 모니터, red light, 저조도 반사 같은 detector에게 강한 confuser가 될 수 있는 요소를 분리해야합니다.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그래서 259장의 usable non-fire frame을 train 103장, validation 29장, hard-negative test 127장으로 나누었습니다. 여기서 hard-negative는 단순한 배경이 아니라, detector가 fire나 smoke로 오인할 가능성이 있는 장면을 포함합니다.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구역별로는 engine room이 131장으로 가장 많고, control room이 82장입니다. 이 두 구역은 실제 함정 손상통제 관점에서도 시각적 복잡도가 높고, AI detector 관점에서도 confuser가 많이 발생하는 영역입니다.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또 사람이 포함된 frame은 별도로 표시하고 synthetic background에서는 제외했습니다. (합성 과정에서 사람과 fire/smoke crop이 겹치면, 사람/의복/PPE가 label confounder가 될 수 있고, 공개 인물 이미지의 맥락 왜곡이 될 수 있기에 방지를 위해 제외.)</a:t>
            </a:r>
            <a:endParaRPr/>
          </a:p>
        </p:txBody>
      </p:sp>
      <p:sp>
        <p:nvSpPr>
          <p:cNvPr id="190" name="Google Shape;19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synthetic v1은 이 연구에서 가장 오해받기 쉬운 부분입니다.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여기서 만든 합성 이미지는 실제 함정 화재를 photorealistic하게 재현한 데이터가 아닙니다. 목적은 </a:t>
            </a:r>
            <a:r>
              <a:rPr b="1" lang="en-US" sz="1100">
                <a:latin typeface="Arial"/>
                <a:ea typeface="Arial"/>
                <a:cs typeface="Arial"/>
                <a:sym typeface="Arial"/>
              </a:rPr>
              <a:t>공개자료만 있는 상황에서 detector–verifier–alert–evidence pipeline을 작동시킬 최소 positive signal을 주입하는 것</a:t>
            </a:r>
            <a:r>
              <a:rPr lang="en-US" sz="1100">
                <a:latin typeface="Arial"/>
                <a:ea typeface="Arial"/>
                <a:cs typeface="Arial"/>
                <a:sym typeface="Arial"/>
              </a:rPr>
              <a:t>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배경은 (divds 기관명) 데이터 SHIP_DVIDS_001의 engine-room frame 중에서 non-human, good quality 조건을 만족하는 것만 사용했습니다. 여기에 D-Fire와 CQU의 공개 fire 또는 smoke donor crop을 2D compositing 방식으로 합성했습니다.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결과적으로 총 170장, fire 85장과 smoke 85장의 synthetic v1 proxy가 생성되었습니다. donor source도 CQU 87장, DFire 83장으로 구성했습니다.</a:t>
            </a:r>
            <a:endParaRPr/>
          </a:p>
        </p:txBody>
      </p:sp>
      <p:sp>
        <p:nvSpPr>
          <p:cNvPr id="240" name="Google Shape;2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이번 실험은 단일 fast baseline을 이용한 </a:t>
            </a:r>
            <a:r>
              <a:rPr b="1" lang="en-US" sz="1100">
                <a:latin typeface="Arial"/>
                <a:ea typeface="Arial"/>
                <a:cs typeface="Arial"/>
                <a:sym typeface="Arial"/>
              </a:rPr>
              <a:t>sanity-check와 failure-mode measurement</a:t>
            </a:r>
            <a:r>
              <a:rPr lang="en-US" sz="1100">
                <a:latin typeface="Arial"/>
                <a:ea typeface="Arial"/>
                <a:cs typeface="Arial"/>
                <a:sym typeface="Arial"/>
              </a:rPr>
              <a:t>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train image는 1,838장, validation image는 464장입니다. 그리고 평가에서는 두 가지를 분리했습니다. </a:t>
            </a:r>
            <a:br>
              <a:rPr lang="en-US" sz="1100">
                <a:latin typeface="Arial"/>
                <a:ea typeface="Arial"/>
                <a:cs typeface="Arial"/>
                <a:sym typeface="Arial"/>
              </a:rPr>
            </a:br>
            <a:r>
              <a:rPr lang="en-US" sz="1100">
                <a:latin typeface="Arial"/>
                <a:ea typeface="Arial"/>
                <a:cs typeface="Arial"/>
                <a:sym typeface="Arial"/>
              </a:rPr>
              <a:t>하나는 held-out synthetic proxy 34장에 대한 hit-rate으로, detector가 합성 positive cue에 반응하는지 보는 proxy hit-rate입니다.</a:t>
            </a:r>
            <a:br>
              <a:rPr lang="en-US" sz="1100">
                <a:latin typeface="Arial"/>
                <a:ea typeface="Arial"/>
                <a:cs typeface="Arial"/>
                <a:sym typeface="Arial"/>
              </a:rPr>
            </a:br>
            <a:r>
              <a:rPr lang="en-US" sz="1100">
                <a:latin typeface="Arial"/>
                <a:ea typeface="Arial"/>
                <a:cs typeface="Arial"/>
                <a:sym typeface="Arial"/>
              </a:rPr>
              <a:t>다른 하나는 hard-negative non-fire 127장에 대한 false alarm으로, hard-negative set은 모델이 함정형 confuser를 얼마나 화재·연기로 오인하는지 직접 보여줍니다.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합성 데이터 편향이 존재할 수 있기에 “정확도”라는 표현을 피하고, </a:t>
            </a:r>
            <a:r>
              <a:rPr b="1" lang="en-US" sz="1100">
                <a:latin typeface="Arial"/>
                <a:ea typeface="Arial"/>
                <a:cs typeface="Arial"/>
                <a:sym typeface="Arial"/>
              </a:rPr>
              <a:t>positive cue 반응성과 non-fire confuser 실패율을 분리해서 보고</a:t>
            </a:r>
            <a:r>
              <a:rPr lang="en-US" sz="1100">
                <a:latin typeface="Arial"/>
                <a:ea typeface="Arial"/>
                <a:cs typeface="Arial"/>
                <a:sym typeface="Arial"/>
              </a:rPr>
              <a:t>했습니다.</a:t>
            </a:r>
            <a:endParaRPr/>
          </a:p>
        </p:txBody>
      </p:sp>
      <p:sp>
        <p:nvSpPr>
          <p:cNvPr id="271" name="Google Shape;2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전체 prototype의 시스템구조는 NVR을 이용해 일반적인 함정의 CCTV 파이프라인에서 작동할 수 있도록 설계했습니다. 네 개의 local MP4 stream을 NVR-style로 입력받고, 각 channel은 frame sampling을 거치고, cheap filter 또는 periodic sampling을 통해 detector 호출 후보가 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핵심 inference는 fire/smoke 2-class detector입니다. 하지만 detector output을 바로 경보로 바꾸지는 않습니다. channel-wise temporal verifier가 시간 window 안에서 suspect observation을 누적하고, 조건을 만족할 때 alarm event를 생성합니다.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출력은 단순한 화면 표시가 아니라 suspect event, alarm event, snapshot evidence, metrics와 logs로 저장됩니다. 조기경보 시스템은 “맞았다/틀렸다”만 남기면 후속 분석이 어렵기 때문에, 어떤 channel에서, 어느 시점에, 어떤 confidence로, 어떤 snapshot이 저장되었는지가 남아야 calibration과 failure analysis가 가능합니다.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배포 방향은 CPU-only ONNX Runtime inference wrapper입니다. 아직 배치 검증은 아니지만, 향후 함정 내 제한된 연산 환경을 고려한 방향성입니다.</a:t>
            </a:r>
            <a:endParaRPr/>
          </a:p>
        </p:txBody>
      </p:sp>
      <p:sp>
        <p:nvSpPr>
          <p:cNvPr id="296" name="Google Shape;2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 슬라이드는 frame-level detector를 event-level alarm으로 바꾸는 가장 단순한 규칙을 보여줍니다.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이번 실험에서는 detector confidence threshold를 0.25로 두었고, 이 threshold 이상인 prediction을 suspect observation으로 기록합니다. 그리고 5초 sliding window 안에서 suspect observation이 2개 이상 발생하면 alarm으로 전환합니다.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detector threshold를 낮추면 민감도는 올라가지만 false positive도 증가합니다. 따라서 단일 프레임의 오인식을 바로 alarm으로 만들지 않고, 시간적으로 반복되는지를 확인합니다.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물론 이 규칙은 최종 운용 규칙이 아닙니다. class-wise temporal window, channel별 threshold, confidence calibration이 아직 필요합니다. 하지만 이 단계에서는 “프레임 하나의 판단”을 “사건 단위 판단”으로 바꾸는 최소 구조를 구현했다는 데 의미가 있습니다.</a:t>
            </a:r>
            <a:endParaRPr/>
          </a:p>
        </p:txBody>
      </p:sp>
      <p:sp>
        <p:nvSpPr>
          <p:cNvPr id="334" name="Google Shape;33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본 연구 파이프라인의 실행 결과, 먼저 held-out synthetic proxy 34장에 대한 hit-rate는 58.82%였습니다. 화재는 17장 중 13장을 hit해서 76.47%였고, 연기는 17장 중 7장을 hit해서 41.18%였습니다.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이 결과는 detector가 합성 positive cue 일부에는 반응한다는 것을 보여주지만 동시에 smoke class에 대해서는 반응이 낮다는 것도 보여줍니다. 연기는 경계가 흐리고 texture가 약하기 때문에, fire보다 훨씬 더 불확실한 class로 나타났습니다.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더 중요한 결과는 hard-negative입니다. non-fire ship-like 127장 중 85장에서 fire 또는 smoke prediction이 발생했고, false-alarm frame rate는 66.93%로 box 기준 145개가 발생했습니다.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이 결과, 설계한 함정형 화재경보 시스템의 </a:t>
            </a:r>
            <a:r>
              <a:rPr b="1" lang="en-US" sz="1100">
                <a:latin typeface="Arial"/>
                <a:ea typeface="Arial"/>
                <a:cs typeface="Arial"/>
                <a:sym typeface="Arial"/>
              </a:rPr>
              <a:t>prototype flow 동작을 확인하였고, 공개 데이터만으로 현재 detector는 함정형 confuser에서 운용 수준의 신뢰성을 보이지 못</a:t>
            </a:r>
            <a:r>
              <a:rPr lang="en-US" sz="1100">
                <a:latin typeface="Arial"/>
                <a:ea typeface="Arial"/>
                <a:cs typeface="Arial"/>
                <a:sym typeface="Arial"/>
              </a:rPr>
              <a:t>하는 것으로 해석했습니다. </a:t>
            </a:r>
            <a:endParaRPr/>
          </a:p>
        </p:txBody>
      </p:sp>
      <p:sp>
        <p:nvSpPr>
          <p:cNvPr id="368" name="Google Shape;36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다음은 end-to-end runtime 결과입니다. 4개의 local MP4 channel을 사용했습니다. ch01은 synthetic positive, ch02는 engine-room background, ch03은 hard-negative confuser, ch04는 validation background 역할입니다.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총 240 frame을 처리했고, aggregate analyzed FPS는 27.80이었습니다. 4 channel에서 2 FPS씩 sampling한 workload 기준으로는 입력 처리량을 넘었습니다. 즉, local MP4 emulator 조건에서는 detector, verifier, evidence 저장까지 이어지는 end-to-end flow가 동작했습니다.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하지만 alarm event는 총 5개였고, 그중 ch01 synthetic positive는 1개, non-synthetic channel에서는 4개가 발생했습니다.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오른쪽 snapshot은 바로 그 failure mode를 보여줍니다. synthetic positive에서는 의도한 반응이 보였지만, hard-negative나 validation background에서도 fire/smoke suspect가 발생했습니다.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따라서 runtime 결과의 메시지는 두 가지입니다. 하나는 </a:t>
            </a:r>
            <a:r>
              <a:rPr b="1" lang="en-US" sz="1100">
                <a:latin typeface="Arial"/>
                <a:ea typeface="Arial"/>
                <a:cs typeface="Arial"/>
                <a:sym typeface="Arial"/>
              </a:rPr>
              <a:t>sampled workload 처리 가능성</a:t>
            </a:r>
            <a:r>
              <a:rPr lang="en-US" sz="1100">
                <a:latin typeface="Arial"/>
                <a:ea typeface="Arial"/>
                <a:cs typeface="Arial"/>
                <a:sym typeface="Arial"/>
              </a:rPr>
              <a:t>이고, 다른 하나는 </a:t>
            </a:r>
            <a:r>
              <a:rPr b="1" lang="en-US" sz="1100">
                <a:latin typeface="Arial"/>
                <a:ea typeface="Arial"/>
                <a:cs typeface="Arial"/>
                <a:sym typeface="Arial"/>
              </a:rPr>
              <a:t>현재 calibration과 temporal rule로는 false alarm을 충분히 억제하지 못한다는 것</a:t>
            </a:r>
            <a:r>
              <a:rPr lang="en-US" sz="1100">
                <a:latin typeface="Arial"/>
                <a:ea typeface="Arial"/>
                <a:cs typeface="Arial"/>
                <a:sym typeface="Arial"/>
              </a:rPr>
              <a:t>입니다.</a:t>
            </a:r>
            <a:endParaRPr/>
          </a:p>
        </p:txBody>
      </p:sp>
      <p:sp>
        <p:nvSpPr>
          <p:cNvPr id="404" name="Google Shape;4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그렇다면 false alarm이 왜 높았는가를 정리해보겠습니다.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첫째, synthetic-domain mismatch입니다. synthetic v1은 2D crop compositing 기반이기 때문에 실제 화재의 조명 변화, 연기 확산, 카메라 압축 특성을 충분히 반영하지 못합니다.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둘째, ship-like scene 자체가 confuser-rich합니다. 붉은 밸브, 붉은 장비, red light, monitor가 detector 입장에서는 fire cue와 겹쳐 보일 수 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셋째, detector threshold를 0.25로 낮게 둔 영향이 있습니다. 민감도를 확보하기 위한 설정이지만, hard-negative에서는 오탐을 크게 늘릴 수 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넷째, smoke class ambiguity입니다. 연기는 화염보다 경계가 약하고 배경과 섞이기 쉽습니다. 이번 결과에서도 smoke hit-rate가 낮게 관찰되었습니다.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결론적으로 후속 연구의 핵심은 단순히 synthetic sample을 많이 늘리는 것보단, 어떤 sample이 실제로 low-false-alarm recall에 도움이 되는지 평가하고, confidence score가 실제 신뢰도와 맞도록 보정하는 </a:t>
            </a:r>
            <a:r>
              <a:rPr b="1" lang="en-US" sz="1100">
                <a:latin typeface="Arial"/>
                <a:ea typeface="Arial"/>
                <a:cs typeface="Arial"/>
                <a:sym typeface="Arial"/>
              </a:rPr>
              <a:t>calibration-aware sample valuation과 hard-negative mining</a:t>
            </a:r>
            <a:r>
              <a:rPr lang="en-US" sz="1100">
                <a:latin typeface="Arial"/>
                <a:ea typeface="Arial"/>
                <a:cs typeface="Arial"/>
                <a:sym typeface="Arial"/>
              </a:rPr>
              <a:t>이 핵심입니다.</a:t>
            </a:r>
            <a:endParaRPr/>
          </a:p>
        </p:txBody>
      </p:sp>
      <p:sp>
        <p:nvSpPr>
          <p:cNvPr id="431" name="Google Shape;4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마지막으로 결론입니다.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본 연구는 실제 함정 CCTV와 비공개 내부 구조 자료 없이, 공개자료만으로 함정형 다중 CCTV 화재·연기 조기경보 prototype의 데이터–시스템–평가 scaffold를 구성했습니다.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구체적으로 DVIDS와 NOAA 기반 ship-like frame, D-Fire와 CQU 기반 donor crop, synthetic v1 positive proxy, fast detector baseline, temporal verifier, 그리고 4-stream MP4 runtime emulator까지 연결했습니다.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결과적으로 공개자료 조건에서도 data construction에서 event evidence까지 이어지는 flow는 동작 가능함을 확인했습니다. 그러나 동시에 hard-negative false alarm이 높고 smoke hit-rate가 낮다는 중요한 한계도 확인했습니다.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따라서 이 연구의 결론은 </a:t>
            </a:r>
            <a:r>
              <a:rPr b="1" lang="en-US" sz="1100">
                <a:latin typeface="Arial"/>
                <a:ea typeface="Arial"/>
                <a:cs typeface="Arial"/>
                <a:sym typeface="Arial"/>
              </a:rPr>
              <a:t>public-data-only ship-like proxy 환경에서 preliminary feasibility를 확인했고, 실제 적용을 위해서는 calibration-aware thresholding, class-wise temporal window, hard-negative mining, synthetic sample valuation, CPU-only ONNX 및 RTSP 장시간 검증이 필요하다</a:t>
            </a:r>
            <a:r>
              <a:rPr lang="en-US" sz="1100">
                <a:latin typeface="Arial"/>
                <a:ea typeface="Arial"/>
                <a:cs typeface="Arial"/>
                <a:sym typeface="Arial"/>
              </a:rPr>
              <a:t>는 것입니다.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제가 장기적으로 보고 있는 질문은 이것입니다. 실제 shipboard positive label이 없는 조건에서 calibration-aware valuation으로 sample을 선별하거나 가중하는 방식이 low-false-alarm recall과 reliability calibration을 동시에 개선할 수 있는가입니다.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이상으로 (해군 지능정보체계단 인공지능개발병 심윤보였습니다) 발표를 마치겠습니다. 감사합니다.</a:t>
            </a:r>
            <a:endParaRPr/>
          </a:p>
        </p:txBody>
      </p:sp>
      <p:sp>
        <p:nvSpPr>
          <p:cNvPr id="464" name="Google Shape;46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1228d0cd6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3f1228d0cd6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안녕하십니까. 해군 지능정보체계단 인공지능개발특기병 상병 심윤보입니다.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오늘 발표드릴 주제는 </a:t>
            </a:r>
            <a:r>
              <a:rPr b="1" lang="en-US" sz="1100">
                <a:latin typeface="Arial"/>
                <a:ea typeface="Arial"/>
                <a:cs typeface="Arial"/>
                <a:sym typeface="Arial"/>
              </a:rPr>
              <a:t>공개자료 기반 함정형 다중 CCTV 화재·연기 조기경보 시스템의 설계와 예비 검증</a:t>
            </a:r>
            <a:r>
              <a:rPr lang="en-US" sz="1100">
                <a:latin typeface="Arial"/>
                <a:ea typeface="Arial"/>
                <a:cs typeface="Arial"/>
                <a:sym typeface="Arial"/>
              </a:rPr>
              <a:t>입니다.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본 연구는 실제 해군 함정 CCTV 영상을 사용하지 않았고, 함정에 실제 화재 및 연기가 나는 데이터도 사용하지 않았습니다. </a:t>
            </a:r>
            <a:br>
              <a:rPr lang="en-US" sz="1100">
                <a:latin typeface="Arial"/>
                <a:ea typeface="Arial"/>
                <a:cs typeface="Arial"/>
                <a:sym typeface="Arial"/>
              </a:rPr>
            </a:br>
            <a:r>
              <a:rPr lang="en-US" sz="1100">
                <a:latin typeface="Arial"/>
                <a:ea typeface="Arial"/>
                <a:cs typeface="Arial"/>
                <a:sym typeface="Arial"/>
              </a:rPr>
              <a:t>따라서 실함 운용환경에서의 성능 입증이나 배치 가능성을 주장하는 연구가 아닙니다.</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대신 제가 확인하고자 한 질문은, </a:t>
            </a:r>
            <a:r>
              <a:rPr b="1" lang="en-US" sz="1100">
                <a:latin typeface="Arial"/>
                <a:ea typeface="Arial"/>
                <a:cs typeface="Arial"/>
                <a:sym typeface="Arial"/>
              </a:rPr>
              <a:t>공개자료만으로 데이터 구성, 합성 positive proxy, detector, temporal verifier, event evidence까지 이어지는 재현 가능한 연구 뼈대 파이프라인을 만들 수 있는가</a:t>
            </a:r>
            <a:r>
              <a:rPr lang="en-US" sz="1100">
                <a:latin typeface="Arial"/>
                <a:ea typeface="Arial"/>
                <a:cs typeface="Arial"/>
                <a:sym typeface="Arial"/>
              </a:rPr>
              <a:t>입니다.</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오늘 발표의 핵심은 직접 설계해본 scaffold를 살펴보며, </a:t>
            </a:r>
            <a:r>
              <a:rPr b="1" lang="en-US" sz="1100">
                <a:latin typeface="Arial"/>
                <a:ea typeface="Arial"/>
                <a:cs typeface="Arial"/>
                <a:sym typeface="Arial"/>
              </a:rPr>
              <a:t>어디까지 가능했고, 어디서 실패했으며, 실함 운용을 위한 AI 연구 문제가 무엇인지</a:t>
            </a:r>
            <a:r>
              <a:rPr lang="en-US" sz="1100">
                <a:latin typeface="Arial"/>
                <a:ea typeface="Arial"/>
                <a:cs typeface="Arial"/>
                <a:sym typeface="Arial"/>
              </a:rPr>
              <a:t>를 기술적으로 보여드리는 것입니다</a:t>
            </a:r>
            <a:endParaRPr/>
          </a:p>
        </p:txBody>
      </p:sp>
      <p:sp>
        <p:nvSpPr>
          <p:cNvPr id="506" name="Google Shape;506;g3f1228d0cd6_0_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f1228d0cd6_0_2: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g3f1228d0cd6_0_2: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US"/>
              <a:t>모범 답안: 맞습니다. 실제 함정 CCTV나 실제 shipboard positive label이 없기 때문에 본 결과를 실제 함정 운용 정확도로 해석할 수 없습니다. 그래서 슬라이드에서 accuracy라는 표현을 쓰지 않고, held-out synthetic proxy hit-rate와 hard-negative false-alarm rate를 분리해서 제시했습니다.</a:t>
            </a:r>
            <a:endParaRPr/>
          </a:p>
          <a:p>
            <a:pPr indent="-228600" lvl="0" marL="457200" rtl="0" algn="l">
              <a:lnSpc>
                <a:spcPct val="100000"/>
              </a:lnSpc>
              <a:spcBef>
                <a:spcPts val="0"/>
              </a:spcBef>
              <a:spcAft>
                <a:spcPts val="0"/>
              </a:spcAft>
              <a:buSzPts val="1400"/>
              <a:buNone/>
            </a:pPr>
            <a:r>
              <a:rPr lang="en-US"/>
              <a:t>held-out synthetic 34장은 합성 positive cue를 넣었을 때 detector가 반응하는지 보는 sanity-check입니다. 반면 hard-negative 127장은 실제 화재가 없는 공개 ship-like scene에서 오탐을 직접 보는 failure-mode measurement입니다.</a:t>
            </a:r>
            <a:endParaRPr/>
          </a:p>
          <a:p>
            <a:pPr indent="-228600" lvl="0" marL="457200" rtl="0" algn="l">
              <a:lnSpc>
                <a:spcPct val="100000"/>
              </a:lnSpc>
              <a:spcBef>
                <a:spcPts val="0"/>
              </a:spcBef>
              <a:spcAft>
                <a:spcPts val="0"/>
              </a:spcAft>
              <a:buSzPts val="1400"/>
              <a:buNone/>
            </a:pPr>
            <a:r>
              <a:rPr lang="en-US"/>
              <a:t>합성 생성 방식이 테스트 데이터에도 들어가면 편향 가능성이 생긴다는 지적은 타당합니다. 본 연구에서는 이를 완전히 제거했다고 주장하지 않고, synthetic eval과 non-fire hard-negative eval을 분리하고, 결론을 public-data-only preliminary feasibility로 제한했습니다.</a:t>
            </a:r>
            <a:endParaRPr/>
          </a:p>
          <a:p>
            <a:pPr indent="-228600" lvl="0" marL="457200" rtl="0" algn="l">
              <a:lnSpc>
                <a:spcPct val="100000"/>
              </a:lnSpc>
              <a:spcBef>
                <a:spcPts val="0"/>
              </a:spcBef>
              <a:spcAft>
                <a:spcPts val="0"/>
              </a:spcAft>
              <a:buSzPts val="1400"/>
              <a:buNone/>
            </a:pPr>
            <a:r>
              <a:rPr lang="en-US"/>
              <a:t>후속 검증: 실제 적용 논의에는 보안 환경의 실제 CCTV 데이터, blind validation, class-wise threshold calibration, 장시간 false alarm per hour/day 측정이 필요합니다.</a:t>
            </a:r>
            <a:endParaRPr/>
          </a:p>
          <a:p>
            <a:pPr indent="-228600" lvl="0" marL="457200" rtl="0" algn="l">
              <a:lnSpc>
                <a:spcPct val="100000"/>
              </a:lnSpc>
              <a:spcBef>
                <a:spcPts val="0"/>
              </a:spcBef>
              <a:spcAft>
                <a:spcPts val="0"/>
              </a:spcAft>
              <a:buSzPts val="1400"/>
              <a:buNone/>
            </a:pPr>
            <a:r>
              <a:rPr lang="en-US"/>
              <a:t>피해야 할 표현: “정확도 58.82%입니다”, “실제 함정에서도 비슷할 것입니다”, “합성 데이터로 충분히 검증했습니다”, “temporal verifier가 오탐을 해결했습니다”.</a:t>
            </a:r>
            <a:endParaRPr/>
          </a:p>
        </p:txBody>
      </p:sp>
      <p:sp>
        <p:nvSpPr>
          <p:cNvPr id="535" name="Google Shape;535;g3f1228d0cd6_0_2: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f1228d0cd6_0_49: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f1228d0cd6_0_49: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US"/>
              <a:t>모범 답안: 792개는 DVIDS/NOAA 공개자료에서 추출한 ship-like keyframe 후보입니다. 그중 259개는 실제 화재·연기가 없고, 선내 또는 선박 유사 구역으로 분류 가능하며, 품질과 metadata 태깅이 가능한 frame을 수동 screening하여 남긴 usable non-fire frame입니다.</a:t>
            </a:r>
            <a:endParaRPr/>
          </a:p>
          <a:p>
            <a:pPr indent="-228600" lvl="0" marL="457200" rtl="0" algn="l">
              <a:lnSpc>
                <a:spcPct val="100000"/>
              </a:lnSpc>
              <a:spcBef>
                <a:spcPts val="0"/>
              </a:spcBef>
              <a:spcAft>
                <a:spcPts val="0"/>
              </a:spcAft>
              <a:buSzPts val="1400"/>
              <a:buNone/>
            </a:pPr>
            <a:r>
              <a:rPr lang="en-US"/>
              <a:t>259개에서 170개 frame을 그대로 고른 것이 아닙니다. synthetic v1 170장은 더 좁은 조건의 background pool 위에 공개 fire/smoke donor crop을 합성해서 생성된 output입니다. 사용 조건은 SHIP_DVIDS_001, engine_room, split=train, use_purpose=synth_background, quality_flag=good, with_human 없음입니다.</a:t>
            </a:r>
            <a:endParaRPr/>
          </a:p>
          <a:p>
            <a:pPr indent="-228600" lvl="0" marL="457200" rtl="0" algn="l">
              <a:lnSpc>
                <a:spcPct val="100000"/>
              </a:lnSpc>
              <a:spcBef>
                <a:spcPts val="0"/>
              </a:spcBef>
              <a:spcAft>
                <a:spcPts val="0"/>
              </a:spcAft>
              <a:buSzPts val="1400"/>
              <a:buNone/>
            </a:pPr>
            <a:r>
              <a:rPr lang="en-US"/>
              <a:t>metadata consistency check PASS는 생성된 170개 synthetic sample의 count, class, donor source, background asset/zone, split/use_purpose, human-exclusion, image-label pair, YOLO-format box 좌표가 사전 규칙과 모순되지 않는다는 데이터 무결성 확인입니다.</a:t>
            </a:r>
            <a:endParaRPr/>
          </a:p>
          <a:p>
            <a:pPr indent="-228600" lvl="0" marL="457200" rtl="0" algn="l">
              <a:lnSpc>
                <a:spcPct val="100000"/>
              </a:lnSpc>
              <a:spcBef>
                <a:spcPts val="0"/>
              </a:spcBef>
              <a:spcAft>
                <a:spcPts val="0"/>
              </a:spcAft>
              <a:buSzPts val="1400"/>
              <a:buNone/>
            </a:pPr>
            <a:r>
              <a:rPr lang="en-US"/>
              <a:t>중요한 경계: PASS는 합성 이미지가 실제처럼 보인다는 뜻도 아니고, 실함 운용환경 성능 검증도 아닙니다. 데이터 생성 파이프라인의 내부 정합성 QC를 통과했다는 뜻입니다.</a:t>
            </a:r>
            <a:endParaRPr/>
          </a:p>
          <a:p>
            <a:pPr indent="-228600" lvl="0" marL="457200" rtl="0" algn="l">
              <a:lnSpc>
                <a:spcPct val="100000"/>
              </a:lnSpc>
              <a:spcBef>
                <a:spcPts val="0"/>
              </a:spcBef>
              <a:spcAft>
                <a:spcPts val="0"/>
              </a:spcAft>
              <a:buSzPts val="1400"/>
              <a:buNone/>
            </a:pPr>
            <a:r>
              <a:rPr lang="en-US"/>
              <a:t>피해야 할 표현: “259개 중 좋은 170개를 골랐습니다”, “validation PASS이므로 합성 품질이 검증되었습니다”, “실제 화재 label처럼 사용할 수 있습니다”.</a:t>
            </a:r>
            <a:endParaRPr/>
          </a:p>
        </p:txBody>
      </p:sp>
      <p:sp>
        <p:nvSpPr>
          <p:cNvPr id="583" name="Google Shape;583;g3f1228d0cd6_0_49: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f1228d0cd6_0_105: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f1228d0cd6_0_105: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US"/>
              <a:t>모범 답안: 지적하신 대로 synthetic v1은 조잡하고 실제 함정 화재·연기 현상을 사실적으로 재현하지 않습니다. 본 연구에서 synthetic v1은 photorealistic dataset이 아니라 public-data-only 조건에서 positive signal을 최소한으로 주입하기 위한 prototype proxy입니다.</a:t>
            </a:r>
            <a:endParaRPr/>
          </a:p>
          <a:p>
            <a:pPr indent="-228600" lvl="0" marL="457200" rtl="0" algn="l">
              <a:lnSpc>
                <a:spcPct val="100000"/>
              </a:lnSpc>
              <a:spcBef>
                <a:spcPts val="0"/>
              </a:spcBef>
              <a:spcAft>
                <a:spcPts val="0"/>
              </a:spcAft>
              <a:buSzPts val="1400"/>
              <a:buNone/>
            </a:pPr>
            <a:r>
              <a:rPr lang="en-US"/>
              <a:t>유의미한 부분은 성능 입증이 아니라 system test utility입니다. detector가 positive cue에 반응하는지, temporal verifier가 suspect/alarm event로 전환하는지, snapshot과 log evidence가 저장되는지를 end-to-end로 확인할 수 있습니다.</a:t>
            </a:r>
            <a:endParaRPr/>
          </a:p>
          <a:p>
            <a:pPr indent="-228600" lvl="0" marL="457200" rtl="0" algn="l">
              <a:lnSpc>
                <a:spcPct val="100000"/>
              </a:lnSpc>
              <a:spcBef>
                <a:spcPts val="0"/>
              </a:spcBef>
              <a:spcAft>
                <a:spcPts val="0"/>
              </a:spcAft>
              <a:buSzPts val="1400"/>
              <a:buNone/>
            </a:pPr>
            <a:r>
              <a:rPr lang="en-US"/>
              <a:t>저품질 proxy는 오히려 domain gap, smoke ambiguity, confuser false alarm, calibration 문제를 빨리 노출하는 stress-test 역할을 했습니다. 그래서 결과도 “좋은 성능”이 아니라 “어디서 실패했는지”를 보여주는 preliminary evidence로 해석합니다.</a:t>
            </a:r>
            <a:endParaRPr/>
          </a:p>
          <a:p>
            <a:pPr indent="-228600" lvl="0" marL="457200" rtl="0" algn="l">
              <a:lnSpc>
                <a:spcPct val="100000"/>
              </a:lnSpc>
              <a:spcBef>
                <a:spcPts val="0"/>
              </a:spcBef>
              <a:spcAft>
                <a:spcPts val="0"/>
              </a:spcAft>
              <a:buSzPts val="1400"/>
              <a:buNone/>
            </a:pPr>
            <a:r>
              <a:rPr lang="en-US"/>
              <a:t>후속 연구에서는 synthetic sample을 무작정 늘리기보다 sample valuation, quality filtering, class-wise weighting, hard-negative mining을 통해 low-false-alarm recall과 calibration을 개선하는지 검증해야 합니다.</a:t>
            </a:r>
            <a:endParaRPr/>
          </a:p>
          <a:p>
            <a:pPr indent="-228600" lvl="0" marL="457200" rtl="0" algn="l">
              <a:lnSpc>
                <a:spcPct val="100000"/>
              </a:lnSpc>
              <a:spcBef>
                <a:spcPts val="0"/>
              </a:spcBef>
              <a:spcAft>
                <a:spcPts val="0"/>
              </a:spcAft>
              <a:buSzPts val="1400"/>
              <a:buNone/>
            </a:pPr>
            <a:r>
              <a:rPr lang="en-US"/>
              <a:t>피해야 할 표현: “저품질이라도 많이 넣으면 성능이 좋아집니다”, “합성 데이터가 실제 데이터와 같습니다”, “photorealistic하지 않아도 정확도 검증에는 충분합니다”.</a:t>
            </a:r>
            <a:endParaRPr/>
          </a:p>
        </p:txBody>
      </p:sp>
      <p:sp>
        <p:nvSpPr>
          <p:cNvPr id="640" name="Google Shape;640;g3f1228d0cd6_0_105: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f1228d0cd6_0_155:notes"/>
          <p:cNvSpPr/>
          <p:nvPr>
            <p:ph idx="2" type="sldImg"/>
          </p:nvPr>
        </p:nvSpPr>
        <p:spPr>
          <a:xfrm>
            <a:off x="685873" y="114297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f1228d0cd6_0_155:notes"/>
          <p:cNvSpPr txBox="1"/>
          <p:nvPr>
            <p:ph idx="1" type="body"/>
          </p:nvPr>
        </p:nvSpPr>
        <p:spPr>
          <a:xfrm>
            <a:off x="685800" y="4400433"/>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US"/>
              <a:t>모범 답안: 공개자료 연구는 조직 내부의 비밀 데이터를 대체하려는 것이 아닙니다. 실제 적용 성능을 판단하려면 당연히 보안 환경에서 실제 CCTV metadata, 실제 negative/positive label, 장시간 운용 로그가 필요합니다.</a:t>
            </a:r>
            <a:endParaRPr/>
          </a:p>
          <a:p>
            <a:pPr indent="-228600" lvl="0" marL="457200" rtl="0" algn="l">
              <a:lnSpc>
                <a:spcPct val="100000"/>
              </a:lnSpc>
              <a:spcBef>
                <a:spcPts val="0"/>
              </a:spcBef>
              <a:spcAft>
                <a:spcPts val="0"/>
              </a:spcAft>
              <a:buSzPts val="1400"/>
              <a:buNone/>
            </a:pPr>
            <a:r>
              <a:rPr lang="en-US"/>
              <a:t>공개자료 연구의 의의는 그 전에 data taxonomy, confuser 정의, synthetic proxy 생성, detector-verifier-alert pipeline, evidence logging, evaluation code를 낮은 보안 위험과 높은 재현성으로 먼저 정리하는 데 있습니다.</a:t>
            </a:r>
            <a:endParaRPr/>
          </a:p>
          <a:p>
            <a:pPr indent="-228600" lvl="0" marL="457200" rtl="0" algn="l">
              <a:lnSpc>
                <a:spcPct val="100000"/>
              </a:lnSpc>
              <a:spcBef>
                <a:spcPts val="0"/>
              </a:spcBef>
              <a:spcAft>
                <a:spcPts val="0"/>
              </a:spcAft>
              <a:buSzPts val="1400"/>
              <a:buNone/>
            </a:pPr>
            <a:r>
              <a:rPr lang="en-US"/>
              <a:t>비밀 데이터를 바로 투입하면 보안 절차와 모델 개발, 데이터 라벨링, 평가 프로토콜이 동시에 엉킬 수 있습니다. 공개자료 Stage 0에서 시스템 scaffold와 실패 모드를 먼저 확정하면 secure-domain fine-tuning과 calibration을 더 체계적으로 시작할 수 있습니다.</a:t>
            </a:r>
            <a:endParaRPr/>
          </a:p>
          <a:p>
            <a:pPr indent="-228600" lvl="0" marL="457200" rtl="0" algn="l">
              <a:lnSpc>
                <a:spcPct val="100000"/>
              </a:lnSpc>
              <a:spcBef>
                <a:spcPts val="0"/>
              </a:spcBef>
              <a:spcAft>
                <a:spcPts val="0"/>
              </a:spcAft>
              <a:buSzPts val="1400"/>
              <a:buNone/>
            </a:pPr>
            <a:r>
              <a:rPr lang="en-US"/>
              <a:t>실제 적용에는 secure data access, ground-truth protocol, class-wise calibration, hard-negative mining, RTSP/MP4 장시간 test, false alarm per hour/day 측정, human-in-the-loop pilot, 감사 가능한 evidence trail이 필요합니다.</a:t>
            </a:r>
            <a:endParaRPr/>
          </a:p>
          <a:p>
            <a:pPr indent="-228600" lvl="0" marL="457200" rtl="0" algn="l">
              <a:lnSpc>
                <a:spcPct val="100000"/>
              </a:lnSpc>
              <a:spcBef>
                <a:spcPts val="0"/>
              </a:spcBef>
              <a:spcAft>
                <a:spcPts val="0"/>
              </a:spcAft>
              <a:buSzPts val="1400"/>
              <a:buNone/>
            </a:pPr>
            <a:r>
              <a:rPr lang="en-US"/>
              <a:t>피해야 할 표현: “공개자료만으로 실함 적용 가능성을 확인했습니다”, “비밀 데이터 없이도 충분합니다”, “현재 결과로 배치를 논의할 수 있습니다”.</a:t>
            </a:r>
            <a:endParaRPr/>
          </a:p>
        </p:txBody>
      </p:sp>
      <p:sp>
        <p:nvSpPr>
          <p:cNvPr id="691" name="Google Shape;691;g3f1228d0cd6_0_155:notes"/>
          <p:cNvSpPr txBox="1"/>
          <p:nvPr>
            <p:ph idx="12" type="sldNum"/>
          </p:nvPr>
        </p:nvSpPr>
        <p:spPr>
          <a:xfrm>
            <a:off x="3884613" y="8684981"/>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8FAFC"/>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 name="Shape 16"/>
        <p:cNvGrpSpPr/>
        <p:nvPr/>
      </p:nvGrpSpPr>
      <p:grpSpPr>
        <a:xfrm>
          <a:off x="0" y="0"/>
          <a:ext cx="0" cy="0"/>
          <a:chOff x="0" y="0"/>
          <a:chExt cx="0" cy="0"/>
        </a:xfrm>
      </p:grpSpPr>
      <p:sp>
        <p:nvSpPr>
          <p:cNvPr id="17" name="Google Shape;17;p1"/>
          <p:cNvSpPr/>
          <p:nvPr/>
        </p:nvSpPr>
        <p:spPr>
          <a:xfrm>
            <a:off x="0" y="0"/>
            <a:ext cx="12191700" cy="6858000"/>
          </a:xfrm>
          <a:prstGeom prst="rect">
            <a:avLst/>
          </a:prstGeom>
          <a:solidFill>
            <a:srgbClr val="F8FAFC"/>
          </a:solidFill>
          <a:ln cap="flat" cmpd="sng" w="12700">
            <a:solidFill>
              <a:srgbClr val="F8FA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0" y="0"/>
            <a:ext cx="164592" cy="6858000"/>
          </a:xfrm>
          <a:prstGeom prst="rect">
            <a:avLst/>
          </a:prstGeom>
          <a:solidFill>
            <a:srgbClr val="0B1F33"/>
          </a:solidFill>
          <a:ln cap="flat" cmpd="sng" w="12700">
            <a:solidFill>
              <a:srgbClr val="0B1F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164592" y="0"/>
            <a:ext cx="45720" cy="6858000"/>
          </a:xfrm>
          <a:prstGeom prst="rect">
            <a:avLst/>
          </a:prstGeom>
          <a:solidFill>
            <a:srgbClr val="2F5D8C"/>
          </a:solidFill>
          <a:ln cap="flat" cmpd="sng" w="12700">
            <a:solidFill>
              <a:srgbClr val="2F5D8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640075" y="658375"/>
            <a:ext cx="4311600" cy="295500"/>
          </a:xfrm>
          <a:prstGeom prst="roundRect">
            <a:avLst>
              <a:gd fmla="val 29630" name="adj"/>
            </a:avLst>
          </a:prstGeom>
          <a:solidFill>
            <a:srgbClr val="EAF2FA"/>
          </a:solidFill>
          <a:ln cap="flat" cmpd="sng" w="9525">
            <a:solidFill>
              <a:srgbClr val="EAF2FA">
                <a:alpha val="0"/>
              </a:srgbClr>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2F5D8C"/>
              </a:buClr>
              <a:buSzPts val="870"/>
              <a:buFont typeface="Noto Sans"/>
              <a:buNone/>
            </a:pPr>
            <a:r>
              <a:rPr b="1" lang="en-US">
                <a:solidFill>
                  <a:srgbClr val="2F5D8C"/>
                </a:solidFill>
                <a:latin typeface="Noto Sans"/>
                <a:ea typeface="Noto Sans"/>
                <a:cs typeface="Noto Sans"/>
                <a:sym typeface="Noto Sans"/>
              </a:rPr>
              <a:t>2026 함정기술 무기체계 세미나 4분과(인공지능 적용)</a:t>
            </a:r>
            <a:endParaRPr b="0" i="0" u="none" cap="none" strike="noStrike">
              <a:solidFill>
                <a:schemeClr val="dk1"/>
              </a:solidFill>
              <a:latin typeface="Noto Sans"/>
              <a:ea typeface="Noto Sans"/>
              <a:cs typeface="Noto Sans"/>
              <a:sym typeface="Noto Sans"/>
            </a:endParaRPr>
          </a:p>
        </p:txBody>
      </p:sp>
      <p:sp>
        <p:nvSpPr>
          <p:cNvPr id="21" name="Google Shape;21;p1"/>
          <p:cNvSpPr/>
          <p:nvPr/>
        </p:nvSpPr>
        <p:spPr>
          <a:xfrm>
            <a:off x="640075" y="1234450"/>
            <a:ext cx="7908000" cy="1143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800"/>
              <a:buFont typeface="Noto Sans"/>
              <a:buNone/>
            </a:pPr>
            <a:r>
              <a:rPr b="1" i="0" lang="en-US" sz="3200" u="none" cap="none" strike="noStrike">
                <a:solidFill>
                  <a:srgbClr val="0B1F33"/>
                </a:solidFill>
                <a:latin typeface="Noto Sans"/>
                <a:ea typeface="Noto Sans"/>
                <a:cs typeface="Noto Sans"/>
                <a:sym typeface="Noto Sans"/>
              </a:rPr>
              <a:t>공개자료 기반 함정형 다중 CCTV</a:t>
            </a:r>
            <a:endParaRPr b="0" i="0" sz="32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0B1F33"/>
              </a:buClr>
              <a:buSzPts val="2800"/>
              <a:buFont typeface="Noto Sans"/>
              <a:buNone/>
            </a:pPr>
            <a:r>
              <a:rPr b="1" i="0" lang="en-US" sz="3200" u="none" cap="none" strike="noStrike">
                <a:solidFill>
                  <a:srgbClr val="0B1F33"/>
                </a:solidFill>
                <a:latin typeface="Noto Sans"/>
                <a:ea typeface="Noto Sans"/>
                <a:cs typeface="Noto Sans"/>
                <a:sym typeface="Noto Sans"/>
              </a:rPr>
              <a:t>화재·연기 조기경보 시스템의 설계와 예비 검증</a:t>
            </a:r>
            <a:endParaRPr b="0" i="0" sz="3200" u="none" cap="none" strike="noStrike">
              <a:solidFill>
                <a:schemeClr val="dk1"/>
              </a:solidFill>
              <a:latin typeface="Noto Sans"/>
              <a:ea typeface="Noto Sans"/>
              <a:cs typeface="Noto Sans"/>
              <a:sym typeface="Noto Sans"/>
            </a:endParaRPr>
          </a:p>
        </p:txBody>
      </p:sp>
      <p:sp>
        <p:nvSpPr>
          <p:cNvPr id="22" name="Google Shape;22;p1"/>
          <p:cNvSpPr/>
          <p:nvPr/>
        </p:nvSpPr>
        <p:spPr>
          <a:xfrm>
            <a:off x="658375" y="2606051"/>
            <a:ext cx="7303800" cy="415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250"/>
              <a:buFont typeface="Noto Sans"/>
              <a:buNone/>
            </a:pPr>
            <a:r>
              <a:rPr b="0" i="0" lang="en-US" sz="1600" u="none" cap="none" strike="noStrike">
                <a:solidFill>
                  <a:srgbClr val="344054"/>
                </a:solidFill>
                <a:latin typeface="Noto Sans"/>
                <a:ea typeface="Noto Sans"/>
                <a:cs typeface="Noto Sans"/>
                <a:sym typeface="Noto Sans"/>
              </a:rPr>
              <a:t>Design and Preliminary Validation of a Public-Data-Based Ship-Like Multi-CCTV Fire and Smoke Early Warning System</a:t>
            </a:r>
            <a:endParaRPr b="0" i="0" sz="1600" u="none" cap="none" strike="noStrike">
              <a:solidFill>
                <a:schemeClr val="dk1"/>
              </a:solidFill>
              <a:latin typeface="Noto Sans"/>
              <a:ea typeface="Noto Sans"/>
              <a:cs typeface="Noto Sans"/>
              <a:sym typeface="Noto Sans"/>
            </a:endParaRPr>
          </a:p>
        </p:txBody>
      </p:sp>
      <p:sp>
        <p:nvSpPr>
          <p:cNvPr id="23" name="Google Shape;23;p1"/>
          <p:cNvSpPr/>
          <p:nvPr/>
        </p:nvSpPr>
        <p:spPr>
          <a:xfrm>
            <a:off x="658380" y="3410698"/>
            <a:ext cx="1827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1050"/>
              <a:buFont typeface="Noto Sans"/>
              <a:buNone/>
            </a:pPr>
            <a:r>
              <a:rPr b="1" lang="en-US" sz="1800">
                <a:solidFill>
                  <a:srgbClr val="2F5D8C"/>
                </a:solidFill>
                <a:latin typeface="Noto Sans"/>
                <a:ea typeface="Noto Sans"/>
                <a:cs typeface="Noto Sans"/>
                <a:sym typeface="Noto Sans"/>
              </a:rPr>
              <a:t>목표</a:t>
            </a:r>
            <a:endParaRPr b="1" i="0" sz="1800" u="none" cap="none" strike="noStrike">
              <a:solidFill>
                <a:schemeClr val="dk1"/>
              </a:solidFill>
              <a:latin typeface="Noto Sans"/>
              <a:ea typeface="Noto Sans"/>
              <a:cs typeface="Noto Sans"/>
              <a:sym typeface="Noto Sans"/>
            </a:endParaRPr>
          </a:p>
        </p:txBody>
      </p:sp>
      <p:sp>
        <p:nvSpPr>
          <p:cNvPr id="24" name="Google Shape;24;p1"/>
          <p:cNvSpPr/>
          <p:nvPr/>
        </p:nvSpPr>
        <p:spPr>
          <a:xfrm>
            <a:off x="658375" y="3685025"/>
            <a:ext cx="7631400" cy="749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420"/>
              <a:buFont typeface="Noto Sans"/>
              <a:buNone/>
            </a:pPr>
            <a:r>
              <a:rPr lang="en-US" sz="1620">
                <a:solidFill>
                  <a:srgbClr val="1D2939"/>
                </a:solidFill>
                <a:latin typeface="Noto Sans"/>
                <a:ea typeface="Noto Sans"/>
                <a:cs typeface="Noto Sans"/>
                <a:sym typeface="Noto Sans"/>
              </a:rPr>
              <a:t>(</a:t>
            </a:r>
            <a:r>
              <a:rPr b="0" i="0" lang="en-US" sz="1620" u="none" cap="none" strike="noStrike">
                <a:solidFill>
                  <a:srgbClr val="1D2939"/>
                </a:solidFill>
                <a:latin typeface="Noto Sans"/>
                <a:ea typeface="Noto Sans"/>
                <a:cs typeface="Noto Sans"/>
                <a:sym typeface="Noto Sans"/>
              </a:rPr>
              <a:t>실함 성능 입증</a:t>
            </a:r>
            <a:r>
              <a:rPr lang="en-US" sz="1620">
                <a:solidFill>
                  <a:srgbClr val="1D2939"/>
                </a:solidFill>
                <a:latin typeface="Noto Sans"/>
                <a:ea typeface="Noto Sans"/>
                <a:cs typeface="Noto Sans"/>
                <a:sym typeface="Noto Sans"/>
              </a:rPr>
              <a:t> X) </a:t>
            </a:r>
            <a:r>
              <a:rPr b="0" i="0" lang="en-US" sz="1620" u="none" cap="none" strike="noStrike">
                <a:solidFill>
                  <a:srgbClr val="1D2939"/>
                </a:solidFill>
                <a:latin typeface="Noto Sans"/>
                <a:ea typeface="Noto Sans"/>
                <a:cs typeface="Noto Sans"/>
                <a:sym typeface="Noto Sans"/>
              </a:rPr>
              <a:t>public-data-only ship-like proxy 환경에서</a:t>
            </a:r>
            <a:endParaRPr b="0" i="0" sz="162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1D2939"/>
              </a:buClr>
              <a:buSzPts val="1420"/>
              <a:buFont typeface="Noto Sans"/>
              <a:buNone/>
            </a:pPr>
            <a:r>
              <a:rPr b="1" i="0" lang="en-US" sz="1620" u="none" cap="none" strike="noStrike">
                <a:solidFill>
                  <a:srgbClr val="1D2939"/>
                </a:solidFill>
                <a:latin typeface="Noto Sans"/>
                <a:ea typeface="Noto Sans"/>
                <a:cs typeface="Noto Sans"/>
                <a:sym typeface="Noto Sans"/>
              </a:rPr>
              <a:t>데이터 구성 → 합성 </a:t>
            </a:r>
            <a:r>
              <a:rPr b="1" lang="en-US" sz="1620">
                <a:solidFill>
                  <a:srgbClr val="1D2939"/>
                </a:solidFill>
                <a:latin typeface="Noto Sans"/>
                <a:ea typeface="Noto Sans"/>
                <a:cs typeface="Noto Sans"/>
                <a:sym typeface="Noto Sans"/>
              </a:rPr>
              <a:t>positive</a:t>
            </a:r>
            <a:r>
              <a:rPr b="1" i="0" lang="en-US" sz="1620" u="none" cap="none" strike="noStrike">
                <a:solidFill>
                  <a:srgbClr val="1D2939"/>
                </a:solidFill>
                <a:latin typeface="Noto Sans"/>
                <a:ea typeface="Noto Sans"/>
                <a:cs typeface="Noto Sans"/>
                <a:sym typeface="Noto Sans"/>
              </a:rPr>
              <a:t> proxy → detector/verifier → event evidence </a:t>
            </a:r>
            <a:r>
              <a:rPr b="0" i="0" lang="en-US" sz="1620" u="none" cap="none" strike="noStrike">
                <a:solidFill>
                  <a:srgbClr val="1D2939"/>
                </a:solidFill>
                <a:latin typeface="Noto Sans"/>
                <a:ea typeface="Noto Sans"/>
                <a:cs typeface="Noto Sans"/>
                <a:sym typeface="Noto Sans"/>
              </a:rPr>
              <a:t>까지의 preliminary feasibility를 검증</a:t>
            </a:r>
            <a:endParaRPr b="0" i="0" sz="1620" u="none" cap="none" strike="noStrike">
              <a:solidFill>
                <a:schemeClr val="dk1"/>
              </a:solidFill>
              <a:latin typeface="Noto Sans"/>
              <a:ea typeface="Noto Sans"/>
              <a:cs typeface="Noto Sans"/>
              <a:sym typeface="Noto Sans"/>
            </a:endParaRPr>
          </a:p>
        </p:txBody>
      </p:sp>
      <p:sp>
        <p:nvSpPr>
          <p:cNvPr id="25" name="Google Shape;25;p1"/>
          <p:cNvSpPr/>
          <p:nvPr/>
        </p:nvSpPr>
        <p:spPr>
          <a:xfrm>
            <a:off x="8942832" y="960120"/>
            <a:ext cx="2606040" cy="86868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9107424" y="1246712"/>
            <a:ext cx="2277000" cy="295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00"/>
              <a:buFont typeface="Noto Sans"/>
              <a:buNone/>
            </a:pPr>
            <a:r>
              <a:rPr b="1" i="0" lang="en-US" sz="1500" u="none" cap="none" strike="noStrike">
                <a:solidFill>
                  <a:srgbClr val="0B1F33"/>
                </a:solidFill>
                <a:latin typeface="Noto Sans"/>
                <a:ea typeface="Noto Sans"/>
                <a:cs typeface="Noto Sans"/>
                <a:sym typeface="Noto Sans"/>
              </a:rPr>
              <a:t>No real ship CCTV</a:t>
            </a:r>
            <a:endParaRPr b="0" i="0" sz="1500" u="none" cap="none" strike="noStrike">
              <a:solidFill>
                <a:schemeClr val="dk1"/>
              </a:solidFill>
              <a:latin typeface="Noto Sans"/>
              <a:ea typeface="Noto Sans"/>
              <a:cs typeface="Noto Sans"/>
              <a:sym typeface="Noto Sans"/>
            </a:endParaRPr>
          </a:p>
        </p:txBody>
      </p:sp>
      <p:sp>
        <p:nvSpPr>
          <p:cNvPr id="27" name="Google Shape;27;p1"/>
          <p:cNvSpPr/>
          <p:nvPr/>
        </p:nvSpPr>
        <p:spPr>
          <a:xfrm>
            <a:off x="9107424" y="1055221"/>
            <a:ext cx="2277000" cy="173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sz="1050" u="none" cap="none" strike="noStrike">
                <a:solidFill>
                  <a:srgbClr val="344054"/>
                </a:solidFill>
                <a:latin typeface="Noto Sans"/>
                <a:ea typeface="Noto Sans"/>
                <a:cs typeface="Noto Sans"/>
                <a:sym typeface="Noto Sans"/>
              </a:rPr>
              <a:t>Claim boundary</a:t>
            </a:r>
            <a:endParaRPr b="0" i="0" sz="1050" u="none" cap="none" strike="noStrike">
              <a:solidFill>
                <a:schemeClr val="dk1"/>
              </a:solidFill>
              <a:latin typeface="Noto Sans"/>
              <a:ea typeface="Noto Sans"/>
              <a:cs typeface="Noto Sans"/>
              <a:sym typeface="Noto Sans"/>
            </a:endParaRPr>
          </a:p>
        </p:txBody>
      </p:sp>
      <p:sp>
        <p:nvSpPr>
          <p:cNvPr id="28" name="Google Shape;28;p1"/>
          <p:cNvSpPr/>
          <p:nvPr/>
        </p:nvSpPr>
        <p:spPr>
          <a:xfrm>
            <a:off x="9107425" y="1576477"/>
            <a:ext cx="2277000" cy="173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140" u="none" cap="none" strike="noStrike">
                <a:solidFill>
                  <a:srgbClr val="667085"/>
                </a:solidFill>
                <a:latin typeface="Noto Sans"/>
                <a:ea typeface="Noto Sans"/>
                <a:cs typeface="Noto Sans"/>
                <a:sym typeface="Noto Sans"/>
              </a:rPr>
              <a:t>실제 함정 CCTV 미사용</a:t>
            </a:r>
            <a:endParaRPr b="0" i="0" sz="1140" u="none" cap="none" strike="noStrike">
              <a:solidFill>
                <a:schemeClr val="dk1"/>
              </a:solidFill>
              <a:latin typeface="Noto Sans"/>
              <a:ea typeface="Noto Sans"/>
              <a:cs typeface="Noto Sans"/>
              <a:sym typeface="Noto Sans"/>
            </a:endParaRPr>
          </a:p>
        </p:txBody>
      </p:sp>
      <p:sp>
        <p:nvSpPr>
          <p:cNvPr id="29" name="Google Shape;29;p1"/>
          <p:cNvSpPr/>
          <p:nvPr/>
        </p:nvSpPr>
        <p:spPr>
          <a:xfrm>
            <a:off x="8942832" y="1938528"/>
            <a:ext cx="2606040" cy="86868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9107349" y="2225120"/>
            <a:ext cx="2277000" cy="295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00"/>
              <a:buFont typeface="Noto Sans"/>
              <a:buNone/>
            </a:pPr>
            <a:r>
              <a:rPr b="1" i="0" lang="en-US" sz="1500" u="none" cap="none" strike="noStrike">
                <a:solidFill>
                  <a:srgbClr val="0B1F33"/>
                </a:solidFill>
                <a:latin typeface="Noto Sans"/>
                <a:ea typeface="Noto Sans"/>
                <a:cs typeface="Noto Sans"/>
                <a:sym typeface="Noto Sans"/>
              </a:rPr>
              <a:t>No classified layout</a:t>
            </a:r>
            <a:endParaRPr b="0" i="0" sz="1500" u="none" cap="none" strike="noStrike">
              <a:solidFill>
                <a:schemeClr val="dk1"/>
              </a:solidFill>
              <a:latin typeface="Noto Sans"/>
              <a:ea typeface="Noto Sans"/>
              <a:cs typeface="Noto Sans"/>
              <a:sym typeface="Noto Sans"/>
            </a:endParaRPr>
          </a:p>
        </p:txBody>
      </p:sp>
      <p:sp>
        <p:nvSpPr>
          <p:cNvPr id="31" name="Google Shape;31;p1"/>
          <p:cNvSpPr/>
          <p:nvPr/>
        </p:nvSpPr>
        <p:spPr>
          <a:xfrm>
            <a:off x="9107424" y="2038179"/>
            <a:ext cx="2277000" cy="173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sz="1050" u="none" cap="none" strike="noStrike">
                <a:solidFill>
                  <a:srgbClr val="344054"/>
                </a:solidFill>
                <a:latin typeface="Noto Sans"/>
                <a:ea typeface="Noto Sans"/>
                <a:cs typeface="Noto Sans"/>
                <a:sym typeface="Noto Sans"/>
              </a:rPr>
              <a:t>Data boundary</a:t>
            </a:r>
            <a:endParaRPr b="0" i="0" sz="1050" u="none" cap="none" strike="noStrike">
              <a:solidFill>
                <a:schemeClr val="dk1"/>
              </a:solidFill>
              <a:latin typeface="Noto Sans"/>
              <a:ea typeface="Noto Sans"/>
              <a:cs typeface="Noto Sans"/>
              <a:sym typeface="Noto Sans"/>
            </a:endParaRPr>
          </a:p>
        </p:txBody>
      </p:sp>
      <p:sp>
        <p:nvSpPr>
          <p:cNvPr id="32" name="Google Shape;32;p1"/>
          <p:cNvSpPr/>
          <p:nvPr/>
        </p:nvSpPr>
        <p:spPr>
          <a:xfrm>
            <a:off x="9107425" y="2570003"/>
            <a:ext cx="2277000" cy="173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비공개 내부 구조 자료 미사용</a:t>
            </a:r>
            <a:endParaRPr b="0" i="0" sz="1100" u="none" cap="none" strike="noStrike">
              <a:solidFill>
                <a:schemeClr val="dk1"/>
              </a:solidFill>
              <a:latin typeface="Noto Sans"/>
              <a:ea typeface="Noto Sans"/>
              <a:cs typeface="Noto Sans"/>
              <a:sym typeface="Noto Sans"/>
            </a:endParaRPr>
          </a:p>
        </p:txBody>
      </p:sp>
      <p:sp>
        <p:nvSpPr>
          <p:cNvPr id="33" name="Google Shape;33;p1"/>
          <p:cNvSpPr/>
          <p:nvPr/>
        </p:nvSpPr>
        <p:spPr>
          <a:xfrm>
            <a:off x="8942832" y="2916936"/>
            <a:ext cx="2606040" cy="86868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9107424" y="3192828"/>
            <a:ext cx="2277000" cy="295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00"/>
              <a:buFont typeface="Noto Sans"/>
              <a:buNone/>
            </a:pPr>
            <a:r>
              <a:rPr b="1" i="0" lang="en-US" sz="1500" u="none" cap="none" strike="noStrike">
                <a:solidFill>
                  <a:srgbClr val="0B1F33"/>
                </a:solidFill>
                <a:latin typeface="Noto Sans"/>
                <a:ea typeface="Noto Sans"/>
                <a:cs typeface="Noto Sans"/>
                <a:sym typeface="Noto Sans"/>
              </a:rPr>
              <a:t>No deployment claim</a:t>
            </a:r>
            <a:endParaRPr b="0" i="0" sz="1500" u="none" cap="none" strike="noStrike">
              <a:solidFill>
                <a:schemeClr val="dk1"/>
              </a:solidFill>
              <a:latin typeface="Noto Sans"/>
              <a:ea typeface="Noto Sans"/>
              <a:cs typeface="Noto Sans"/>
              <a:sym typeface="Noto Sans"/>
            </a:endParaRPr>
          </a:p>
        </p:txBody>
      </p:sp>
      <p:sp>
        <p:nvSpPr>
          <p:cNvPr id="35" name="Google Shape;35;p1"/>
          <p:cNvSpPr/>
          <p:nvPr/>
        </p:nvSpPr>
        <p:spPr>
          <a:xfrm>
            <a:off x="9107424" y="3022100"/>
            <a:ext cx="2277000" cy="173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sz="1050" u="none" cap="none" strike="noStrike">
                <a:solidFill>
                  <a:srgbClr val="344054"/>
                </a:solidFill>
                <a:latin typeface="Noto Sans"/>
                <a:ea typeface="Noto Sans"/>
                <a:cs typeface="Noto Sans"/>
                <a:sym typeface="Noto Sans"/>
              </a:rPr>
              <a:t>Validation boundary</a:t>
            </a:r>
            <a:endParaRPr b="0" i="0" sz="1050" u="none" cap="none" strike="noStrike">
              <a:solidFill>
                <a:schemeClr val="dk1"/>
              </a:solidFill>
              <a:latin typeface="Noto Sans"/>
              <a:ea typeface="Noto Sans"/>
              <a:cs typeface="Noto Sans"/>
              <a:sym typeface="Noto Sans"/>
            </a:endParaRPr>
          </a:p>
        </p:txBody>
      </p:sp>
      <p:sp>
        <p:nvSpPr>
          <p:cNvPr id="36" name="Google Shape;36;p1"/>
          <p:cNvSpPr/>
          <p:nvPr/>
        </p:nvSpPr>
        <p:spPr>
          <a:xfrm>
            <a:off x="9107424" y="3563537"/>
            <a:ext cx="2277000" cy="128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실함 일반화·배치 성능 주장 없음</a:t>
            </a:r>
            <a:endParaRPr b="0" i="0" sz="1100" u="none" cap="none" strike="noStrike">
              <a:solidFill>
                <a:schemeClr val="dk1"/>
              </a:solidFill>
              <a:latin typeface="Noto Sans"/>
              <a:ea typeface="Noto Sans"/>
              <a:cs typeface="Noto Sans"/>
              <a:sym typeface="Noto Sans"/>
            </a:endParaRPr>
          </a:p>
        </p:txBody>
      </p:sp>
      <p:sp>
        <p:nvSpPr>
          <p:cNvPr id="37" name="Google Shape;37;p1"/>
          <p:cNvSpPr/>
          <p:nvPr/>
        </p:nvSpPr>
        <p:spPr>
          <a:xfrm>
            <a:off x="8942832" y="4160520"/>
            <a:ext cx="2606040" cy="1143000"/>
          </a:xfrm>
          <a:prstGeom prst="roundRect">
            <a:avLst>
              <a:gd fmla="val 64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
          <p:cNvSpPr/>
          <p:nvPr/>
        </p:nvSpPr>
        <p:spPr>
          <a:xfrm>
            <a:off x="9107350" y="4389100"/>
            <a:ext cx="2277000" cy="6822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2F5D8C"/>
              </a:buClr>
              <a:buSzPts val="1550"/>
              <a:buFont typeface="Noto Sans"/>
              <a:buNone/>
            </a:pPr>
            <a:r>
              <a:rPr b="1" lang="en-US">
                <a:solidFill>
                  <a:srgbClr val="2F5D8C"/>
                </a:solidFill>
                <a:latin typeface="Noto Sans"/>
                <a:ea typeface="Noto Sans"/>
                <a:cs typeface="Noto Sans"/>
                <a:sym typeface="Noto Sans"/>
              </a:rPr>
              <a:t>함정형 AI 연구를 시작하기 위한 재현 가능한 data </a:t>
            </a:r>
            <a:r>
              <a:rPr b="1" lang="en-US">
                <a:solidFill>
                  <a:srgbClr val="2F5D8C"/>
                </a:solidFill>
                <a:latin typeface="Noto Sans"/>
                <a:ea typeface="Noto Sans"/>
                <a:cs typeface="Noto Sans"/>
                <a:sym typeface="Noto Sans"/>
              </a:rPr>
              <a:t>· </a:t>
            </a:r>
            <a:r>
              <a:rPr b="1" lang="en-US">
                <a:solidFill>
                  <a:srgbClr val="2F5D8C"/>
                </a:solidFill>
                <a:latin typeface="Noto Sans"/>
                <a:ea typeface="Noto Sans"/>
                <a:cs typeface="Noto Sans"/>
                <a:sym typeface="Noto Sans"/>
              </a:rPr>
              <a:t>system </a:t>
            </a:r>
            <a:r>
              <a:rPr b="1" lang="en-US">
                <a:solidFill>
                  <a:srgbClr val="2F5D8C"/>
                </a:solidFill>
                <a:latin typeface="Noto Sans"/>
                <a:ea typeface="Noto Sans"/>
                <a:cs typeface="Noto Sans"/>
                <a:sym typeface="Noto Sans"/>
              </a:rPr>
              <a:t>· </a:t>
            </a:r>
            <a:r>
              <a:rPr b="1" lang="en-US">
                <a:solidFill>
                  <a:srgbClr val="2F5D8C"/>
                </a:solidFill>
                <a:latin typeface="Noto Sans"/>
                <a:ea typeface="Noto Sans"/>
                <a:cs typeface="Noto Sans"/>
                <a:sym typeface="Noto Sans"/>
              </a:rPr>
              <a:t>evaluation scaffold</a:t>
            </a:r>
            <a:endParaRPr b="1">
              <a:solidFill>
                <a:srgbClr val="2F5D8C"/>
              </a:solidFill>
              <a:latin typeface="Noto Sans"/>
              <a:ea typeface="Noto Sans"/>
              <a:cs typeface="Noto Sans"/>
              <a:sym typeface="Noto Sans"/>
            </a:endParaRPr>
          </a:p>
        </p:txBody>
      </p:sp>
      <p:sp>
        <p:nvSpPr>
          <p:cNvPr id="39" name="Google Shape;39;p1"/>
          <p:cNvSpPr/>
          <p:nvPr/>
        </p:nvSpPr>
        <p:spPr>
          <a:xfrm>
            <a:off x="658375" y="5891650"/>
            <a:ext cx="844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60"/>
              <a:buFont typeface="Noto Sans"/>
              <a:buNone/>
            </a:pPr>
            <a:r>
              <a:rPr lang="en-US">
                <a:solidFill>
                  <a:schemeClr val="dk1"/>
                </a:solidFill>
                <a:latin typeface="Noto Sans"/>
                <a:ea typeface="Noto Sans"/>
                <a:cs typeface="Noto Sans"/>
                <a:sym typeface="Noto Sans"/>
              </a:rPr>
              <a:t>심윤보(대한민국 해군), 고영권(연세대학교), 이도운(국민대학교), 최시율(KAIST), 박무현(대한민국 해군)</a:t>
            </a:r>
            <a:endParaRPr b="0" i="0" u="none" cap="none" strike="noStrike">
              <a:solidFill>
                <a:schemeClr val="dk1"/>
              </a:solidFill>
              <a:latin typeface="Noto Sans"/>
              <a:ea typeface="Noto Sans"/>
              <a:cs typeface="Noto Sans"/>
              <a:sym typeface="Noto Sans"/>
            </a:endParaRPr>
          </a:p>
        </p:txBody>
      </p:sp>
      <p:sp>
        <p:nvSpPr>
          <p:cNvPr id="40" name="Google Shape;40;p1"/>
          <p:cNvSpPr/>
          <p:nvPr/>
        </p:nvSpPr>
        <p:spPr>
          <a:xfrm>
            <a:off x="658375" y="4956050"/>
            <a:ext cx="6547500" cy="59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667085"/>
              </a:buClr>
              <a:buSzPts val="960"/>
              <a:buFont typeface="Noto Sans"/>
              <a:buNone/>
            </a:pPr>
            <a:r>
              <a:rPr b="1" lang="en-US" sz="1600">
                <a:solidFill>
                  <a:schemeClr val="dk1"/>
                </a:solidFill>
                <a:latin typeface="Noto Sans"/>
                <a:ea typeface="Noto Sans"/>
                <a:cs typeface="Noto Sans"/>
                <a:sym typeface="Noto Sans"/>
              </a:rPr>
              <a:t>발표자 :</a:t>
            </a:r>
            <a:r>
              <a:rPr b="1" lang="en-US" sz="1600">
                <a:solidFill>
                  <a:schemeClr val="dk1"/>
                </a:solidFill>
                <a:latin typeface="Noto Sans"/>
                <a:ea typeface="Noto Sans"/>
                <a:cs typeface="Noto Sans"/>
                <a:sym typeface="Noto Sans"/>
              </a:rPr>
              <a:t> 심윤보 </a:t>
            </a:r>
            <a:r>
              <a:rPr lang="en-US" sz="1600">
                <a:solidFill>
                  <a:schemeClr val="dk1"/>
                </a:solidFill>
                <a:latin typeface="Noto Sans"/>
                <a:ea typeface="Noto Sans"/>
                <a:cs typeface="Noto Sans"/>
                <a:sym typeface="Noto Sans"/>
              </a:rPr>
              <a:t>(상등병)</a:t>
            </a:r>
            <a:endParaRPr sz="1600">
              <a:solidFill>
                <a:schemeClr val="dk1"/>
              </a:solidFill>
              <a:latin typeface="Noto Sans"/>
              <a:ea typeface="Noto Sans"/>
              <a:cs typeface="Noto Sans"/>
              <a:sym typeface="Noto Sans"/>
            </a:endParaRPr>
          </a:p>
          <a:p>
            <a:pPr indent="0" lvl="0" marL="0" marR="0" rtl="0" algn="l">
              <a:spcBef>
                <a:spcPts val="0"/>
              </a:spcBef>
              <a:spcAft>
                <a:spcPts val="0"/>
              </a:spcAft>
              <a:buClr>
                <a:srgbClr val="667085"/>
              </a:buClr>
              <a:buSzPts val="960"/>
              <a:buFont typeface="Noto Sans"/>
              <a:buNone/>
            </a:pPr>
            <a:r>
              <a:rPr lang="en-US" sz="1600">
                <a:solidFill>
                  <a:schemeClr val="dk1"/>
                </a:solidFill>
                <a:latin typeface="Noto Sans"/>
                <a:ea typeface="Noto Sans"/>
                <a:cs typeface="Noto Sans"/>
                <a:sym typeface="Noto Sans"/>
              </a:rPr>
              <a:t>해군 지능정보체계단 인공지능융합과</a:t>
            </a:r>
            <a:endParaRPr sz="1600">
              <a:solidFill>
                <a:schemeClr val="dk1"/>
              </a:solidFill>
              <a:latin typeface="Noto Sans"/>
              <a:ea typeface="Noto Sans"/>
              <a:cs typeface="Noto Sans"/>
              <a:sym typeface="No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5" name="Shape 45"/>
        <p:cNvGrpSpPr/>
        <p:nvPr/>
      </p:nvGrpSpPr>
      <p:grpSpPr>
        <a:xfrm>
          <a:off x="0" y="0"/>
          <a:ext cx="0" cy="0"/>
          <a:chOff x="0" y="0"/>
          <a:chExt cx="0" cy="0"/>
        </a:xfrm>
      </p:grpSpPr>
      <p:sp>
        <p:nvSpPr>
          <p:cNvPr id="46" name="Google Shape;46;p2"/>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01 / Motivation</a:t>
            </a:r>
            <a:endParaRPr b="0" i="0" sz="850" u="none" cap="none" strike="noStrike">
              <a:solidFill>
                <a:schemeClr val="dk1"/>
              </a:solidFill>
              <a:latin typeface="Noto Sans"/>
              <a:ea typeface="Noto Sans"/>
              <a:cs typeface="Noto Sans"/>
              <a:sym typeface="Noto Sans"/>
            </a:endParaRPr>
          </a:p>
        </p:txBody>
      </p:sp>
      <p:sp>
        <p:nvSpPr>
          <p:cNvPr id="47" name="Google Shape;47;p2"/>
          <p:cNvSpPr/>
          <p:nvPr/>
        </p:nvSpPr>
        <p:spPr>
          <a:xfrm>
            <a:off x="512076" y="475500"/>
            <a:ext cx="10563000" cy="384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문제 정의: 함정 화재·연기 감지는 </a:t>
            </a:r>
            <a:r>
              <a:rPr b="1" i="0" lang="en-US" sz="2450" u="none" cap="none" strike="noStrike">
                <a:solidFill>
                  <a:srgbClr val="0B1F33"/>
                </a:solidFill>
                <a:latin typeface="Noto Sans"/>
                <a:ea typeface="Noto Sans"/>
                <a:cs typeface="Noto Sans"/>
                <a:sym typeface="Noto Sans"/>
              </a:rPr>
              <a:t>frame-level을 넘어 </a:t>
            </a:r>
            <a:r>
              <a:rPr b="1" i="0" lang="en-US" sz="2450" u="none" cap="none" strike="noStrike">
                <a:solidFill>
                  <a:srgbClr val="0B1F33"/>
                </a:solidFill>
                <a:latin typeface="Noto Sans"/>
                <a:ea typeface="Noto Sans"/>
                <a:cs typeface="Noto Sans"/>
                <a:sym typeface="Noto Sans"/>
              </a:rPr>
              <a:t>event-level 문제</a:t>
            </a:r>
            <a:endParaRPr b="0" i="0" sz="2450" u="none" cap="none" strike="noStrike">
              <a:solidFill>
                <a:schemeClr val="dk1"/>
              </a:solidFill>
              <a:latin typeface="Noto Sans"/>
              <a:ea typeface="Noto Sans"/>
              <a:cs typeface="Noto Sans"/>
              <a:sym typeface="Noto Sans"/>
            </a:endParaRPr>
          </a:p>
        </p:txBody>
      </p:sp>
      <p:sp>
        <p:nvSpPr>
          <p:cNvPr id="48" name="Google Shape;48;p2"/>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02</a:t>
            </a:r>
            <a:endParaRPr b="0" i="0" sz="800" u="none" cap="none" strike="noStrike">
              <a:solidFill>
                <a:schemeClr val="dk1"/>
              </a:solidFill>
              <a:latin typeface="Noto Sans"/>
              <a:ea typeface="Noto Sans"/>
              <a:cs typeface="Noto Sans"/>
              <a:sym typeface="Noto Sans"/>
            </a:endParaRPr>
          </a:p>
        </p:txBody>
      </p:sp>
      <p:cxnSp>
        <p:nvCxnSpPr>
          <p:cNvPr id="49" name="Google Shape;49;p2"/>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50" name="Google Shape;50;p2"/>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51" name="Google Shape;51;p2"/>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52" name="Google Shape;52;p2"/>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2</a:t>
            </a:r>
            <a:endParaRPr b="0" i="0" sz="720" u="none" cap="none" strike="noStrike">
              <a:solidFill>
                <a:schemeClr val="dk1"/>
              </a:solidFill>
              <a:latin typeface="Noto Sans"/>
              <a:ea typeface="Noto Sans"/>
              <a:cs typeface="Noto Sans"/>
              <a:sym typeface="Noto Sans"/>
            </a:endParaRPr>
          </a:p>
        </p:txBody>
      </p:sp>
      <p:sp>
        <p:nvSpPr>
          <p:cNvPr id="53" name="Google Shape;53;p2"/>
          <p:cNvSpPr/>
          <p:nvPr/>
        </p:nvSpPr>
        <p:spPr>
          <a:xfrm>
            <a:off x="512064" y="1097280"/>
            <a:ext cx="1088136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679"/>
              <a:buFont typeface="Noto Sans"/>
              <a:buNone/>
            </a:pPr>
            <a:r>
              <a:rPr lang="en-US" sz="1680">
                <a:solidFill>
                  <a:srgbClr val="0B1F33"/>
                </a:solidFill>
                <a:latin typeface="Noto Sans"/>
                <a:ea typeface="Noto Sans"/>
                <a:cs typeface="Noto Sans"/>
                <a:sym typeface="Noto Sans"/>
              </a:rPr>
              <a:t>함정 </a:t>
            </a:r>
            <a:r>
              <a:rPr i="0" lang="en-US" sz="1680" u="none" cap="none" strike="noStrike">
                <a:solidFill>
                  <a:srgbClr val="0B1F33"/>
                </a:solidFill>
                <a:latin typeface="Noto Sans"/>
                <a:ea typeface="Noto Sans"/>
                <a:cs typeface="Noto Sans"/>
                <a:sym typeface="Noto Sans"/>
              </a:rPr>
              <a:t>조기경보의 </a:t>
            </a:r>
            <a:r>
              <a:rPr lang="en-US" sz="1680">
                <a:solidFill>
                  <a:srgbClr val="0B1F33"/>
                </a:solidFill>
                <a:latin typeface="Noto Sans"/>
                <a:ea typeface="Noto Sans"/>
                <a:cs typeface="Noto Sans"/>
                <a:sym typeface="Noto Sans"/>
              </a:rPr>
              <a:t>문제 - </a:t>
            </a:r>
            <a:r>
              <a:rPr i="0" lang="en-US" sz="1680" u="none" cap="none" strike="noStrike">
                <a:solidFill>
                  <a:srgbClr val="0B1F33"/>
                </a:solidFill>
                <a:latin typeface="Noto Sans"/>
                <a:ea typeface="Noto Sans"/>
                <a:cs typeface="Noto Sans"/>
                <a:sym typeface="Noto Sans"/>
              </a:rPr>
              <a:t>“다중 CCTV에서 오경보를 억제하면서 사건 단위로 신뢰성 있게 전환하는가”</a:t>
            </a:r>
            <a:endParaRPr i="0" sz="1680" u="none" cap="none" strike="noStrike">
              <a:solidFill>
                <a:schemeClr val="dk1"/>
              </a:solidFill>
              <a:latin typeface="Noto Sans"/>
              <a:ea typeface="Noto Sans"/>
              <a:cs typeface="Noto Sans"/>
              <a:sym typeface="Noto Sans"/>
            </a:endParaRPr>
          </a:p>
        </p:txBody>
      </p:sp>
      <p:sp>
        <p:nvSpPr>
          <p:cNvPr id="54" name="Google Shape;54;p2"/>
          <p:cNvSpPr/>
          <p:nvPr/>
        </p:nvSpPr>
        <p:spPr>
          <a:xfrm>
            <a:off x="685800" y="1874525"/>
            <a:ext cx="2956200" cy="86880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886968" y="2002536"/>
            <a:ext cx="24323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50"/>
              <a:buFont typeface="Noto Sans"/>
              <a:buNone/>
            </a:pPr>
            <a:r>
              <a:rPr b="1" i="0" lang="en-US" sz="1350" u="none" cap="none" strike="noStrike">
                <a:solidFill>
                  <a:srgbClr val="0B1F33"/>
                </a:solidFill>
                <a:latin typeface="Noto Sans"/>
                <a:ea typeface="Noto Sans"/>
                <a:cs typeface="Noto Sans"/>
                <a:sym typeface="Noto Sans"/>
              </a:rPr>
              <a:t>제한 공간</a:t>
            </a:r>
            <a:endParaRPr b="0" i="0" sz="1350" u="none" cap="none" strike="noStrike">
              <a:solidFill>
                <a:schemeClr val="dk1"/>
              </a:solidFill>
              <a:latin typeface="Noto Sans"/>
              <a:ea typeface="Noto Sans"/>
              <a:cs typeface="Noto Sans"/>
              <a:sym typeface="Noto Sans"/>
            </a:endParaRPr>
          </a:p>
        </p:txBody>
      </p:sp>
      <p:sp>
        <p:nvSpPr>
          <p:cNvPr id="56" name="Google Shape;56;p2"/>
          <p:cNvSpPr/>
          <p:nvPr/>
        </p:nvSpPr>
        <p:spPr>
          <a:xfrm>
            <a:off x="886975" y="2313425"/>
            <a:ext cx="26334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20"/>
              <a:buFont typeface="Noto Sans"/>
              <a:buNone/>
            </a:pPr>
            <a:r>
              <a:rPr b="0" i="0" lang="en-US" sz="1220" u="none" cap="none" strike="noStrike">
                <a:solidFill>
                  <a:srgbClr val="434343"/>
                </a:solidFill>
                <a:latin typeface="Noto Sans"/>
                <a:ea typeface="Noto Sans"/>
                <a:cs typeface="Noto Sans"/>
                <a:sym typeface="Noto Sans"/>
              </a:rPr>
              <a:t>격벽·구획으로 확산 및 접근 경로 제한</a:t>
            </a:r>
            <a:endParaRPr b="0" i="0" sz="1220" u="none" cap="none" strike="noStrike">
              <a:solidFill>
                <a:srgbClr val="434343"/>
              </a:solidFill>
              <a:latin typeface="Noto Sans"/>
              <a:ea typeface="Noto Sans"/>
              <a:cs typeface="Noto Sans"/>
              <a:sym typeface="Noto Sans"/>
            </a:endParaRPr>
          </a:p>
        </p:txBody>
      </p:sp>
      <p:sp>
        <p:nvSpPr>
          <p:cNvPr id="57" name="Google Shape;57;p2"/>
          <p:cNvSpPr/>
          <p:nvPr/>
        </p:nvSpPr>
        <p:spPr>
          <a:xfrm>
            <a:off x="685800" y="2962658"/>
            <a:ext cx="2956200" cy="86880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886968" y="3090672"/>
            <a:ext cx="24323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50"/>
              <a:buFont typeface="Noto Sans"/>
              <a:buNone/>
            </a:pPr>
            <a:r>
              <a:rPr b="1" i="0" lang="en-US" sz="1350" u="none" cap="none" strike="noStrike">
                <a:solidFill>
                  <a:srgbClr val="0B1F33"/>
                </a:solidFill>
                <a:latin typeface="Noto Sans"/>
                <a:ea typeface="Noto Sans"/>
                <a:cs typeface="Noto Sans"/>
                <a:sym typeface="Noto Sans"/>
              </a:rPr>
              <a:t>장비</a:t>
            </a:r>
            <a:r>
              <a:rPr b="1" lang="en-US" sz="1350">
                <a:solidFill>
                  <a:srgbClr val="0B1F33"/>
                </a:solidFill>
                <a:latin typeface="Noto Sans"/>
                <a:ea typeface="Noto Sans"/>
                <a:cs typeface="Noto Sans"/>
                <a:sym typeface="Noto Sans"/>
              </a:rPr>
              <a:t> </a:t>
            </a:r>
            <a:r>
              <a:rPr b="1" i="0" lang="en-US" sz="1350" u="none" cap="none" strike="noStrike">
                <a:solidFill>
                  <a:srgbClr val="0B1F33"/>
                </a:solidFill>
                <a:latin typeface="Noto Sans"/>
                <a:ea typeface="Noto Sans"/>
                <a:cs typeface="Noto Sans"/>
                <a:sym typeface="Noto Sans"/>
              </a:rPr>
              <a:t>밀집</a:t>
            </a:r>
            <a:endParaRPr b="0" i="0" sz="1350" u="none" cap="none" strike="noStrike">
              <a:solidFill>
                <a:schemeClr val="dk1"/>
              </a:solidFill>
              <a:latin typeface="Noto Sans"/>
              <a:ea typeface="Noto Sans"/>
              <a:cs typeface="Noto Sans"/>
              <a:sym typeface="Noto Sans"/>
            </a:endParaRPr>
          </a:p>
        </p:txBody>
      </p:sp>
      <p:sp>
        <p:nvSpPr>
          <p:cNvPr id="59" name="Google Shape;59;p2"/>
          <p:cNvSpPr/>
          <p:nvPr/>
        </p:nvSpPr>
        <p:spPr>
          <a:xfrm>
            <a:off x="886975" y="3401566"/>
            <a:ext cx="26334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20"/>
              <a:buFont typeface="Noto Sans"/>
              <a:buNone/>
            </a:pPr>
            <a:r>
              <a:rPr b="0" i="0" lang="en-US" sz="1220" u="none" cap="none" strike="noStrike">
                <a:solidFill>
                  <a:srgbClr val="434343"/>
                </a:solidFill>
                <a:latin typeface="Noto Sans"/>
                <a:ea typeface="Noto Sans"/>
                <a:cs typeface="Noto Sans"/>
                <a:sym typeface="Noto Sans"/>
              </a:rPr>
              <a:t>기관·배관·전장품이 시야를 복잡하게 구성</a:t>
            </a:r>
            <a:endParaRPr b="0" i="0" sz="1220" u="none" cap="none" strike="noStrike">
              <a:solidFill>
                <a:srgbClr val="434343"/>
              </a:solidFill>
              <a:latin typeface="Noto Sans"/>
              <a:ea typeface="Noto Sans"/>
              <a:cs typeface="Noto Sans"/>
              <a:sym typeface="Noto Sans"/>
            </a:endParaRPr>
          </a:p>
        </p:txBody>
      </p:sp>
      <p:sp>
        <p:nvSpPr>
          <p:cNvPr id="60" name="Google Shape;60;p2"/>
          <p:cNvSpPr/>
          <p:nvPr/>
        </p:nvSpPr>
        <p:spPr>
          <a:xfrm>
            <a:off x="685800" y="4050790"/>
            <a:ext cx="2956200" cy="86880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886968" y="4178808"/>
            <a:ext cx="24323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50"/>
              <a:buFont typeface="Noto Sans"/>
              <a:buNone/>
            </a:pPr>
            <a:r>
              <a:rPr b="1" lang="en-US" sz="1350">
                <a:solidFill>
                  <a:srgbClr val="0B1F33"/>
                </a:solidFill>
                <a:latin typeface="Noto Sans"/>
                <a:ea typeface="Noto Sans"/>
                <a:cs typeface="Noto Sans"/>
                <a:sym typeface="Noto Sans"/>
              </a:rPr>
              <a:t>프레임의 오류</a:t>
            </a:r>
            <a:endParaRPr b="0" i="0" sz="1350" u="none" cap="none" strike="noStrike">
              <a:solidFill>
                <a:schemeClr val="dk1"/>
              </a:solidFill>
              <a:latin typeface="Noto Sans"/>
              <a:ea typeface="Noto Sans"/>
              <a:cs typeface="Noto Sans"/>
              <a:sym typeface="Noto Sans"/>
            </a:endParaRPr>
          </a:p>
        </p:txBody>
      </p:sp>
      <p:sp>
        <p:nvSpPr>
          <p:cNvPr id="62" name="Google Shape;62;p2"/>
          <p:cNvSpPr/>
          <p:nvPr/>
        </p:nvSpPr>
        <p:spPr>
          <a:xfrm>
            <a:off x="886975" y="4489708"/>
            <a:ext cx="26334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20"/>
              <a:buFont typeface="Noto Sans"/>
              <a:buNone/>
            </a:pPr>
            <a:r>
              <a:rPr lang="en-US" sz="1220">
                <a:solidFill>
                  <a:srgbClr val="434343"/>
                </a:solidFill>
                <a:latin typeface="Noto Sans"/>
                <a:ea typeface="Noto Sans"/>
                <a:cs typeface="Noto Sans"/>
                <a:sym typeface="Noto Sans"/>
              </a:rPr>
              <a:t>빛 비침, 물건 이동 등으로 프레임 오인식 가능성</a:t>
            </a:r>
            <a:endParaRPr b="0" i="0" sz="1220" u="none" cap="none" strike="noStrike">
              <a:solidFill>
                <a:srgbClr val="434343"/>
              </a:solidFill>
              <a:latin typeface="Noto Sans"/>
              <a:ea typeface="Noto Sans"/>
              <a:cs typeface="Noto Sans"/>
              <a:sym typeface="Noto Sans"/>
            </a:endParaRPr>
          </a:p>
        </p:txBody>
      </p:sp>
      <p:sp>
        <p:nvSpPr>
          <p:cNvPr id="63" name="Google Shape;63;p2"/>
          <p:cNvSpPr/>
          <p:nvPr/>
        </p:nvSpPr>
        <p:spPr>
          <a:xfrm>
            <a:off x="685800" y="5138923"/>
            <a:ext cx="2956200" cy="86880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886968" y="5266944"/>
            <a:ext cx="243230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50"/>
              <a:buFont typeface="Noto Sans"/>
              <a:buNone/>
            </a:pPr>
            <a:r>
              <a:rPr b="1" i="0" lang="en-US" sz="1350" u="none" cap="none" strike="noStrike">
                <a:solidFill>
                  <a:srgbClr val="0B1F33"/>
                </a:solidFill>
                <a:latin typeface="Noto Sans"/>
                <a:ea typeface="Noto Sans"/>
                <a:cs typeface="Noto Sans"/>
                <a:sym typeface="Noto Sans"/>
              </a:rPr>
              <a:t>운용 중 감시 부담</a:t>
            </a:r>
            <a:endParaRPr b="0" i="0" sz="1350" u="none" cap="none" strike="noStrike">
              <a:solidFill>
                <a:schemeClr val="dk1"/>
              </a:solidFill>
              <a:latin typeface="Noto Sans"/>
              <a:ea typeface="Noto Sans"/>
              <a:cs typeface="Noto Sans"/>
              <a:sym typeface="Noto Sans"/>
            </a:endParaRPr>
          </a:p>
        </p:txBody>
      </p:sp>
      <p:sp>
        <p:nvSpPr>
          <p:cNvPr id="65" name="Google Shape;65;p2"/>
          <p:cNvSpPr/>
          <p:nvPr/>
        </p:nvSpPr>
        <p:spPr>
          <a:xfrm>
            <a:off x="886975" y="5577849"/>
            <a:ext cx="26334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20"/>
              <a:buFont typeface="Noto Sans"/>
              <a:buNone/>
            </a:pPr>
            <a:r>
              <a:rPr b="0" i="0" lang="en-US" sz="1220" u="none" cap="none" strike="noStrike">
                <a:solidFill>
                  <a:srgbClr val="434343"/>
                </a:solidFill>
                <a:latin typeface="Noto Sans"/>
                <a:ea typeface="Noto Sans"/>
                <a:cs typeface="Noto Sans"/>
                <a:sym typeface="Noto Sans"/>
              </a:rPr>
              <a:t>당직·센서 보조를 위한 camera-based early warning 필요</a:t>
            </a:r>
            <a:endParaRPr b="0" i="0" sz="1220" u="none" cap="none" strike="noStrike">
              <a:solidFill>
                <a:srgbClr val="434343"/>
              </a:solidFill>
              <a:latin typeface="Noto Sans"/>
              <a:ea typeface="Noto Sans"/>
              <a:cs typeface="Noto Sans"/>
              <a:sym typeface="Noto Sans"/>
            </a:endParaRPr>
          </a:p>
        </p:txBody>
      </p:sp>
      <p:sp>
        <p:nvSpPr>
          <p:cNvPr id="66" name="Google Shape;66;p2"/>
          <p:cNvSpPr/>
          <p:nvPr/>
        </p:nvSpPr>
        <p:spPr>
          <a:xfrm>
            <a:off x="4069080" y="1874520"/>
            <a:ext cx="7269480" cy="4160520"/>
          </a:xfrm>
          <a:prstGeom prst="roundRect">
            <a:avLst>
              <a:gd fmla="val 1758"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4361688" y="2093976"/>
            <a:ext cx="228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054"/>
              </a:buClr>
              <a:buSzPts val="1150"/>
              <a:buFont typeface="Noto Sans"/>
              <a:buNone/>
            </a:pPr>
            <a:r>
              <a:rPr b="1" i="0" lang="en-US" sz="1150" u="none" cap="none" strike="noStrike">
                <a:solidFill>
                  <a:srgbClr val="344054"/>
                </a:solidFill>
                <a:latin typeface="Noto Sans"/>
                <a:ea typeface="Noto Sans"/>
                <a:cs typeface="Noto Sans"/>
                <a:sym typeface="Noto Sans"/>
              </a:rPr>
              <a:t>Frame-level detection</a:t>
            </a:r>
            <a:endParaRPr b="0" i="0" sz="1150" u="none" cap="none" strike="noStrike">
              <a:solidFill>
                <a:schemeClr val="dk1"/>
              </a:solidFill>
              <a:latin typeface="Noto Sans"/>
              <a:ea typeface="Noto Sans"/>
              <a:cs typeface="Noto Sans"/>
              <a:sym typeface="Noto Sans"/>
            </a:endParaRPr>
          </a:p>
        </p:txBody>
      </p:sp>
      <p:sp>
        <p:nvSpPr>
          <p:cNvPr id="68" name="Google Shape;68;p2"/>
          <p:cNvSpPr/>
          <p:nvPr/>
        </p:nvSpPr>
        <p:spPr>
          <a:xfrm>
            <a:off x="8686800" y="2093976"/>
            <a:ext cx="228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054"/>
              </a:buClr>
              <a:buSzPts val="1150"/>
              <a:buFont typeface="Noto Sans"/>
              <a:buNone/>
            </a:pPr>
            <a:r>
              <a:rPr b="1" i="0" lang="en-US" sz="1150" u="none" cap="none" strike="noStrike">
                <a:solidFill>
                  <a:srgbClr val="344054"/>
                </a:solidFill>
                <a:latin typeface="Noto Sans"/>
                <a:ea typeface="Noto Sans"/>
                <a:cs typeface="Noto Sans"/>
                <a:sym typeface="Noto Sans"/>
              </a:rPr>
              <a:t>Event-level warning</a:t>
            </a:r>
            <a:endParaRPr b="0" i="0" sz="1150" u="none" cap="none" strike="noStrike">
              <a:solidFill>
                <a:schemeClr val="dk1"/>
              </a:solidFill>
              <a:latin typeface="Noto Sans"/>
              <a:ea typeface="Noto Sans"/>
              <a:cs typeface="Noto Sans"/>
              <a:sym typeface="Noto Sans"/>
            </a:endParaRPr>
          </a:p>
        </p:txBody>
      </p:sp>
      <p:sp>
        <p:nvSpPr>
          <p:cNvPr id="69" name="Google Shape;69;p2"/>
          <p:cNvSpPr/>
          <p:nvPr/>
        </p:nvSpPr>
        <p:spPr>
          <a:xfrm>
            <a:off x="4480560" y="2624328"/>
            <a:ext cx="1143000" cy="384048"/>
          </a:xfrm>
          <a:prstGeom prst="roundRect">
            <a:avLst>
              <a:gd fmla="val 16667"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20"/>
              <a:buFont typeface="Noto Sans"/>
              <a:buNone/>
            </a:pPr>
            <a:r>
              <a:rPr b="1" i="0" lang="en-US" sz="920" u="none" cap="none" strike="noStrike">
                <a:solidFill>
                  <a:srgbClr val="344054"/>
                </a:solidFill>
                <a:latin typeface="Noto Sans"/>
                <a:ea typeface="Noto Sans"/>
                <a:cs typeface="Noto Sans"/>
                <a:sym typeface="Noto Sans"/>
              </a:rPr>
              <a:t>CCTV 1</a:t>
            </a:r>
            <a:endParaRPr b="0" i="0" sz="920" u="none" cap="none" strike="noStrike">
              <a:solidFill>
                <a:schemeClr val="dk1"/>
              </a:solidFill>
              <a:latin typeface="Noto Sans"/>
              <a:ea typeface="Noto Sans"/>
              <a:cs typeface="Noto Sans"/>
              <a:sym typeface="Noto Sans"/>
            </a:endParaRPr>
          </a:p>
        </p:txBody>
      </p:sp>
      <p:cxnSp>
        <p:nvCxnSpPr>
          <p:cNvPr id="70" name="Google Shape;70;p2"/>
          <p:cNvCxnSpPr/>
          <p:nvPr/>
        </p:nvCxnSpPr>
        <p:spPr>
          <a:xfrm>
            <a:off x="5696712" y="2816352"/>
            <a:ext cx="795528" cy="0"/>
          </a:xfrm>
          <a:prstGeom prst="straightConnector1">
            <a:avLst/>
          </a:prstGeom>
          <a:noFill/>
          <a:ln cap="flat" cmpd="sng" w="11425">
            <a:solidFill>
              <a:srgbClr val="D0D5DD"/>
            </a:solidFill>
            <a:prstDash val="solid"/>
            <a:round/>
            <a:headEnd len="sm" w="sm" type="none"/>
            <a:tailEnd len="med" w="med" type="triangle"/>
          </a:ln>
        </p:spPr>
      </p:cxnSp>
      <p:sp>
        <p:nvSpPr>
          <p:cNvPr id="71" name="Google Shape;71;p2"/>
          <p:cNvSpPr/>
          <p:nvPr/>
        </p:nvSpPr>
        <p:spPr>
          <a:xfrm>
            <a:off x="4480560" y="3246120"/>
            <a:ext cx="1143000" cy="384048"/>
          </a:xfrm>
          <a:prstGeom prst="roundRect">
            <a:avLst>
              <a:gd fmla="val 16667"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20"/>
              <a:buFont typeface="Noto Sans"/>
              <a:buNone/>
            </a:pPr>
            <a:r>
              <a:rPr b="1" i="0" lang="en-US" sz="920" u="none" cap="none" strike="noStrike">
                <a:solidFill>
                  <a:srgbClr val="344054"/>
                </a:solidFill>
                <a:latin typeface="Noto Sans"/>
                <a:ea typeface="Noto Sans"/>
                <a:cs typeface="Noto Sans"/>
                <a:sym typeface="Noto Sans"/>
              </a:rPr>
              <a:t>CCTV 2</a:t>
            </a:r>
            <a:endParaRPr b="0" i="0" sz="920" u="none" cap="none" strike="noStrike">
              <a:solidFill>
                <a:schemeClr val="dk1"/>
              </a:solidFill>
              <a:latin typeface="Noto Sans"/>
              <a:ea typeface="Noto Sans"/>
              <a:cs typeface="Noto Sans"/>
              <a:sym typeface="Noto Sans"/>
            </a:endParaRPr>
          </a:p>
        </p:txBody>
      </p:sp>
      <p:cxnSp>
        <p:nvCxnSpPr>
          <p:cNvPr id="72" name="Google Shape;72;p2"/>
          <p:cNvCxnSpPr/>
          <p:nvPr/>
        </p:nvCxnSpPr>
        <p:spPr>
          <a:xfrm>
            <a:off x="5696712" y="3438144"/>
            <a:ext cx="795528" cy="0"/>
          </a:xfrm>
          <a:prstGeom prst="straightConnector1">
            <a:avLst/>
          </a:prstGeom>
          <a:noFill/>
          <a:ln cap="flat" cmpd="sng" w="11425">
            <a:solidFill>
              <a:srgbClr val="D0D5DD"/>
            </a:solidFill>
            <a:prstDash val="solid"/>
            <a:round/>
            <a:headEnd len="sm" w="sm" type="none"/>
            <a:tailEnd len="med" w="med" type="triangle"/>
          </a:ln>
        </p:spPr>
      </p:cxnSp>
      <p:sp>
        <p:nvSpPr>
          <p:cNvPr id="73" name="Google Shape;73;p2"/>
          <p:cNvSpPr/>
          <p:nvPr/>
        </p:nvSpPr>
        <p:spPr>
          <a:xfrm>
            <a:off x="4480560" y="3867912"/>
            <a:ext cx="1143000" cy="384048"/>
          </a:xfrm>
          <a:prstGeom prst="roundRect">
            <a:avLst>
              <a:gd fmla="val 16667"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20"/>
              <a:buFont typeface="Noto Sans"/>
              <a:buNone/>
            </a:pPr>
            <a:r>
              <a:rPr b="1" i="0" lang="en-US" sz="920" u="none" cap="none" strike="noStrike">
                <a:solidFill>
                  <a:srgbClr val="344054"/>
                </a:solidFill>
                <a:latin typeface="Noto Sans"/>
                <a:ea typeface="Noto Sans"/>
                <a:cs typeface="Noto Sans"/>
                <a:sym typeface="Noto Sans"/>
              </a:rPr>
              <a:t>CCTV 3</a:t>
            </a:r>
            <a:endParaRPr b="0" i="0" sz="920" u="none" cap="none" strike="noStrike">
              <a:solidFill>
                <a:schemeClr val="dk1"/>
              </a:solidFill>
              <a:latin typeface="Noto Sans"/>
              <a:ea typeface="Noto Sans"/>
              <a:cs typeface="Noto Sans"/>
              <a:sym typeface="Noto Sans"/>
            </a:endParaRPr>
          </a:p>
        </p:txBody>
      </p:sp>
      <p:cxnSp>
        <p:nvCxnSpPr>
          <p:cNvPr id="74" name="Google Shape;74;p2"/>
          <p:cNvCxnSpPr/>
          <p:nvPr/>
        </p:nvCxnSpPr>
        <p:spPr>
          <a:xfrm>
            <a:off x="5696712" y="4059936"/>
            <a:ext cx="795528" cy="0"/>
          </a:xfrm>
          <a:prstGeom prst="straightConnector1">
            <a:avLst/>
          </a:prstGeom>
          <a:noFill/>
          <a:ln cap="flat" cmpd="sng" w="11425">
            <a:solidFill>
              <a:srgbClr val="D0D5DD"/>
            </a:solidFill>
            <a:prstDash val="solid"/>
            <a:round/>
            <a:headEnd len="sm" w="sm" type="none"/>
            <a:tailEnd len="med" w="med" type="triangle"/>
          </a:ln>
        </p:spPr>
      </p:cxnSp>
      <p:sp>
        <p:nvSpPr>
          <p:cNvPr id="75" name="Google Shape;75;p2"/>
          <p:cNvSpPr/>
          <p:nvPr/>
        </p:nvSpPr>
        <p:spPr>
          <a:xfrm>
            <a:off x="4480560" y="4489704"/>
            <a:ext cx="1143000" cy="384048"/>
          </a:xfrm>
          <a:prstGeom prst="roundRect">
            <a:avLst>
              <a:gd fmla="val 16667"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20"/>
              <a:buFont typeface="Noto Sans"/>
              <a:buNone/>
            </a:pPr>
            <a:r>
              <a:rPr b="1" i="0" lang="en-US" sz="920" u="none" cap="none" strike="noStrike">
                <a:solidFill>
                  <a:srgbClr val="344054"/>
                </a:solidFill>
                <a:latin typeface="Noto Sans"/>
                <a:ea typeface="Noto Sans"/>
                <a:cs typeface="Noto Sans"/>
                <a:sym typeface="Noto Sans"/>
              </a:rPr>
              <a:t>CCTV 4</a:t>
            </a:r>
            <a:endParaRPr b="0" i="0" sz="920" u="none" cap="none" strike="noStrike">
              <a:solidFill>
                <a:schemeClr val="dk1"/>
              </a:solidFill>
              <a:latin typeface="Noto Sans"/>
              <a:ea typeface="Noto Sans"/>
              <a:cs typeface="Noto Sans"/>
              <a:sym typeface="Noto Sans"/>
            </a:endParaRPr>
          </a:p>
        </p:txBody>
      </p:sp>
      <p:cxnSp>
        <p:nvCxnSpPr>
          <p:cNvPr id="76" name="Google Shape;76;p2"/>
          <p:cNvCxnSpPr/>
          <p:nvPr/>
        </p:nvCxnSpPr>
        <p:spPr>
          <a:xfrm>
            <a:off x="5696712" y="4681728"/>
            <a:ext cx="795528" cy="0"/>
          </a:xfrm>
          <a:prstGeom prst="straightConnector1">
            <a:avLst/>
          </a:prstGeom>
          <a:noFill/>
          <a:ln cap="flat" cmpd="sng" w="11425">
            <a:solidFill>
              <a:srgbClr val="D0D5DD"/>
            </a:solidFill>
            <a:prstDash val="solid"/>
            <a:round/>
            <a:headEnd len="sm" w="sm" type="none"/>
            <a:tailEnd len="med" w="med" type="triangle"/>
          </a:ln>
        </p:spPr>
      </p:cxnSp>
      <p:sp>
        <p:nvSpPr>
          <p:cNvPr id="77" name="Google Shape;77;p2"/>
          <p:cNvSpPr/>
          <p:nvPr/>
        </p:nvSpPr>
        <p:spPr>
          <a:xfrm>
            <a:off x="6583680" y="3108960"/>
            <a:ext cx="1325880" cy="960120"/>
          </a:xfrm>
          <a:prstGeom prst="roundRect">
            <a:avLst>
              <a:gd fmla="val 6667" name="adj"/>
            </a:avLst>
          </a:prstGeom>
          <a:solidFill>
            <a:srgbClr val="EAF2FA"/>
          </a:solidFill>
          <a:ln cap="flat" cmpd="sng" w="9525">
            <a:solidFill>
              <a:srgbClr val="496E94"/>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0B1F33"/>
              </a:buClr>
              <a:buSzPts val="1050"/>
              <a:buFont typeface="Noto Sans"/>
              <a:buNone/>
            </a:pPr>
            <a:r>
              <a:rPr b="1" i="0" lang="en-US" sz="1050" u="none" cap="none" strike="noStrike">
                <a:solidFill>
                  <a:srgbClr val="0B1F33"/>
                </a:solidFill>
                <a:latin typeface="Noto Sans"/>
                <a:ea typeface="Noto Sans"/>
                <a:cs typeface="Noto Sans"/>
                <a:sym typeface="Noto Sans"/>
              </a:rPr>
              <a:t>Detector</a:t>
            </a:r>
            <a:endParaRPr b="0" i="0" sz="105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50"/>
              <a:buFont typeface="Noto Sans"/>
              <a:buNone/>
            </a:pPr>
            <a:r>
              <a:rPr b="1" i="0" lang="en-US" sz="1050" u="none" cap="none" strike="noStrike">
                <a:solidFill>
                  <a:srgbClr val="0B1F33"/>
                </a:solidFill>
                <a:latin typeface="Noto Sans"/>
                <a:ea typeface="Noto Sans"/>
                <a:cs typeface="Noto Sans"/>
                <a:sym typeface="Noto Sans"/>
              </a:rPr>
              <a:t>per-frame</a:t>
            </a:r>
            <a:endParaRPr b="0" i="0" sz="1050" u="none" cap="none" strike="noStrike">
              <a:solidFill>
                <a:schemeClr val="dk1"/>
              </a:solidFill>
              <a:latin typeface="Noto Sans"/>
              <a:ea typeface="Noto Sans"/>
              <a:cs typeface="Noto Sans"/>
              <a:sym typeface="Noto Sans"/>
            </a:endParaRPr>
          </a:p>
        </p:txBody>
      </p:sp>
      <p:cxnSp>
        <p:nvCxnSpPr>
          <p:cNvPr id="78" name="Google Shape;78;p2"/>
          <p:cNvCxnSpPr/>
          <p:nvPr/>
        </p:nvCxnSpPr>
        <p:spPr>
          <a:xfrm>
            <a:off x="8001000" y="3593592"/>
            <a:ext cx="731520" cy="0"/>
          </a:xfrm>
          <a:prstGeom prst="straightConnector1">
            <a:avLst/>
          </a:prstGeom>
          <a:noFill/>
          <a:ln cap="flat" cmpd="sng" w="16500">
            <a:solidFill>
              <a:srgbClr val="496E94"/>
            </a:solidFill>
            <a:prstDash val="solid"/>
            <a:round/>
            <a:headEnd len="sm" w="sm" type="none"/>
            <a:tailEnd len="med" w="med" type="triangle"/>
          </a:ln>
        </p:spPr>
      </p:cxnSp>
      <p:sp>
        <p:nvSpPr>
          <p:cNvPr id="79" name="Google Shape;79;p2"/>
          <p:cNvSpPr/>
          <p:nvPr/>
        </p:nvSpPr>
        <p:spPr>
          <a:xfrm>
            <a:off x="8842248" y="3108960"/>
            <a:ext cx="1325880" cy="960120"/>
          </a:xfrm>
          <a:prstGeom prst="roundRect">
            <a:avLst>
              <a:gd fmla="val 6667" name="adj"/>
            </a:avLst>
          </a:prstGeom>
          <a:solidFill>
            <a:srgbClr val="FFFFFF"/>
          </a:solidFill>
          <a:ln cap="flat" cmpd="sng" w="9525">
            <a:solidFill>
              <a:srgbClr val="496E94"/>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0B1F33"/>
              </a:buClr>
              <a:buSzPts val="1050"/>
              <a:buFont typeface="Noto Sans"/>
              <a:buNone/>
            </a:pPr>
            <a:r>
              <a:rPr b="1" i="0" lang="en-US" sz="1050" u="none" cap="none" strike="noStrike">
                <a:solidFill>
                  <a:srgbClr val="0B1F33"/>
                </a:solidFill>
                <a:latin typeface="Noto Sans"/>
                <a:ea typeface="Noto Sans"/>
                <a:cs typeface="Noto Sans"/>
                <a:sym typeface="Noto Sans"/>
              </a:rPr>
              <a:t>Temporal</a:t>
            </a:r>
            <a:endParaRPr b="0" i="0" sz="105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50"/>
              <a:buFont typeface="Noto Sans"/>
              <a:buNone/>
            </a:pPr>
            <a:r>
              <a:rPr b="1" i="0" lang="en-US" sz="1050" u="none" cap="none" strike="noStrike">
                <a:solidFill>
                  <a:srgbClr val="0B1F33"/>
                </a:solidFill>
                <a:latin typeface="Noto Sans"/>
                <a:ea typeface="Noto Sans"/>
                <a:cs typeface="Noto Sans"/>
                <a:sym typeface="Noto Sans"/>
              </a:rPr>
              <a:t>verifier</a:t>
            </a:r>
            <a:endParaRPr b="0" i="0" sz="1050" u="none" cap="none" strike="noStrike">
              <a:solidFill>
                <a:schemeClr val="dk1"/>
              </a:solidFill>
              <a:latin typeface="Noto Sans"/>
              <a:ea typeface="Noto Sans"/>
              <a:cs typeface="Noto Sans"/>
              <a:sym typeface="Noto Sans"/>
            </a:endParaRPr>
          </a:p>
        </p:txBody>
      </p:sp>
      <p:cxnSp>
        <p:nvCxnSpPr>
          <p:cNvPr id="80" name="Google Shape;80;p2"/>
          <p:cNvCxnSpPr/>
          <p:nvPr/>
        </p:nvCxnSpPr>
        <p:spPr>
          <a:xfrm>
            <a:off x="10259568" y="3593592"/>
            <a:ext cx="649224" cy="0"/>
          </a:xfrm>
          <a:prstGeom prst="straightConnector1">
            <a:avLst/>
          </a:prstGeom>
          <a:noFill/>
          <a:ln cap="flat" cmpd="sng" w="16500">
            <a:solidFill>
              <a:srgbClr val="496E94"/>
            </a:solidFill>
            <a:prstDash val="solid"/>
            <a:round/>
            <a:headEnd len="sm" w="sm" type="none"/>
            <a:tailEnd len="med" w="med" type="triangle"/>
          </a:ln>
        </p:spPr>
      </p:cxnSp>
      <p:sp>
        <p:nvSpPr>
          <p:cNvPr id="81" name="Google Shape;81;p2"/>
          <p:cNvSpPr/>
          <p:nvPr/>
        </p:nvSpPr>
        <p:spPr>
          <a:xfrm>
            <a:off x="9601200" y="4343400"/>
            <a:ext cx="1325880" cy="749808"/>
          </a:xfrm>
          <a:prstGeom prst="roundRect">
            <a:avLst>
              <a:gd fmla="val 8537" name="adj"/>
            </a:avLst>
          </a:prstGeom>
          <a:solidFill>
            <a:srgbClr val="FFFFFF"/>
          </a:solidFill>
          <a:ln cap="flat" cmpd="sng" w="9525">
            <a:solidFill>
              <a:srgbClr val="0B1F33"/>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0B1F33"/>
              </a:buClr>
              <a:buSzPts val="1050"/>
              <a:buFont typeface="Noto Sans"/>
              <a:buNone/>
            </a:pPr>
            <a:r>
              <a:rPr b="1" i="0" lang="en-US" sz="1050" u="none" cap="none" strike="noStrike">
                <a:solidFill>
                  <a:srgbClr val="0B1F33"/>
                </a:solidFill>
                <a:latin typeface="Noto Sans"/>
                <a:ea typeface="Noto Sans"/>
                <a:cs typeface="Noto Sans"/>
                <a:sym typeface="Noto Sans"/>
              </a:rPr>
              <a:t>Alarm +</a:t>
            </a:r>
            <a:endParaRPr b="0" i="0" sz="105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50"/>
              <a:buFont typeface="Noto Sans"/>
              <a:buNone/>
            </a:pPr>
            <a:r>
              <a:rPr b="1" i="0" lang="en-US" sz="1050" u="none" cap="none" strike="noStrike">
                <a:solidFill>
                  <a:srgbClr val="0B1F33"/>
                </a:solidFill>
                <a:latin typeface="Noto Sans"/>
                <a:ea typeface="Noto Sans"/>
                <a:cs typeface="Noto Sans"/>
                <a:sym typeface="Noto Sans"/>
              </a:rPr>
              <a:t>evidence</a:t>
            </a:r>
            <a:endParaRPr b="0" i="0" sz="1050" u="none" cap="none" strike="noStrike">
              <a:solidFill>
                <a:schemeClr val="dk1"/>
              </a:solidFill>
              <a:latin typeface="Noto Sans"/>
              <a:ea typeface="Noto Sans"/>
              <a:cs typeface="Noto Sans"/>
              <a:sym typeface="Noto Sans"/>
            </a:endParaRPr>
          </a:p>
        </p:txBody>
      </p:sp>
      <p:sp>
        <p:nvSpPr>
          <p:cNvPr id="82" name="Google Shape;82;p2"/>
          <p:cNvSpPr/>
          <p:nvPr/>
        </p:nvSpPr>
        <p:spPr>
          <a:xfrm>
            <a:off x="4453128" y="5376672"/>
            <a:ext cx="4069080" cy="438912"/>
          </a:xfrm>
          <a:prstGeom prst="roundRect">
            <a:avLst>
              <a:gd fmla="val 12500" name="adj"/>
            </a:avLst>
          </a:prstGeom>
          <a:solidFill>
            <a:srgbClr val="F9FAFB"/>
          </a:solidFill>
          <a:ln cap="flat" cmpd="sng" w="9525">
            <a:solidFill>
              <a:srgbClr val="E4E7EC"/>
            </a:solidFill>
            <a:prstDash val="solid"/>
            <a:round/>
            <a:headEnd len="sm" w="sm" type="none"/>
            <a:tailEnd len="sm" w="sm" type="none"/>
          </a:ln>
        </p:spPr>
        <p:txBody>
          <a:bodyPr anchorCtr="0" anchor="ctr" bIns="1000" lIns="1000" spcFirstLastPara="1" rIns="1000" wrap="square" tIns="1000">
            <a:normAutofit/>
          </a:bodyPr>
          <a:lstStyle/>
          <a:p>
            <a:pPr indent="0" lvl="0" marL="0" marR="0" rtl="0" algn="ctr">
              <a:spcBef>
                <a:spcPts val="0"/>
              </a:spcBef>
              <a:spcAft>
                <a:spcPts val="0"/>
              </a:spcAft>
              <a:buClr>
                <a:srgbClr val="344054"/>
              </a:buClr>
              <a:buSzPts val="1050"/>
              <a:buFont typeface="Noto Sans"/>
              <a:buNone/>
            </a:pPr>
            <a:r>
              <a:rPr b="0" i="0" lang="en-US" sz="1050" u="none" cap="none" strike="noStrike">
                <a:solidFill>
                  <a:srgbClr val="344054"/>
                </a:solidFill>
                <a:latin typeface="Noto Sans"/>
                <a:ea typeface="Noto Sans"/>
                <a:cs typeface="Noto Sans"/>
                <a:sym typeface="Noto Sans"/>
              </a:rPr>
              <a:t>핵심 설계 단위</a:t>
            </a:r>
            <a:endParaRPr b="0" i="0" sz="105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344054"/>
              </a:buClr>
              <a:buSzPts val="1050"/>
              <a:buFont typeface="Noto Sans"/>
              <a:buNone/>
            </a:pPr>
            <a:r>
              <a:rPr b="0" i="0" lang="en-US" sz="1050" u="none" cap="none" strike="noStrike">
                <a:solidFill>
                  <a:srgbClr val="344054"/>
                </a:solidFill>
                <a:latin typeface="Noto Sans"/>
                <a:ea typeface="Noto Sans"/>
                <a:cs typeface="Noto Sans"/>
                <a:sym typeface="Noto Sans"/>
              </a:rPr>
              <a:t>= 영상 1장 정확도 + 시간 일관성 + 사건 증거</a:t>
            </a:r>
            <a:endParaRPr b="0" i="0" sz="1050" u="none" cap="none" strike="noStrike">
              <a:solidFill>
                <a:schemeClr val="dk1"/>
              </a:solidFill>
              <a:latin typeface="Noto Sans"/>
              <a:ea typeface="Noto Sans"/>
              <a:cs typeface="Noto Sans"/>
              <a:sym typeface="Noto Sans"/>
            </a:endParaRPr>
          </a:p>
        </p:txBody>
      </p:sp>
      <p:sp>
        <p:nvSpPr>
          <p:cNvPr id="83" name="Google Shape;83;p2"/>
          <p:cNvSpPr/>
          <p:nvPr/>
        </p:nvSpPr>
        <p:spPr>
          <a:xfrm>
            <a:off x="8869680" y="5376672"/>
            <a:ext cx="1965960" cy="438912"/>
          </a:xfrm>
          <a:prstGeom prst="roundRect">
            <a:avLst>
              <a:gd fmla="val 12500" name="adj"/>
            </a:avLst>
          </a:prstGeom>
          <a:solidFill>
            <a:srgbClr val="EAF2FA"/>
          </a:solidFill>
          <a:ln cap="flat" cmpd="sng" w="9525">
            <a:solidFill>
              <a:srgbClr val="EAF2FA"/>
            </a:solidFill>
            <a:prstDash val="solid"/>
            <a:round/>
            <a:headEnd len="sm" w="sm" type="none"/>
            <a:tailEnd len="sm" w="sm" type="none"/>
          </a:ln>
        </p:spPr>
        <p:txBody>
          <a:bodyPr anchorCtr="0" anchor="ctr" bIns="1000" lIns="1000" spcFirstLastPara="1" rIns="1000" wrap="square" tIns="1000">
            <a:normAutofit/>
          </a:bodyPr>
          <a:lstStyle/>
          <a:p>
            <a:pPr indent="0" lvl="0" marL="0" marR="0" rtl="0" algn="ctr">
              <a:spcBef>
                <a:spcPts val="0"/>
              </a:spcBef>
              <a:spcAft>
                <a:spcPts val="0"/>
              </a:spcAft>
              <a:buClr>
                <a:srgbClr val="2F5D8C"/>
              </a:buClr>
              <a:buSzPts val="920"/>
              <a:buFont typeface="Noto Sans"/>
              <a:buNone/>
            </a:pPr>
            <a:r>
              <a:rPr b="1" i="0" lang="en-US" sz="920" u="none" cap="none" strike="noStrike">
                <a:solidFill>
                  <a:srgbClr val="2F5D8C"/>
                </a:solidFill>
                <a:latin typeface="Noto Sans"/>
                <a:ea typeface="Noto Sans"/>
                <a:cs typeface="Noto Sans"/>
                <a:sym typeface="Noto Sans"/>
              </a:rPr>
              <a:t>Public-data-only</a:t>
            </a:r>
            <a:endParaRPr b="0" i="0" sz="9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2F5D8C"/>
              </a:buClr>
              <a:buSzPts val="920"/>
              <a:buFont typeface="Noto Sans"/>
              <a:buNone/>
            </a:pPr>
            <a:r>
              <a:rPr b="1" i="0" lang="en-US" sz="920" u="none" cap="none" strike="noStrike">
                <a:solidFill>
                  <a:srgbClr val="2F5D8C"/>
                </a:solidFill>
                <a:latin typeface="Noto Sans"/>
                <a:ea typeface="Noto Sans"/>
                <a:cs typeface="Noto Sans"/>
                <a:sym typeface="Noto Sans"/>
              </a:rPr>
              <a:t>feasibility 검증</a:t>
            </a:r>
            <a:endParaRPr b="0" i="0" sz="920" u="none" cap="none" strike="noStrike">
              <a:solidFill>
                <a:schemeClr val="dk1"/>
              </a:solidFill>
              <a:latin typeface="Noto Sans"/>
              <a:ea typeface="Noto Sans"/>
              <a:cs typeface="Noto Sans"/>
              <a:sym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8" name="Shape 88"/>
        <p:cNvGrpSpPr/>
        <p:nvPr/>
      </p:nvGrpSpPr>
      <p:grpSpPr>
        <a:xfrm>
          <a:off x="0" y="0"/>
          <a:ext cx="0" cy="0"/>
          <a:chOff x="0" y="0"/>
          <a:chExt cx="0" cy="0"/>
        </a:xfrm>
      </p:grpSpPr>
      <p:sp>
        <p:nvSpPr>
          <p:cNvPr id="89" name="Google Shape;89;p3"/>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02 / Constraint</a:t>
            </a:r>
            <a:endParaRPr b="0" i="0" sz="850" u="none" cap="none" strike="noStrike">
              <a:solidFill>
                <a:schemeClr val="dk1"/>
              </a:solidFill>
              <a:latin typeface="Noto Sans"/>
              <a:ea typeface="Noto Sans"/>
              <a:cs typeface="Noto Sans"/>
              <a:sym typeface="Noto Sans"/>
            </a:endParaRPr>
          </a:p>
        </p:txBody>
      </p:sp>
      <p:sp>
        <p:nvSpPr>
          <p:cNvPr id="90" name="Google Shape;90;p3"/>
          <p:cNvSpPr/>
          <p:nvPr/>
        </p:nvSpPr>
        <p:spPr>
          <a:xfrm>
            <a:off x="512064" y="475488"/>
            <a:ext cx="9875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제약</a:t>
            </a:r>
            <a:r>
              <a:rPr b="1" lang="en-US" sz="2450">
                <a:solidFill>
                  <a:srgbClr val="0B1F33"/>
                </a:solidFill>
                <a:latin typeface="Noto Sans"/>
                <a:ea typeface="Noto Sans"/>
                <a:cs typeface="Noto Sans"/>
                <a:sym typeface="Noto Sans"/>
              </a:rPr>
              <a:t>과</a:t>
            </a:r>
            <a:r>
              <a:rPr b="1" i="0" lang="en-US" sz="2450" u="none" cap="none" strike="noStrike">
                <a:solidFill>
                  <a:srgbClr val="0B1F33"/>
                </a:solidFill>
                <a:latin typeface="Noto Sans"/>
                <a:ea typeface="Noto Sans"/>
                <a:cs typeface="Noto Sans"/>
                <a:sym typeface="Noto Sans"/>
              </a:rPr>
              <a:t> 연구 질문</a:t>
            </a:r>
            <a:endParaRPr b="0" i="0" sz="2450" u="none" cap="none" strike="noStrike">
              <a:solidFill>
                <a:schemeClr val="dk1"/>
              </a:solidFill>
              <a:latin typeface="Noto Sans"/>
              <a:ea typeface="Noto Sans"/>
              <a:cs typeface="Noto Sans"/>
              <a:sym typeface="Noto Sans"/>
            </a:endParaRPr>
          </a:p>
        </p:txBody>
      </p:sp>
      <p:sp>
        <p:nvSpPr>
          <p:cNvPr id="91" name="Google Shape;91;p3"/>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03</a:t>
            </a:r>
            <a:endParaRPr b="0" i="0" sz="800" u="none" cap="none" strike="noStrike">
              <a:solidFill>
                <a:schemeClr val="dk1"/>
              </a:solidFill>
              <a:latin typeface="Noto Sans"/>
              <a:ea typeface="Noto Sans"/>
              <a:cs typeface="Noto Sans"/>
              <a:sym typeface="Noto Sans"/>
            </a:endParaRPr>
          </a:p>
        </p:txBody>
      </p:sp>
      <p:cxnSp>
        <p:nvCxnSpPr>
          <p:cNvPr id="92" name="Google Shape;92;p3"/>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93" name="Google Shape;93;p3"/>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94" name="Google Shape;94;p3"/>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95" name="Google Shape;95;p3"/>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3</a:t>
            </a:r>
            <a:endParaRPr b="0" i="0" sz="720" u="none" cap="none" strike="noStrike">
              <a:solidFill>
                <a:schemeClr val="dk1"/>
              </a:solidFill>
              <a:latin typeface="Noto Sans"/>
              <a:ea typeface="Noto Sans"/>
              <a:cs typeface="Noto Sans"/>
              <a:sym typeface="Noto Sans"/>
            </a:endParaRPr>
          </a:p>
        </p:txBody>
      </p:sp>
      <p:sp>
        <p:nvSpPr>
          <p:cNvPr id="96" name="Google Shape;96;p3"/>
          <p:cNvSpPr/>
          <p:nvPr/>
        </p:nvSpPr>
        <p:spPr>
          <a:xfrm>
            <a:off x="512064" y="1078992"/>
            <a:ext cx="1051560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620"/>
              <a:buFont typeface="Noto Sans"/>
              <a:buNone/>
            </a:pPr>
            <a:r>
              <a:rPr b="1" i="0" lang="en-US" sz="1720" u="none" cap="none" strike="noStrike">
                <a:solidFill>
                  <a:srgbClr val="666666"/>
                </a:solidFill>
                <a:latin typeface="Noto Sans"/>
                <a:ea typeface="Noto Sans"/>
                <a:cs typeface="Noto Sans"/>
                <a:sym typeface="Noto Sans"/>
              </a:rPr>
              <a:t>접근/</a:t>
            </a:r>
            <a:r>
              <a:rPr b="1" lang="en-US" sz="1720">
                <a:solidFill>
                  <a:srgbClr val="666666"/>
                </a:solidFill>
                <a:latin typeface="Noto Sans"/>
                <a:ea typeface="Noto Sans"/>
                <a:cs typeface="Noto Sans"/>
                <a:sym typeface="Noto Sans"/>
              </a:rPr>
              <a:t>공개</a:t>
            </a:r>
            <a:r>
              <a:rPr b="1" i="0" lang="en-US" sz="1720" u="none" cap="none" strike="noStrike">
                <a:solidFill>
                  <a:srgbClr val="666666"/>
                </a:solidFill>
                <a:latin typeface="Noto Sans"/>
                <a:ea typeface="Noto Sans"/>
                <a:cs typeface="Noto Sans"/>
                <a:sym typeface="Noto Sans"/>
              </a:rPr>
              <a:t> 불가능한 데이터를 흉내 내어 성능을 주장하는 것</a:t>
            </a:r>
            <a:r>
              <a:rPr b="1" lang="en-US" sz="1720">
                <a:solidFill>
                  <a:srgbClr val="666666"/>
                </a:solidFill>
                <a:latin typeface="Noto Sans"/>
                <a:ea typeface="Noto Sans"/>
                <a:cs typeface="Noto Sans"/>
                <a:sym typeface="Noto Sans"/>
              </a:rPr>
              <a:t> </a:t>
            </a:r>
            <a:r>
              <a:rPr b="1" lang="en-US" sz="1720">
                <a:solidFill>
                  <a:srgbClr val="990000"/>
                </a:solidFill>
                <a:latin typeface="Noto Sans"/>
                <a:ea typeface="Noto Sans"/>
                <a:cs typeface="Noto Sans"/>
                <a:sym typeface="Noto Sans"/>
              </a:rPr>
              <a:t>X</a:t>
            </a:r>
            <a:endParaRPr b="0" i="0" sz="1720" u="none" cap="none" strike="noStrike">
              <a:solidFill>
                <a:srgbClr val="990000"/>
              </a:solidFill>
              <a:latin typeface="Noto Sans"/>
              <a:ea typeface="Noto Sans"/>
              <a:cs typeface="Noto Sans"/>
              <a:sym typeface="Noto Sans"/>
            </a:endParaRPr>
          </a:p>
          <a:p>
            <a:pPr indent="0" lvl="0" marL="0" marR="0" rtl="0" algn="l">
              <a:spcBef>
                <a:spcPts val="0"/>
              </a:spcBef>
              <a:spcAft>
                <a:spcPts val="0"/>
              </a:spcAft>
              <a:buClr>
                <a:srgbClr val="0B1F33"/>
              </a:buClr>
              <a:buSzPts val="1620"/>
              <a:buFont typeface="Noto Sans"/>
              <a:buNone/>
            </a:pPr>
            <a:r>
              <a:rPr b="1" i="0" lang="en-US" sz="1720" u="none" cap="none" strike="noStrike">
                <a:solidFill>
                  <a:srgbClr val="1C4587"/>
                </a:solidFill>
                <a:latin typeface="Noto Sans"/>
                <a:ea typeface="Noto Sans"/>
                <a:cs typeface="Noto Sans"/>
                <a:sym typeface="Noto Sans"/>
              </a:rPr>
              <a:t>공개자료만으로 재현 가능한 검증 scaffold를 만들 수 있는지를 묻는</a:t>
            </a:r>
            <a:r>
              <a:rPr b="1" lang="en-US" sz="1720">
                <a:solidFill>
                  <a:srgbClr val="1C4587"/>
                </a:solidFill>
                <a:latin typeface="Noto Sans"/>
                <a:ea typeface="Noto Sans"/>
                <a:cs typeface="Noto Sans"/>
                <a:sym typeface="Noto Sans"/>
              </a:rPr>
              <a:t> 것</a:t>
            </a:r>
            <a:r>
              <a:rPr b="1" lang="en-US" sz="1720">
                <a:solidFill>
                  <a:srgbClr val="0B1F33"/>
                </a:solidFill>
                <a:latin typeface="Noto Sans"/>
                <a:ea typeface="Noto Sans"/>
                <a:cs typeface="Noto Sans"/>
                <a:sym typeface="Noto Sans"/>
              </a:rPr>
              <a:t> </a:t>
            </a:r>
            <a:r>
              <a:rPr b="1" lang="en-US" sz="1720">
                <a:solidFill>
                  <a:srgbClr val="1155CC"/>
                </a:solidFill>
                <a:latin typeface="Noto Sans"/>
                <a:ea typeface="Noto Sans"/>
                <a:cs typeface="Noto Sans"/>
                <a:sym typeface="Noto Sans"/>
              </a:rPr>
              <a:t>O</a:t>
            </a:r>
            <a:endParaRPr b="0" i="0" sz="1720" u="none" cap="none" strike="noStrike">
              <a:solidFill>
                <a:srgbClr val="1155CC"/>
              </a:solidFill>
              <a:latin typeface="Noto Sans"/>
              <a:ea typeface="Noto Sans"/>
              <a:cs typeface="Noto Sans"/>
              <a:sym typeface="Noto Sans"/>
            </a:endParaRPr>
          </a:p>
        </p:txBody>
      </p:sp>
      <p:sp>
        <p:nvSpPr>
          <p:cNvPr id="97" name="Google Shape;97;p3"/>
          <p:cNvSpPr/>
          <p:nvPr/>
        </p:nvSpPr>
        <p:spPr>
          <a:xfrm>
            <a:off x="731520" y="1874520"/>
            <a:ext cx="3337560" cy="1097280"/>
          </a:xfrm>
          <a:prstGeom prst="roundRect">
            <a:avLst>
              <a:gd fmla="val 6667"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932688" y="2039112"/>
            <a:ext cx="2935224"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400"/>
              <a:buFont typeface="Noto Sans"/>
              <a:buNone/>
            </a:pPr>
            <a:r>
              <a:rPr b="1" lang="en-US" sz="1600">
                <a:solidFill>
                  <a:srgbClr val="0B1F33"/>
                </a:solidFill>
                <a:latin typeface="Noto Sans"/>
                <a:ea typeface="Noto Sans"/>
                <a:cs typeface="Noto Sans"/>
                <a:sym typeface="Noto Sans"/>
              </a:rPr>
              <a:t>실제 함정 CCTV의 보안 제약</a:t>
            </a:r>
            <a:endParaRPr b="0" i="0" sz="1600" u="none" cap="none" strike="noStrike">
              <a:solidFill>
                <a:schemeClr val="dk1"/>
              </a:solidFill>
              <a:latin typeface="Noto Sans"/>
              <a:ea typeface="Noto Sans"/>
              <a:cs typeface="Noto Sans"/>
              <a:sym typeface="Noto Sans"/>
            </a:endParaRPr>
          </a:p>
        </p:txBody>
      </p:sp>
      <p:sp>
        <p:nvSpPr>
          <p:cNvPr id="99" name="Google Shape;99;p3"/>
          <p:cNvSpPr/>
          <p:nvPr/>
        </p:nvSpPr>
        <p:spPr>
          <a:xfrm>
            <a:off x="932688" y="2404872"/>
            <a:ext cx="2935224" cy="29260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20"/>
              <a:buFont typeface="Noto Sans"/>
              <a:buNone/>
            </a:pPr>
            <a:r>
              <a:rPr b="0" i="0" lang="en-US" sz="1120" u="none" cap="none" strike="noStrike">
                <a:solidFill>
                  <a:srgbClr val="667085"/>
                </a:solidFill>
                <a:latin typeface="Noto Sans"/>
                <a:ea typeface="Noto Sans"/>
                <a:cs typeface="Noto Sans"/>
                <a:sym typeface="Noto Sans"/>
              </a:rPr>
              <a:t>운용 중인 해군 함정 CCTV 영상은 사용하지 않음</a:t>
            </a:r>
            <a:endParaRPr b="0" i="0" sz="1120" u="none" cap="none" strike="noStrike">
              <a:solidFill>
                <a:schemeClr val="dk1"/>
              </a:solidFill>
              <a:latin typeface="Noto Sans"/>
              <a:ea typeface="Noto Sans"/>
              <a:cs typeface="Noto Sans"/>
              <a:sym typeface="Noto Sans"/>
            </a:endParaRPr>
          </a:p>
        </p:txBody>
      </p:sp>
      <p:sp>
        <p:nvSpPr>
          <p:cNvPr id="100" name="Google Shape;100;p3"/>
          <p:cNvSpPr/>
          <p:nvPr/>
        </p:nvSpPr>
        <p:spPr>
          <a:xfrm>
            <a:off x="4434840" y="1874520"/>
            <a:ext cx="3337560" cy="1097280"/>
          </a:xfrm>
          <a:prstGeom prst="roundRect">
            <a:avLst>
              <a:gd fmla="val 6667"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4636008" y="2039112"/>
            <a:ext cx="2935224"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400"/>
              <a:buFont typeface="Noto Sans"/>
              <a:buNone/>
            </a:pPr>
            <a:r>
              <a:rPr b="1" lang="en-US" sz="1600">
                <a:solidFill>
                  <a:srgbClr val="0B1F33"/>
                </a:solidFill>
                <a:latin typeface="Noto Sans"/>
                <a:ea typeface="Noto Sans"/>
                <a:cs typeface="Noto Sans"/>
                <a:sym typeface="Noto Sans"/>
              </a:rPr>
              <a:t>함정 </a:t>
            </a:r>
            <a:r>
              <a:rPr b="1" i="0" lang="en-US" sz="1600" u="none" cap="none" strike="noStrike">
                <a:solidFill>
                  <a:srgbClr val="0B1F33"/>
                </a:solidFill>
                <a:latin typeface="Noto Sans"/>
                <a:ea typeface="Noto Sans"/>
                <a:cs typeface="Noto Sans"/>
                <a:sym typeface="Noto Sans"/>
              </a:rPr>
              <a:t>내부 구조 자료 </a:t>
            </a:r>
            <a:r>
              <a:rPr b="1" lang="en-US" sz="1600">
                <a:solidFill>
                  <a:srgbClr val="0B1F33"/>
                </a:solidFill>
                <a:latin typeface="Noto Sans"/>
                <a:ea typeface="Noto Sans"/>
                <a:cs typeface="Noto Sans"/>
                <a:sym typeface="Noto Sans"/>
              </a:rPr>
              <a:t>비공개</a:t>
            </a:r>
            <a:endParaRPr b="0" i="0" sz="1600" u="none" cap="none" strike="noStrike">
              <a:solidFill>
                <a:schemeClr val="dk1"/>
              </a:solidFill>
              <a:latin typeface="Noto Sans"/>
              <a:ea typeface="Noto Sans"/>
              <a:cs typeface="Noto Sans"/>
              <a:sym typeface="Noto Sans"/>
            </a:endParaRPr>
          </a:p>
        </p:txBody>
      </p:sp>
      <p:sp>
        <p:nvSpPr>
          <p:cNvPr id="102" name="Google Shape;102;p3"/>
          <p:cNvSpPr/>
          <p:nvPr/>
        </p:nvSpPr>
        <p:spPr>
          <a:xfrm>
            <a:off x="4636008" y="2404872"/>
            <a:ext cx="2935224" cy="29260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20"/>
              <a:buFont typeface="Noto Sans"/>
              <a:buNone/>
            </a:pPr>
            <a:r>
              <a:rPr b="0" i="0" lang="en-US" sz="1120" u="none" cap="none" strike="noStrike">
                <a:solidFill>
                  <a:srgbClr val="667085"/>
                </a:solidFill>
                <a:latin typeface="Noto Sans"/>
                <a:ea typeface="Noto Sans"/>
                <a:cs typeface="Noto Sans"/>
                <a:sym typeface="Noto Sans"/>
              </a:rPr>
              <a:t>특정 함급·구획 배치 복원 또는 추정 없음</a:t>
            </a:r>
            <a:endParaRPr b="0" i="0" sz="1120" u="none" cap="none" strike="noStrike">
              <a:solidFill>
                <a:schemeClr val="dk1"/>
              </a:solidFill>
              <a:latin typeface="Noto Sans"/>
              <a:ea typeface="Noto Sans"/>
              <a:cs typeface="Noto Sans"/>
              <a:sym typeface="Noto Sans"/>
            </a:endParaRPr>
          </a:p>
        </p:txBody>
      </p:sp>
      <p:sp>
        <p:nvSpPr>
          <p:cNvPr id="103" name="Google Shape;103;p3"/>
          <p:cNvSpPr/>
          <p:nvPr/>
        </p:nvSpPr>
        <p:spPr>
          <a:xfrm>
            <a:off x="8138185" y="1883658"/>
            <a:ext cx="3337500" cy="1097400"/>
          </a:xfrm>
          <a:prstGeom prst="roundRect">
            <a:avLst>
              <a:gd fmla="val 6667"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8284475" y="2039100"/>
            <a:ext cx="3113700" cy="201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400"/>
              <a:buFont typeface="Noto Sans"/>
              <a:buNone/>
            </a:pPr>
            <a:r>
              <a:rPr b="1" i="0" lang="en-US" sz="1500" u="none" cap="none" strike="noStrike">
                <a:solidFill>
                  <a:srgbClr val="0B1F33"/>
                </a:solidFill>
                <a:latin typeface="Noto Sans"/>
                <a:ea typeface="Noto Sans"/>
                <a:cs typeface="Noto Sans"/>
                <a:sym typeface="Noto Sans"/>
              </a:rPr>
              <a:t>실제 shipboard positive label 없음</a:t>
            </a:r>
            <a:endParaRPr b="0" i="0" sz="1500" u="none" cap="none" strike="noStrike">
              <a:solidFill>
                <a:schemeClr val="dk1"/>
              </a:solidFill>
              <a:latin typeface="Noto Sans"/>
              <a:ea typeface="Noto Sans"/>
              <a:cs typeface="Noto Sans"/>
              <a:sym typeface="Noto Sans"/>
            </a:endParaRPr>
          </a:p>
        </p:txBody>
      </p:sp>
      <p:sp>
        <p:nvSpPr>
          <p:cNvPr id="105" name="Google Shape;105;p3"/>
          <p:cNvSpPr/>
          <p:nvPr/>
        </p:nvSpPr>
        <p:spPr>
          <a:xfrm>
            <a:off x="8339328" y="2404872"/>
            <a:ext cx="2935224" cy="29260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20"/>
              <a:buFont typeface="Noto Sans"/>
              <a:buNone/>
            </a:pPr>
            <a:r>
              <a:rPr b="0" i="0" lang="en-US" sz="1120" u="none" cap="none" strike="noStrike">
                <a:solidFill>
                  <a:srgbClr val="667085"/>
                </a:solidFill>
                <a:latin typeface="Noto Sans"/>
                <a:ea typeface="Noto Sans"/>
                <a:cs typeface="Noto Sans"/>
                <a:sym typeface="Noto Sans"/>
              </a:rPr>
              <a:t>실제 함정 화재/연기 positive label 부재</a:t>
            </a:r>
            <a:endParaRPr b="0" i="0" sz="1120" u="none" cap="none" strike="noStrike">
              <a:solidFill>
                <a:schemeClr val="dk1"/>
              </a:solidFill>
              <a:latin typeface="Noto Sans"/>
              <a:ea typeface="Noto Sans"/>
              <a:cs typeface="Noto Sans"/>
              <a:sym typeface="Noto Sans"/>
            </a:endParaRPr>
          </a:p>
        </p:txBody>
      </p:sp>
      <p:sp>
        <p:nvSpPr>
          <p:cNvPr id="106" name="Google Shape;106;p3"/>
          <p:cNvSpPr/>
          <p:nvPr/>
        </p:nvSpPr>
        <p:spPr>
          <a:xfrm>
            <a:off x="1097280" y="3657600"/>
            <a:ext cx="10012680" cy="1508760"/>
          </a:xfrm>
          <a:prstGeom prst="roundRect">
            <a:avLst>
              <a:gd fmla="val 4848" name="adj"/>
            </a:avLst>
          </a:prstGeom>
          <a:solidFill>
            <a:srgbClr val="0B1F33"/>
          </a:solidFill>
          <a:ln cap="flat" cmpd="sng" w="9525">
            <a:solidFill>
              <a:srgbClr val="0B1F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417320" y="3913632"/>
            <a:ext cx="18288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7E1"/>
              </a:buClr>
              <a:buSzPts val="1050"/>
              <a:buFont typeface="Noto Sans"/>
              <a:buNone/>
            </a:pPr>
            <a:r>
              <a:rPr b="1" i="0" lang="en-US" sz="1050" u="none" cap="none" strike="noStrike">
                <a:solidFill>
                  <a:srgbClr val="AFC7E1"/>
                </a:solidFill>
                <a:latin typeface="Noto Sans"/>
                <a:ea typeface="Noto Sans"/>
                <a:cs typeface="Noto Sans"/>
                <a:sym typeface="Noto Sans"/>
              </a:rPr>
              <a:t>Research question</a:t>
            </a:r>
            <a:endParaRPr b="0" i="0" sz="1050" u="none" cap="none" strike="noStrike">
              <a:solidFill>
                <a:schemeClr val="dk1"/>
              </a:solidFill>
              <a:latin typeface="Noto Sans"/>
              <a:ea typeface="Noto Sans"/>
              <a:cs typeface="Noto Sans"/>
              <a:sym typeface="Noto Sans"/>
            </a:endParaRPr>
          </a:p>
        </p:txBody>
      </p:sp>
      <p:sp>
        <p:nvSpPr>
          <p:cNvPr id="108" name="Google Shape;108;p3"/>
          <p:cNvSpPr/>
          <p:nvPr/>
        </p:nvSpPr>
        <p:spPr>
          <a:xfrm>
            <a:off x="1417320" y="4251960"/>
            <a:ext cx="923544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1679"/>
              <a:buFont typeface="Noto Sans"/>
              <a:buNone/>
            </a:pPr>
            <a:r>
              <a:rPr b="1" i="0" lang="en-US" sz="1680" u="none" cap="none" strike="noStrike">
                <a:solidFill>
                  <a:srgbClr val="FFFFFF"/>
                </a:solidFill>
                <a:latin typeface="Noto Sans"/>
                <a:ea typeface="Noto Sans"/>
                <a:cs typeface="Noto Sans"/>
                <a:sym typeface="Noto Sans"/>
              </a:rPr>
              <a:t>공개 fire/smoke donor 자료와 공개 ship-like media, synthetic positive proxy만으로</a:t>
            </a:r>
            <a:endParaRPr b="0" i="0" sz="168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FFFFFF"/>
              </a:buClr>
              <a:buSzPts val="1679"/>
              <a:buFont typeface="Noto Sans"/>
              <a:buNone/>
            </a:pPr>
            <a:r>
              <a:rPr b="1" i="0" lang="en-US" sz="1680" u="none" cap="none" strike="noStrike">
                <a:solidFill>
                  <a:srgbClr val="FFFFFF"/>
                </a:solidFill>
                <a:latin typeface="Noto Sans"/>
                <a:ea typeface="Noto Sans"/>
                <a:cs typeface="Noto Sans"/>
                <a:sym typeface="Noto Sans"/>
              </a:rPr>
              <a:t>함정형 multi-CCTV 화재·연기 조기경보 prototype의 예비 검증이 가능한가?</a:t>
            </a:r>
            <a:endParaRPr b="0" i="0" sz="1680" u="none" cap="none" strike="noStrike">
              <a:solidFill>
                <a:schemeClr val="dk1"/>
              </a:solidFill>
              <a:latin typeface="Noto Sans"/>
              <a:ea typeface="Noto Sans"/>
              <a:cs typeface="Noto Sans"/>
              <a:sym typeface="No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3" name="Shape 113"/>
        <p:cNvGrpSpPr/>
        <p:nvPr/>
      </p:nvGrpSpPr>
      <p:grpSpPr>
        <a:xfrm>
          <a:off x="0" y="0"/>
          <a:ext cx="0" cy="0"/>
          <a:chOff x="0" y="0"/>
          <a:chExt cx="0" cy="0"/>
        </a:xfrm>
      </p:grpSpPr>
      <p:sp>
        <p:nvSpPr>
          <p:cNvPr id="114" name="Google Shape;114;p4"/>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02 / Constraint</a:t>
            </a:r>
            <a:endParaRPr b="0" i="0" sz="850" u="none" cap="none" strike="noStrike">
              <a:solidFill>
                <a:schemeClr val="dk1"/>
              </a:solidFill>
              <a:latin typeface="Noto Sans"/>
              <a:ea typeface="Noto Sans"/>
              <a:cs typeface="Noto Sans"/>
              <a:sym typeface="Noto Sans"/>
            </a:endParaRPr>
          </a:p>
        </p:txBody>
      </p:sp>
      <p:sp>
        <p:nvSpPr>
          <p:cNvPr id="115" name="Google Shape;115;p4"/>
          <p:cNvSpPr/>
          <p:nvPr/>
        </p:nvSpPr>
        <p:spPr>
          <a:xfrm>
            <a:off x="512064" y="475488"/>
            <a:ext cx="9875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Claim boundary</a:t>
            </a:r>
            <a:endParaRPr b="0" i="0" sz="2450" u="none" cap="none" strike="noStrike">
              <a:solidFill>
                <a:schemeClr val="dk1"/>
              </a:solidFill>
              <a:latin typeface="Noto Sans"/>
              <a:ea typeface="Noto Sans"/>
              <a:cs typeface="Noto Sans"/>
              <a:sym typeface="Noto Sans"/>
            </a:endParaRPr>
          </a:p>
        </p:txBody>
      </p:sp>
      <p:sp>
        <p:nvSpPr>
          <p:cNvPr id="116" name="Google Shape;116;p4"/>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04</a:t>
            </a:r>
            <a:endParaRPr b="0" i="0" sz="800" u="none" cap="none" strike="noStrike">
              <a:solidFill>
                <a:schemeClr val="dk1"/>
              </a:solidFill>
              <a:latin typeface="Noto Sans"/>
              <a:ea typeface="Noto Sans"/>
              <a:cs typeface="Noto Sans"/>
              <a:sym typeface="Noto Sans"/>
            </a:endParaRPr>
          </a:p>
        </p:txBody>
      </p:sp>
      <p:cxnSp>
        <p:nvCxnSpPr>
          <p:cNvPr id="117" name="Google Shape;117;p4"/>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118" name="Google Shape;118;p4"/>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119" name="Google Shape;119;p4"/>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120" name="Google Shape;120;p4"/>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4</a:t>
            </a:r>
            <a:endParaRPr b="0" i="0" sz="720" u="none" cap="none" strike="noStrike">
              <a:solidFill>
                <a:schemeClr val="dk1"/>
              </a:solidFill>
              <a:latin typeface="Noto Sans"/>
              <a:ea typeface="Noto Sans"/>
              <a:cs typeface="Noto Sans"/>
              <a:sym typeface="Noto Sans"/>
            </a:endParaRPr>
          </a:p>
        </p:txBody>
      </p:sp>
      <p:sp>
        <p:nvSpPr>
          <p:cNvPr id="121" name="Google Shape;121;p4"/>
          <p:cNvSpPr/>
          <p:nvPr/>
        </p:nvSpPr>
        <p:spPr>
          <a:xfrm>
            <a:off x="731525" y="1388649"/>
            <a:ext cx="4983600" cy="4235100"/>
          </a:xfrm>
          <a:prstGeom prst="roundRect">
            <a:avLst>
              <a:gd fmla="val 1905"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2" name="Google Shape;122;p4"/>
          <p:cNvSpPr/>
          <p:nvPr/>
        </p:nvSpPr>
        <p:spPr>
          <a:xfrm>
            <a:off x="6309357" y="1388649"/>
            <a:ext cx="4983600" cy="4235100"/>
          </a:xfrm>
          <a:prstGeom prst="roundRect">
            <a:avLst>
              <a:gd fmla="val 1905" name="adj"/>
            </a:avLst>
          </a:prstGeom>
          <a:solidFill>
            <a:srgbClr val="F9FAFB"/>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23" name="Google Shape;123;p4"/>
          <p:cNvSpPr/>
          <p:nvPr/>
        </p:nvSpPr>
        <p:spPr>
          <a:xfrm>
            <a:off x="1005845" y="1670976"/>
            <a:ext cx="4434900" cy="28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1400"/>
              <a:buFont typeface="Noto Sans"/>
              <a:buNone/>
            </a:pPr>
            <a:r>
              <a:rPr b="1" i="0" lang="en-US" sz="1800" u="none" cap="none" strike="noStrike">
                <a:solidFill>
                  <a:srgbClr val="2F5D8C"/>
                </a:solidFill>
                <a:latin typeface="Noto Sans"/>
                <a:ea typeface="Noto Sans"/>
                <a:cs typeface="Noto Sans"/>
                <a:sym typeface="Noto Sans"/>
              </a:rPr>
              <a:t>이 연구에서 주장</a:t>
            </a:r>
            <a:r>
              <a:rPr b="1" lang="en-US" sz="1800">
                <a:solidFill>
                  <a:srgbClr val="2F5D8C"/>
                </a:solidFill>
                <a:latin typeface="Noto Sans"/>
                <a:ea typeface="Noto Sans"/>
                <a:cs typeface="Noto Sans"/>
                <a:sym typeface="Noto Sans"/>
              </a:rPr>
              <a:t>하는 </a:t>
            </a:r>
            <a:r>
              <a:rPr b="1" i="0" lang="en-US" sz="1800" u="none" cap="none" strike="noStrike">
                <a:solidFill>
                  <a:srgbClr val="2F5D8C"/>
                </a:solidFill>
                <a:latin typeface="Noto Sans"/>
                <a:ea typeface="Noto Sans"/>
                <a:cs typeface="Noto Sans"/>
                <a:sym typeface="Noto Sans"/>
              </a:rPr>
              <a:t>것</a:t>
            </a:r>
            <a:endParaRPr b="0" i="0" sz="1800" u="none" cap="none" strike="noStrike">
              <a:solidFill>
                <a:schemeClr val="dk1"/>
              </a:solidFill>
              <a:latin typeface="Noto Sans"/>
              <a:ea typeface="Noto Sans"/>
              <a:cs typeface="Noto Sans"/>
              <a:sym typeface="Noto Sans"/>
            </a:endParaRPr>
          </a:p>
        </p:txBody>
      </p:sp>
      <p:sp>
        <p:nvSpPr>
          <p:cNvPr id="124" name="Google Shape;124;p4"/>
          <p:cNvSpPr/>
          <p:nvPr/>
        </p:nvSpPr>
        <p:spPr>
          <a:xfrm>
            <a:off x="1078997" y="2225545"/>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공개자료 기반 data construction </a:t>
            </a:r>
            <a:r>
              <a:rPr b="1" i="0" lang="en-US" sz="1480" u="none" cap="none" strike="noStrike">
                <a:solidFill>
                  <a:srgbClr val="1D2939"/>
                </a:solidFill>
                <a:latin typeface="Noto Sans"/>
                <a:ea typeface="Noto Sans"/>
                <a:cs typeface="Noto Sans"/>
                <a:sym typeface="Noto Sans"/>
              </a:rPr>
              <a:t>workflow</a:t>
            </a:r>
            <a:r>
              <a:rPr b="0" i="0" lang="en-US" sz="1480" u="none" cap="none" strike="noStrike">
                <a:solidFill>
                  <a:srgbClr val="1D2939"/>
                </a:solidFill>
                <a:latin typeface="Noto Sans"/>
                <a:ea typeface="Noto Sans"/>
                <a:cs typeface="Noto Sans"/>
                <a:sym typeface="Noto Sans"/>
              </a:rPr>
              <a:t> 구현</a:t>
            </a:r>
            <a:endParaRPr b="0" i="0" sz="1480" u="none" cap="none" strike="noStrike">
              <a:solidFill>
                <a:schemeClr val="dk1"/>
              </a:solidFill>
              <a:latin typeface="Noto Sans"/>
              <a:ea typeface="Noto Sans"/>
              <a:cs typeface="Noto Sans"/>
              <a:sym typeface="Noto Sans"/>
            </a:endParaRPr>
          </a:p>
        </p:txBody>
      </p:sp>
      <p:sp>
        <p:nvSpPr>
          <p:cNvPr id="125" name="Google Shape;125;p4"/>
          <p:cNvSpPr/>
          <p:nvPr/>
        </p:nvSpPr>
        <p:spPr>
          <a:xfrm>
            <a:off x="1078997" y="2759948"/>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synthetic v1 positive proxy 생성과 검증</a:t>
            </a:r>
            <a:endParaRPr b="0" i="0" sz="1480" u="none" cap="none" strike="noStrike">
              <a:solidFill>
                <a:schemeClr val="dk1"/>
              </a:solidFill>
              <a:latin typeface="Noto Sans"/>
              <a:ea typeface="Noto Sans"/>
              <a:cs typeface="Noto Sans"/>
              <a:sym typeface="Noto Sans"/>
            </a:endParaRPr>
          </a:p>
        </p:txBody>
      </p:sp>
      <p:sp>
        <p:nvSpPr>
          <p:cNvPr id="126" name="Google Shape;126;p4"/>
          <p:cNvSpPr/>
          <p:nvPr/>
        </p:nvSpPr>
        <p:spPr>
          <a:xfrm>
            <a:off x="1078997" y="3294351"/>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detector → temporal verifier → event evidence </a:t>
            </a:r>
            <a:r>
              <a:rPr b="1" i="0" lang="en-US" sz="1480" u="none" cap="none" strike="noStrike">
                <a:solidFill>
                  <a:srgbClr val="1D2939"/>
                </a:solidFill>
                <a:latin typeface="Noto Sans"/>
                <a:ea typeface="Noto Sans"/>
                <a:cs typeface="Noto Sans"/>
                <a:sym typeface="Noto Sans"/>
              </a:rPr>
              <a:t>pipeline 구현</a:t>
            </a:r>
            <a:endParaRPr b="1" i="0" sz="1480" u="none" cap="none" strike="noStrike">
              <a:solidFill>
                <a:schemeClr val="dk1"/>
              </a:solidFill>
              <a:latin typeface="Noto Sans"/>
              <a:ea typeface="Noto Sans"/>
              <a:cs typeface="Noto Sans"/>
              <a:sym typeface="Noto Sans"/>
            </a:endParaRPr>
          </a:p>
        </p:txBody>
      </p:sp>
      <p:sp>
        <p:nvSpPr>
          <p:cNvPr id="127" name="Google Shape;127;p4"/>
          <p:cNvSpPr/>
          <p:nvPr/>
        </p:nvSpPr>
        <p:spPr>
          <a:xfrm>
            <a:off x="1078997" y="3828754"/>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hard-negative confuser에서의 failure mode 관찰</a:t>
            </a:r>
            <a:endParaRPr b="0" i="0" sz="1480" u="none" cap="none" strike="noStrike">
              <a:solidFill>
                <a:schemeClr val="dk1"/>
              </a:solidFill>
              <a:latin typeface="Noto Sans"/>
              <a:ea typeface="Noto Sans"/>
              <a:cs typeface="Noto Sans"/>
              <a:sym typeface="Noto Sans"/>
            </a:endParaRPr>
          </a:p>
        </p:txBody>
      </p:sp>
      <p:sp>
        <p:nvSpPr>
          <p:cNvPr id="128" name="Google Shape;128;p4"/>
          <p:cNvSpPr/>
          <p:nvPr/>
        </p:nvSpPr>
        <p:spPr>
          <a:xfrm>
            <a:off x="1078997" y="4363157"/>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후속 calibration-aware 연구 필요성 식별</a:t>
            </a:r>
            <a:endParaRPr b="0" i="0" sz="1480" u="none" cap="none" strike="noStrike">
              <a:solidFill>
                <a:schemeClr val="dk1"/>
              </a:solidFill>
              <a:latin typeface="Noto Sans"/>
              <a:ea typeface="Noto Sans"/>
              <a:cs typeface="Noto Sans"/>
              <a:sym typeface="Noto Sans"/>
            </a:endParaRPr>
          </a:p>
        </p:txBody>
      </p:sp>
      <p:sp>
        <p:nvSpPr>
          <p:cNvPr id="129" name="Google Shape;129;p4"/>
          <p:cNvSpPr/>
          <p:nvPr/>
        </p:nvSpPr>
        <p:spPr>
          <a:xfrm>
            <a:off x="6583677" y="1670976"/>
            <a:ext cx="4434900" cy="28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7918"/>
              </a:buClr>
              <a:buSzPts val="1400"/>
              <a:buFont typeface="Noto Sans"/>
              <a:buNone/>
            </a:pPr>
            <a:r>
              <a:rPr b="1" i="0" lang="en-US" sz="1800" u="none" cap="none" strike="noStrike">
                <a:solidFill>
                  <a:srgbClr val="A77918"/>
                </a:solidFill>
                <a:latin typeface="Noto Sans"/>
                <a:ea typeface="Noto Sans"/>
                <a:cs typeface="Noto Sans"/>
                <a:sym typeface="Noto Sans"/>
              </a:rPr>
              <a:t>이 연구에서 주장하지 않는 것</a:t>
            </a:r>
            <a:endParaRPr b="0" i="0" sz="1800" u="none" cap="none" strike="noStrike">
              <a:solidFill>
                <a:schemeClr val="dk1"/>
              </a:solidFill>
              <a:latin typeface="Noto Sans"/>
              <a:ea typeface="Noto Sans"/>
              <a:cs typeface="Noto Sans"/>
              <a:sym typeface="Noto Sans"/>
            </a:endParaRPr>
          </a:p>
        </p:txBody>
      </p:sp>
      <p:sp>
        <p:nvSpPr>
          <p:cNvPr id="130" name="Google Shape;130;p4"/>
          <p:cNvSpPr/>
          <p:nvPr/>
        </p:nvSpPr>
        <p:spPr>
          <a:xfrm>
            <a:off x="6656829" y="2225545"/>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실제 함정 운용환경 성능 입증</a:t>
            </a:r>
            <a:endParaRPr b="0" i="0" sz="1480" u="none" cap="none" strike="noStrike">
              <a:solidFill>
                <a:schemeClr val="dk1"/>
              </a:solidFill>
              <a:latin typeface="Noto Sans"/>
              <a:ea typeface="Noto Sans"/>
              <a:cs typeface="Noto Sans"/>
              <a:sym typeface="Noto Sans"/>
            </a:endParaRPr>
          </a:p>
        </p:txBody>
      </p:sp>
      <p:sp>
        <p:nvSpPr>
          <p:cNvPr id="131" name="Google Shape;131;p4"/>
          <p:cNvSpPr/>
          <p:nvPr/>
        </p:nvSpPr>
        <p:spPr>
          <a:xfrm>
            <a:off x="6656829" y="2759948"/>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배치 가능성 또는 운용 적합성 검증</a:t>
            </a:r>
            <a:endParaRPr b="0" i="0" sz="1480" u="none" cap="none" strike="noStrike">
              <a:solidFill>
                <a:schemeClr val="dk1"/>
              </a:solidFill>
              <a:latin typeface="Noto Sans"/>
              <a:ea typeface="Noto Sans"/>
              <a:cs typeface="Noto Sans"/>
              <a:sym typeface="Noto Sans"/>
            </a:endParaRPr>
          </a:p>
        </p:txBody>
      </p:sp>
      <p:sp>
        <p:nvSpPr>
          <p:cNvPr id="132" name="Google Shape;132;p4"/>
          <p:cNvSpPr/>
          <p:nvPr/>
        </p:nvSpPr>
        <p:spPr>
          <a:xfrm>
            <a:off x="6656829" y="3294351"/>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일반화 성능 또는 인증 수준 신뢰성</a:t>
            </a:r>
            <a:endParaRPr b="0" i="0" sz="1480" u="none" cap="none" strike="noStrike">
              <a:solidFill>
                <a:schemeClr val="dk1"/>
              </a:solidFill>
              <a:latin typeface="Noto Sans"/>
              <a:ea typeface="Noto Sans"/>
              <a:cs typeface="Noto Sans"/>
              <a:sym typeface="Noto Sans"/>
            </a:endParaRPr>
          </a:p>
        </p:txBody>
      </p:sp>
      <p:sp>
        <p:nvSpPr>
          <p:cNvPr id="133" name="Google Shape;133;p4"/>
          <p:cNvSpPr/>
          <p:nvPr/>
        </p:nvSpPr>
        <p:spPr>
          <a:xfrm>
            <a:off x="6656829" y="3828754"/>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synthetic v1을 실제 함정 화재 positive label로 간주</a:t>
            </a:r>
            <a:endParaRPr b="0" i="0" sz="1480" u="none" cap="none" strike="noStrike">
              <a:solidFill>
                <a:schemeClr val="dk1"/>
              </a:solidFill>
              <a:latin typeface="Noto Sans"/>
              <a:ea typeface="Noto Sans"/>
              <a:cs typeface="Noto Sans"/>
              <a:sym typeface="Noto Sans"/>
            </a:endParaRPr>
          </a:p>
        </p:txBody>
      </p:sp>
      <p:sp>
        <p:nvSpPr>
          <p:cNvPr id="134" name="Google Shape;134;p4"/>
          <p:cNvSpPr/>
          <p:nvPr/>
        </p:nvSpPr>
        <p:spPr>
          <a:xfrm>
            <a:off x="6656829" y="4363157"/>
            <a:ext cx="4389000" cy="242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D2939"/>
              </a:buClr>
              <a:buSzPts val="1080"/>
              <a:buFont typeface="Noto Sans"/>
              <a:buNone/>
            </a:pPr>
            <a:r>
              <a:rPr b="0" i="0" lang="en-US" sz="1480" u="none" cap="none" strike="noStrike">
                <a:solidFill>
                  <a:srgbClr val="1D2939"/>
                </a:solidFill>
                <a:latin typeface="Noto Sans"/>
                <a:ea typeface="Noto Sans"/>
                <a:cs typeface="Noto Sans"/>
                <a:sym typeface="Noto Sans"/>
              </a:rPr>
              <a:t>• fast detector의 localization benchmark 성능</a:t>
            </a:r>
            <a:endParaRPr b="0" i="0" sz="1480" u="none" cap="none" strike="noStrike">
              <a:solidFill>
                <a:schemeClr val="dk1"/>
              </a:solidFill>
              <a:latin typeface="Noto Sans"/>
              <a:ea typeface="Noto Sans"/>
              <a:cs typeface="Noto Sans"/>
              <a:sym typeface="No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9" name="Shape 139"/>
        <p:cNvGrpSpPr/>
        <p:nvPr/>
      </p:nvGrpSpPr>
      <p:grpSpPr>
        <a:xfrm>
          <a:off x="0" y="0"/>
          <a:ext cx="0" cy="0"/>
          <a:chOff x="0" y="0"/>
          <a:chExt cx="0" cy="0"/>
        </a:xfrm>
      </p:grpSpPr>
      <p:sp>
        <p:nvSpPr>
          <p:cNvPr id="140" name="Google Shape;140;p5"/>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03 / Data scaffold</a:t>
            </a:r>
            <a:endParaRPr b="0" i="0" sz="850" u="none" cap="none" strike="noStrike">
              <a:solidFill>
                <a:schemeClr val="dk1"/>
              </a:solidFill>
              <a:latin typeface="Noto Sans"/>
              <a:ea typeface="Noto Sans"/>
              <a:cs typeface="Noto Sans"/>
              <a:sym typeface="Noto Sans"/>
            </a:endParaRPr>
          </a:p>
        </p:txBody>
      </p:sp>
      <p:sp>
        <p:nvSpPr>
          <p:cNvPr id="141" name="Google Shape;141;p5"/>
          <p:cNvSpPr/>
          <p:nvPr/>
        </p:nvSpPr>
        <p:spPr>
          <a:xfrm>
            <a:off x="512064" y="475488"/>
            <a:ext cx="9875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Three-layer public-data strategy</a:t>
            </a:r>
            <a:endParaRPr b="0" i="0" sz="2450" u="none" cap="none" strike="noStrike">
              <a:solidFill>
                <a:schemeClr val="dk1"/>
              </a:solidFill>
              <a:latin typeface="Noto Sans"/>
              <a:ea typeface="Noto Sans"/>
              <a:cs typeface="Noto Sans"/>
              <a:sym typeface="Noto Sans"/>
            </a:endParaRPr>
          </a:p>
        </p:txBody>
      </p:sp>
      <p:sp>
        <p:nvSpPr>
          <p:cNvPr id="142" name="Google Shape;142;p5"/>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05</a:t>
            </a:r>
            <a:endParaRPr b="0" i="0" sz="800" u="none" cap="none" strike="noStrike">
              <a:solidFill>
                <a:schemeClr val="dk1"/>
              </a:solidFill>
              <a:latin typeface="Noto Sans"/>
              <a:ea typeface="Noto Sans"/>
              <a:cs typeface="Noto Sans"/>
              <a:sym typeface="Noto Sans"/>
            </a:endParaRPr>
          </a:p>
        </p:txBody>
      </p:sp>
      <p:cxnSp>
        <p:nvCxnSpPr>
          <p:cNvPr id="143" name="Google Shape;143;p5"/>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144" name="Google Shape;144;p5"/>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145" name="Google Shape;145;p5"/>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146" name="Google Shape;146;p5"/>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5</a:t>
            </a:r>
            <a:endParaRPr b="0" i="0" sz="720" u="none" cap="none" strike="noStrike">
              <a:solidFill>
                <a:schemeClr val="dk1"/>
              </a:solidFill>
              <a:latin typeface="Noto Sans"/>
              <a:ea typeface="Noto Sans"/>
              <a:cs typeface="Noto Sans"/>
              <a:sym typeface="Noto Sans"/>
            </a:endParaRPr>
          </a:p>
        </p:txBody>
      </p:sp>
      <p:sp>
        <p:nvSpPr>
          <p:cNvPr id="147" name="Google Shape;147;p5"/>
          <p:cNvSpPr/>
          <p:nvPr/>
        </p:nvSpPr>
        <p:spPr>
          <a:xfrm>
            <a:off x="512064" y="1078992"/>
            <a:ext cx="1069848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600"/>
              <a:buFont typeface="Noto Sans"/>
              <a:buNone/>
            </a:pPr>
            <a:r>
              <a:rPr i="0" lang="en-US" sz="1600" u="none" cap="none" strike="noStrike">
                <a:solidFill>
                  <a:srgbClr val="0B1F33"/>
                </a:solidFill>
                <a:latin typeface="Noto Sans"/>
                <a:ea typeface="Noto Sans"/>
                <a:cs typeface="Noto Sans"/>
                <a:sym typeface="Noto Sans"/>
              </a:rPr>
              <a:t>공개자료</a:t>
            </a:r>
            <a:r>
              <a:rPr lang="en-US" sz="1600">
                <a:solidFill>
                  <a:srgbClr val="0B1F33"/>
                </a:solidFill>
                <a:latin typeface="Noto Sans"/>
                <a:ea typeface="Noto Sans"/>
                <a:cs typeface="Noto Sans"/>
                <a:sym typeface="Noto Sans"/>
              </a:rPr>
              <a:t> 데이터로</a:t>
            </a:r>
            <a:r>
              <a:rPr i="0" lang="en-US" sz="1600" u="none" cap="none" strike="noStrike">
                <a:solidFill>
                  <a:srgbClr val="0B1F33"/>
                </a:solidFill>
                <a:latin typeface="Noto Sans"/>
                <a:ea typeface="Noto Sans"/>
                <a:cs typeface="Noto Sans"/>
                <a:sym typeface="Noto Sans"/>
              </a:rPr>
              <a:t> positive · background · confuser를 분리해 prototype 검증용 데이터 구조 </a:t>
            </a:r>
            <a:r>
              <a:rPr lang="en-US" sz="1600">
                <a:solidFill>
                  <a:srgbClr val="0B1F33"/>
                </a:solidFill>
                <a:latin typeface="Noto Sans"/>
                <a:ea typeface="Noto Sans"/>
                <a:cs typeface="Noto Sans"/>
                <a:sym typeface="Noto Sans"/>
              </a:rPr>
              <a:t>제작</a:t>
            </a:r>
            <a:endParaRPr i="0" sz="1600" u="none" cap="none" strike="noStrike">
              <a:solidFill>
                <a:schemeClr val="dk1"/>
              </a:solidFill>
              <a:latin typeface="Noto Sans"/>
              <a:ea typeface="Noto Sans"/>
              <a:cs typeface="Noto Sans"/>
              <a:sym typeface="Noto Sans"/>
            </a:endParaRPr>
          </a:p>
        </p:txBody>
      </p:sp>
      <p:cxnSp>
        <p:nvCxnSpPr>
          <p:cNvPr id="148" name="Google Shape;148;p5"/>
          <p:cNvCxnSpPr/>
          <p:nvPr/>
        </p:nvCxnSpPr>
        <p:spPr>
          <a:xfrm>
            <a:off x="2423160" y="2907792"/>
            <a:ext cx="1645920" cy="0"/>
          </a:xfrm>
          <a:prstGeom prst="straightConnector1">
            <a:avLst/>
          </a:prstGeom>
          <a:noFill/>
          <a:ln cap="flat" cmpd="sng" w="15225">
            <a:solidFill>
              <a:srgbClr val="496E94"/>
            </a:solidFill>
            <a:prstDash val="solid"/>
            <a:round/>
            <a:headEnd len="sm" w="sm" type="none"/>
            <a:tailEnd len="med" w="med" type="triangle"/>
          </a:ln>
        </p:spPr>
      </p:cxnSp>
      <p:cxnSp>
        <p:nvCxnSpPr>
          <p:cNvPr id="149" name="Google Shape;149;p5"/>
          <p:cNvCxnSpPr/>
          <p:nvPr/>
        </p:nvCxnSpPr>
        <p:spPr>
          <a:xfrm>
            <a:off x="5577840" y="2907792"/>
            <a:ext cx="1645920" cy="0"/>
          </a:xfrm>
          <a:prstGeom prst="straightConnector1">
            <a:avLst/>
          </a:prstGeom>
          <a:noFill/>
          <a:ln cap="flat" cmpd="sng" w="15225">
            <a:solidFill>
              <a:srgbClr val="496E94"/>
            </a:solidFill>
            <a:prstDash val="solid"/>
            <a:round/>
            <a:headEnd len="sm" w="sm" type="none"/>
            <a:tailEnd len="med" w="med" type="triangle"/>
          </a:ln>
        </p:spPr>
      </p:cxnSp>
      <p:cxnSp>
        <p:nvCxnSpPr>
          <p:cNvPr id="150" name="Google Shape;150;p5"/>
          <p:cNvCxnSpPr/>
          <p:nvPr/>
        </p:nvCxnSpPr>
        <p:spPr>
          <a:xfrm>
            <a:off x="8732520" y="2907792"/>
            <a:ext cx="1600200" cy="0"/>
          </a:xfrm>
          <a:prstGeom prst="straightConnector1">
            <a:avLst/>
          </a:prstGeom>
          <a:noFill/>
          <a:ln cap="flat" cmpd="sng" w="15225">
            <a:solidFill>
              <a:srgbClr val="496E94"/>
            </a:solidFill>
            <a:prstDash val="solid"/>
            <a:round/>
            <a:headEnd len="sm" w="sm" type="none"/>
            <a:tailEnd len="med" w="med" type="triangle"/>
          </a:ln>
        </p:spPr>
      </p:cxnSp>
      <p:sp>
        <p:nvSpPr>
          <p:cNvPr id="151" name="Google Shape;151;p5"/>
          <p:cNvSpPr/>
          <p:nvPr/>
        </p:nvSpPr>
        <p:spPr>
          <a:xfrm>
            <a:off x="658368" y="1874520"/>
            <a:ext cx="2011680" cy="2057400"/>
          </a:xfrm>
          <a:prstGeom prst="roundRect">
            <a:avLst>
              <a:gd fmla="val 3636"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234696" y="2060448"/>
            <a:ext cx="329100" cy="329100"/>
          </a:xfrm>
          <a:prstGeom prst="ellipse">
            <a:avLst/>
          </a:prstGeom>
          <a:solidFill>
            <a:srgbClr val="2F5D8C"/>
          </a:solidFill>
          <a:ln cap="flat" cmpd="sng" w="9525">
            <a:solidFill>
              <a:srgbClr val="2F5D8C"/>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en-US" u="none" cap="none" strike="noStrike">
                <a:solidFill>
                  <a:srgbClr val="FFFFFF"/>
                </a:solidFill>
                <a:latin typeface="Noto Sans"/>
                <a:ea typeface="Noto Sans"/>
                <a:cs typeface="Noto Sans"/>
                <a:sym typeface="Noto Sans"/>
              </a:rPr>
              <a:t>1</a:t>
            </a:r>
            <a:endParaRPr b="0" i="0" u="none" cap="none" strike="noStrike">
              <a:solidFill>
                <a:schemeClr val="dk1"/>
              </a:solidFill>
              <a:latin typeface="Noto Sans"/>
              <a:ea typeface="Noto Sans"/>
              <a:cs typeface="Noto Sans"/>
              <a:sym typeface="Noto Sans"/>
            </a:endParaRPr>
          </a:p>
        </p:txBody>
      </p:sp>
      <p:sp>
        <p:nvSpPr>
          <p:cNvPr id="153" name="Google Shape;153;p5"/>
          <p:cNvSpPr/>
          <p:nvPr/>
        </p:nvSpPr>
        <p:spPr>
          <a:xfrm>
            <a:off x="731527" y="2136650"/>
            <a:ext cx="18744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120"/>
              <a:buFont typeface="Noto Sans"/>
              <a:buNone/>
            </a:pPr>
            <a:r>
              <a:rPr b="1" i="0" lang="en-US" sz="1620" u="none" cap="none" strike="noStrike">
                <a:solidFill>
                  <a:srgbClr val="0B1F33"/>
                </a:solidFill>
                <a:latin typeface="Noto Sans"/>
                <a:ea typeface="Noto Sans"/>
                <a:cs typeface="Noto Sans"/>
                <a:sym typeface="Noto Sans"/>
              </a:rPr>
              <a:t>Fire/smoke donor crop bank</a:t>
            </a:r>
            <a:endParaRPr b="0" i="0" sz="1620" u="none" cap="none" strike="noStrike">
              <a:solidFill>
                <a:schemeClr val="dk1"/>
              </a:solidFill>
              <a:latin typeface="Noto Sans"/>
              <a:ea typeface="Noto Sans"/>
              <a:cs typeface="Noto Sans"/>
              <a:sym typeface="Noto Sans"/>
            </a:endParaRPr>
          </a:p>
        </p:txBody>
      </p:sp>
      <p:sp>
        <p:nvSpPr>
          <p:cNvPr id="154" name="Google Shape;154;p5"/>
          <p:cNvSpPr/>
          <p:nvPr/>
        </p:nvSpPr>
        <p:spPr>
          <a:xfrm>
            <a:off x="731525" y="2547800"/>
            <a:ext cx="1874400" cy="1247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D-Fire 1,000 + CQU FireSmokeYOLO 1,000</a:t>
            </a:r>
            <a:endParaRPr b="0" i="0" sz="12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총 2,000 crops · fire 1,071 / smoke 929</a:t>
            </a:r>
            <a:endParaRPr b="0" i="0" sz="1200" u="none" cap="none" strike="noStrike">
              <a:solidFill>
                <a:schemeClr val="dk1"/>
              </a:solidFill>
              <a:latin typeface="Noto Sans"/>
              <a:ea typeface="Noto Sans"/>
              <a:cs typeface="Noto Sans"/>
              <a:sym typeface="Noto Sans"/>
            </a:endParaRPr>
          </a:p>
        </p:txBody>
      </p:sp>
      <p:sp>
        <p:nvSpPr>
          <p:cNvPr id="155" name="Google Shape;155;p5"/>
          <p:cNvSpPr/>
          <p:nvPr/>
        </p:nvSpPr>
        <p:spPr>
          <a:xfrm>
            <a:off x="3767328" y="1874520"/>
            <a:ext cx="2331720" cy="2057400"/>
          </a:xfrm>
          <a:prstGeom prst="roundRect">
            <a:avLst>
              <a:gd fmla="val 3556"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3343656" y="2060448"/>
            <a:ext cx="329100" cy="329100"/>
          </a:xfrm>
          <a:prstGeom prst="ellipse">
            <a:avLst/>
          </a:prstGeom>
          <a:solidFill>
            <a:srgbClr val="2F5D8C"/>
          </a:solidFill>
          <a:ln cap="flat" cmpd="sng" w="9525">
            <a:solidFill>
              <a:srgbClr val="2F5D8C"/>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en-US" u="none" cap="none" strike="noStrike">
                <a:solidFill>
                  <a:srgbClr val="FFFFFF"/>
                </a:solidFill>
                <a:latin typeface="Noto Sans"/>
                <a:ea typeface="Noto Sans"/>
                <a:cs typeface="Noto Sans"/>
                <a:sym typeface="Noto Sans"/>
              </a:rPr>
              <a:t>2</a:t>
            </a:r>
            <a:endParaRPr b="0" i="0" u="none" cap="none" strike="noStrike">
              <a:solidFill>
                <a:schemeClr val="dk1"/>
              </a:solidFill>
              <a:latin typeface="Noto Sans"/>
              <a:ea typeface="Noto Sans"/>
              <a:cs typeface="Noto Sans"/>
              <a:sym typeface="Noto Sans"/>
            </a:endParaRPr>
          </a:p>
        </p:txBody>
      </p:sp>
      <p:sp>
        <p:nvSpPr>
          <p:cNvPr id="157" name="Google Shape;157;p5"/>
          <p:cNvSpPr/>
          <p:nvPr/>
        </p:nvSpPr>
        <p:spPr>
          <a:xfrm>
            <a:off x="3840474" y="2136650"/>
            <a:ext cx="21840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120"/>
              <a:buFont typeface="Noto Sans"/>
              <a:buNone/>
            </a:pPr>
            <a:r>
              <a:rPr b="1" i="0" lang="en-US" sz="1620" u="none" cap="none" strike="noStrike">
                <a:solidFill>
                  <a:srgbClr val="0B1F33"/>
                </a:solidFill>
                <a:latin typeface="Noto Sans"/>
                <a:ea typeface="Noto Sans"/>
                <a:cs typeface="Noto Sans"/>
                <a:sym typeface="Noto Sans"/>
              </a:rPr>
              <a:t>Ship-like background / confuser bank</a:t>
            </a:r>
            <a:endParaRPr b="0" i="0" sz="1620" u="none" cap="none" strike="noStrike">
              <a:solidFill>
                <a:schemeClr val="dk1"/>
              </a:solidFill>
              <a:latin typeface="Noto Sans"/>
              <a:ea typeface="Noto Sans"/>
              <a:cs typeface="Noto Sans"/>
              <a:sym typeface="Noto Sans"/>
            </a:endParaRPr>
          </a:p>
        </p:txBody>
      </p:sp>
      <p:sp>
        <p:nvSpPr>
          <p:cNvPr id="158" name="Google Shape;158;p5"/>
          <p:cNvSpPr/>
          <p:nvPr/>
        </p:nvSpPr>
        <p:spPr>
          <a:xfrm>
            <a:off x="3840469" y="2547800"/>
            <a:ext cx="2184000" cy="1247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DVIDS/NOAA keyframe 후보 792장 - </a:t>
            </a:r>
            <a:r>
              <a:rPr lang="en-US" sz="1200">
                <a:solidFill>
                  <a:srgbClr val="344054"/>
                </a:solidFill>
                <a:latin typeface="Noto Sans"/>
                <a:ea typeface="Noto Sans"/>
                <a:cs typeface="Noto Sans"/>
                <a:sym typeface="Noto Sans"/>
              </a:rPr>
              <a:t>수동 태깅</a:t>
            </a:r>
            <a:endParaRPr b="0" i="0" sz="12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usable non-fire ship-like frame 259장 - </a:t>
            </a:r>
            <a:r>
              <a:rPr lang="en-US" sz="1200">
                <a:solidFill>
                  <a:srgbClr val="344054"/>
                </a:solidFill>
                <a:latin typeface="Noto Sans"/>
                <a:ea typeface="Noto Sans"/>
                <a:cs typeface="Noto Sans"/>
                <a:sym typeface="Noto Sans"/>
              </a:rPr>
              <a:t>수동 태깅</a:t>
            </a:r>
            <a:endParaRPr b="0" i="0" sz="1200" u="none" cap="none" strike="noStrike">
              <a:solidFill>
                <a:schemeClr val="dk1"/>
              </a:solidFill>
              <a:latin typeface="Noto Sans"/>
              <a:ea typeface="Noto Sans"/>
              <a:cs typeface="Noto Sans"/>
              <a:sym typeface="Noto Sans"/>
            </a:endParaRPr>
          </a:p>
        </p:txBody>
      </p:sp>
      <p:sp>
        <p:nvSpPr>
          <p:cNvPr id="159" name="Google Shape;159;p5"/>
          <p:cNvSpPr/>
          <p:nvPr/>
        </p:nvSpPr>
        <p:spPr>
          <a:xfrm>
            <a:off x="6949440" y="1874520"/>
            <a:ext cx="2331720" cy="2057400"/>
          </a:xfrm>
          <a:prstGeom prst="roundRect">
            <a:avLst>
              <a:gd fmla="val 3556"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6525768" y="2060448"/>
            <a:ext cx="329100" cy="329100"/>
          </a:xfrm>
          <a:prstGeom prst="ellipse">
            <a:avLst/>
          </a:prstGeom>
          <a:solidFill>
            <a:srgbClr val="2F5D8C"/>
          </a:solidFill>
          <a:ln cap="flat" cmpd="sng" w="9525">
            <a:solidFill>
              <a:srgbClr val="2F5D8C"/>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en-US" u="none" cap="none" strike="noStrike">
                <a:solidFill>
                  <a:srgbClr val="FFFFFF"/>
                </a:solidFill>
                <a:latin typeface="Noto Sans"/>
                <a:ea typeface="Noto Sans"/>
                <a:cs typeface="Noto Sans"/>
                <a:sym typeface="Noto Sans"/>
              </a:rPr>
              <a:t>3</a:t>
            </a:r>
            <a:endParaRPr b="0" i="0" u="none" cap="none" strike="noStrike">
              <a:solidFill>
                <a:schemeClr val="dk1"/>
              </a:solidFill>
              <a:latin typeface="Noto Sans"/>
              <a:ea typeface="Noto Sans"/>
              <a:cs typeface="Noto Sans"/>
              <a:sym typeface="Noto Sans"/>
            </a:endParaRPr>
          </a:p>
        </p:txBody>
      </p:sp>
      <p:sp>
        <p:nvSpPr>
          <p:cNvPr id="161" name="Google Shape;161;p5"/>
          <p:cNvSpPr/>
          <p:nvPr/>
        </p:nvSpPr>
        <p:spPr>
          <a:xfrm>
            <a:off x="7022602" y="2136650"/>
            <a:ext cx="21840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120"/>
              <a:buFont typeface="Noto Sans"/>
              <a:buNone/>
            </a:pPr>
            <a:r>
              <a:rPr b="1" i="0" lang="en-US" sz="1620" u="none" cap="none" strike="noStrike">
                <a:solidFill>
                  <a:srgbClr val="0B1F33"/>
                </a:solidFill>
                <a:latin typeface="Noto Sans"/>
                <a:ea typeface="Noto Sans"/>
                <a:cs typeface="Noto Sans"/>
                <a:sym typeface="Noto Sans"/>
              </a:rPr>
              <a:t>Synthetic v1 positive proxy</a:t>
            </a:r>
            <a:endParaRPr b="0" i="0" sz="1620" u="none" cap="none" strike="noStrike">
              <a:solidFill>
                <a:schemeClr val="dk1"/>
              </a:solidFill>
              <a:latin typeface="Noto Sans"/>
              <a:ea typeface="Noto Sans"/>
              <a:cs typeface="Noto Sans"/>
              <a:sym typeface="Noto Sans"/>
            </a:endParaRPr>
          </a:p>
        </p:txBody>
      </p:sp>
      <p:sp>
        <p:nvSpPr>
          <p:cNvPr id="162" name="Google Shape;162;p5"/>
          <p:cNvSpPr/>
          <p:nvPr/>
        </p:nvSpPr>
        <p:spPr>
          <a:xfrm>
            <a:off x="7022595" y="2547800"/>
            <a:ext cx="2184000" cy="1247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non-human engine-room background + donor crop overlay</a:t>
            </a:r>
            <a:endParaRPr b="0" i="0" sz="12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총 170장 · fire 85 / smoke 85</a:t>
            </a:r>
            <a:endParaRPr b="0" i="0" sz="1200" u="none" cap="none" strike="noStrike">
              <a:solidFill>
                <a:schemeClr val="dk1"/>
              </a:solidFill>
              <a:latin typeface="Noto Sans"/>
              <a:ea typeface="Noto Sans"/>
              <a:cs typeface="Noto Sans"/>
              <a:sym typeface="Noto Sans"/>
            </a:endParaRPr>
          </a:p>
        </p:txBody>
      </p:sp>
      <p:sp>
        <p:nvSpPr>
          <p:cNvPr id="163" name="Google Shape;163;p5"/>
          <p:cNvSpPr/>
          <p:nvPr/>
        </p:nvSpPr>
        <p:spPr>
          <a:xfrm>
            <a:off x="9948675" y="1874525"/>
            <a:ext cx="1834800" cy="2057400"/>
          </a:xfrm>
          <a:prstGeom prst="roundRect">
            <a:avLst>
              <a:gd fmla="val 4706"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9525000" y="2060448"/>
            <a:ext cx="329100" cy="329100"/>
          </a:xfrm>
          <a:prstGeom prst="ellipse">
            <a:avLst/>
          </a:prstGeom>
          <a:solidFill>
            <a:srgbClr val="2F5D8C"/>
          </a:solidFill>
          <a:ln cap="flat" cmpd="sng" w="9525">
            <a:solidFill>
              <a:srgbClr val="2F5D8C"/>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Noto Sans"/>
              <a:buNone/>
            </a:pPr>
            <a:r>
              <a:rPr b="1" i="0" lang="en-US" u="none" cap="none" strike="noStrike">
                <a:solidFill>
                  <a:srgbClr val="FFFFFF"/>
                </a:solidFill>
                <a:latin typeface="Noto Sans"/>
                <a:ea typeface="Noto Sans"/>
                <a:cs typeface="Noto Sans"/>
                <a:sym typeface="Noto Sans"/>
              </a:rPr>
              <a:t>4</a:t>
            </a:r>
            <a:endParaRPr b="0" i="0" u="none" cap="none" strike="noStrike">
              <a:solidFill>
                <a:schemeClr val="dk1"/>
              </a:solidFill>
              <a:latin typeface="Noto Sans"/>
              <a:ea typeface="Noto Sans"/>
              <a:cs typeface="Noto Sans"/>
              <a:sym typeface="Noto Sans"/>
            </a:endParaRPr>
          </a:p>
        </p:txBody>
      </p:sp>
      <p:sp>
        <p:nvSpPr>
          <p:cNvPr id="165" name="Google Shape;165;p5"/>
          <p:cNvSpPr/>
          <p:nvPr/>
        </p:nvSpPr>
        <p:spPr>
          <a:xfrm>
            <a:off x="10035018" y="2136655"/>
            <a:ext cx="16761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120"/>
              <a:buFont typeface="Noto Sans"/>
              <a:buNone/>
            </a:pPr>
            <a:r>
              <a:rPr b="1" i="0" lang="en-US" sz="1620" u="none" cap="none" strike="noStrike">
                <a:solidFill>
                  <a:srgbClr val="0B1F33"/>
                </a:solidFill>
                <a:latin typeface="Noto Sans"/>
                <a:ea typeface="Noto Sans"/>
                <a:cs typeface="Noto Sans"/>
                <a:sym typeface="Noto Sans"/>
              </a:rPr>
              <a:t>Prototype validation flow</a:t>
            </a:r>
            <a:endParaRPr b="0" i="0" sz="1620" u="none" cap="none" strike="noStrike">
              <a:solidFill>
                <a:schemeClr val="dk1"/>
              </a:solidFill>
              <a:latin typeface="Noto Sans"/>
              <a:ea typeface="Noto Sans"/>
              <a:cs typeface="Noto Sans"/>
              <a:sym typeface="Noto Sans"/>
            </a:endParaRPr>
          </a:p>
        </p:txBody>
      </p:sp>
      <p:sp>
        <p:nvSpPr>
          <p:cNvPr id="166" name="Google Shape;166;p5"/>
          <p:cNvSpPr/>
          <p:nvPr/>
        </p:nvSpPr>
        <p:spPr>
          <a:xfrm>
            <a:off x="10035009" y="2547805"/>
            <a:ext cx="1676100" cy="1247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4 MP4 streams · detector · temporal verifier</a:t>
            </a:r>
            <a:endParaRPr b="0" i="0" sz="12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344054"/>
              </a:buClr>
              <a:buSzPts val="860"/>
              <a:buFont typeface="Noto Sans"/>
              <a:buNone/>
            </a:pPr>
            <a:r>
              <a:rPr b="0" i="0" lang="en-US" sz="1200" u="none" cap="none" strike="noStrike">
                <a:solidFill>
                  <a:srgbClr val="344054"/>
                </a:solidFill>
                <a:latin typeface="Noto Sans"/>
                <a:ea typeface="Noto Sans"/>
                <a:cs typeface="Noto Sans"/>
                <a:sym typeface="Noto Sans"/>
              </a:rPr>
              <a:t>suspect/alarm event + snapshot/log evidence</a:t>
            </a:r>
            <a:endParaRPr b="0" i="0" sz="1200" u="none" cap="none" strike="noStrike">
              <a:solidFill>
                <a:schemeClr val="dk1"/>
              </a:solidFill>
              <a:latin typeface="Noto Sans"/>
              <a:ea typeface="Noto Sans"/>
              <a:cs typeface="Noto Sans"/>
              <a:sym typeface="Noto Sans"/>
            </a:endParaRPr>
          </a:p>
        </p:txBody>
      </p:sp>
      <p:sp>
        <p:nvSpPr>
          <p:cNvPr id="167" name="Google Shape;167;p5"/>
          <p:cNvSpPr/>
          <p:nvPr/>
        </p:nvSpPr>
        <p:spPr>
          <a:xfrm>
            <a:off x="746588" y="4617725"/>
            <a:ext cx="1940400" cy="1030200"/>
          </a:xfrm>
          <a:prstGeom prst="roundRect">
            <a:avLst>
              <a:gd fmla="val 7273" name="adj"/>
            </a:avLst>
          </a:prstGeom>
          <a:solidFill>
            <a:srgbClr val="FFFFFF"/>
          </a:solidFill>
          <a:ln cap="flat" cmpd="sng" w="9750">
            <a:solidFill>
              <a:srgbClr val="E4E7EC"/>
            </a:solidFill>
            <a:prstDash val="solid"/>
            <a:round/>
            <a:headEnd len="sm" w="sm" type="none"/>
            <a:tailEnd len="sm" w="sm" type="none"/>
          </a:ln>
        </p:spPr>
        <p:txBody>
          <a:bodyPr anchorCtr="0" anchor="ctr" bIns="93650" lIns="93650" spcFirstLastPara="1" rIns="93650" wrap="square" tIns="93650">
            <a:noAutofit/>
          </a:bodyPr>
          <a:lstStyle/>
          <a:p>
            <a:pPr indent="0" lvl="0" marL="0" rtl="0" algn="l">
              <a:spcBef>
                <a:spcPts val="0"/>
              </a:spcBef>
              <a:spcAft>
                <a:spcPts val="0"/>
              </a:spcAft>
              <a:buNone/>
            </a:pPr>
            <a:r>
              <a:t/>
            </a:r>
            <a:endParaRPr/>
          </a:p>
        </p:txBody>
      </p:sp>
      <p:sp>
        <p:nvSpPr>
          <p:cNvPr id="168" name="Google Shape;168;p5"/>
          <p:cNvSpPr/>
          <p:nvPr/>
        </p:nvSpPr>
        <p:spPr>
          <a:xfrm>
            <a:off x="838082" y="4741350"/>
            <a:ext cx="1599600" cy="350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8"/>
              <a:buFont typeface="Noto Sans"/>
              <a:buNone/>
            </a:pPr>
            <a:r>
              <a:rPr b="1" i="0" lang="en-US" sz="2458" u="none" cap="none" strike="noStrike">
                <a:solidFill>
                  <a:srgbClr val="0B1F33"/>
                </a:solidFill>
                <a:latin typeface="Noto Sans"/>
                <a:ea typeface="Noto Sans"/>
                <a:cs typeface="Noto Sans"/>
                <a:sym typeface="Noto Sans"/>
              </a:rPr>
              <a:t>792</a:t>
            </a:r>
            <a:endParaRPr b="0" i="0" sz="2458" u="none" cap="none" strike="noStrike">
              <a:solidFill>
                <a:schemeClr val="dk1"/>
              </a:solidFill>
              <a:latin typeface="Noto Sans"/>
              <a:ea typeface="Noto Sans"/>
              <a:cs typeface="Noto Sans"/>
              <a:sym typeface="Noto Sans"/>
            </a:endParaRPr>
          </a:p>
        </p:txBody>
      </p:sp>
      <p:sp>
        <p:nvSpPr>
          <p:cNvPr id="169" name="Google Shape;169;p5"/>
          <p:cNvSpPr/>
          <p:nvPr/>
        </p:nvSpPr>
        <p:spPr>
          <a:xfrm>
            <a:off x="838079" y="5157191"/>
            <a:ext cx="1899300" cy="206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75"/>
              <a:buFont typeface="Noto Sans"/>
              <a:buNone/>
            </a:pPr>
            <a:r>
              <a:rPr b="1" i="0" lang="en-US" sz="1229" u="none" cap="none" strike="noStrike">
                <a:solidFill>
                  <a:srgbClr val="344054"/>
                </a:solidFill>
                <a:latin typeface="Noto Sans"/>
                <a:ea typeface="Noto Sans"/>
                <a:cs typeface="Noto Sans"/>
                <a:sym typeface="Noto Sans"/>
              </a:rPr>
              <a:t>ship-like keyframe 후보</a:t>
            </a:r>
            <a:endParaRPr b="0" i="0" sz="1229" u="none" cap="none" strike="noStrike">
              <a:solidFill>
                <a:schemeClr val="dk1"/>
              </a:solidFill>
              <a:latin typeface="Noto Sans"/>
              <a:ea typeface="Noto Sans"/>
              <a:cs typeface="Noto Sans"/>
              <a:sym typeface="Noto Sans"/>
            </a:endParaRPr>
          </a:p>
        </p:txBody>
      </p:sp>
      <p:sp>
        <p:nvSpPr>
          <p:cNvPr id="170" name="Google Shape;170;p5"/>
          <p:cNvSpPr/>
          <p:nvPr/>
        </p:nvSpPr>
        <p:spPr>
          <a:xfrm>
            <a:off x="838082" y="5419415"/>
            <a:ext cx="1599600" cy="131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59"/>
              <a:buFont typeface="Noto Sans"/>
              <a:buNone/>
            </a:pPr>
            <a:r>
              <a:rPr b="0" i="0" lang="en-US" sz="1065" u="none" cap="none" strike="noStrike">
                <a:solidFill>
                  <a:srgbClr val="667085"/>
                </a:solidFill>
                <a:latin typeface="Noto Sans"/>
                <a:ea typeface="Noto Sans"/>
                <a:cs typeface="Noto Sans"/>
                <a:sym typeface="Noto Sans"/>
              </a:rPr>
              <a:t>DVIDS/NOAA 공개자료</a:t>
            </a:r>
            <a:endParaRPr b="0" i="0" sz="1065" u="none" cap="none" strike="noStrike">
              <a:solidFill>
                <a:schemeClr val="dk1"/>
              </a:solidFill>
              <a:latin typeface="Noto Sans"/>
              <a:ea typeface="Noto Sans"/>
              <a:cs typeface="Noto Sans"/>
              <a:sym typeface="Noto Sans"/>
            </a:endParaRPr>
          </a:p>
        </p:txBody>
      </p:sp>
      <p:sp>
        <p:nvSpPr>
          <p:cNvPr id="171" name="Google Shape;171;p5"/>
          <p:cNvSpPr/>
          <p:nvPr/>
        </p:nvSpPr>
        <p:spPr>
          <a:xfrm>
            <a:off x="2923521" y="4617725"/>
            <a:ext cx="1940400" cy="1030200"/>
          </a:xfrm>
          <a:prstGeom prst="roundRect">
            <a:avLst>
              <a:gd fmla="val 7273" name="adj"/>
            </a:avLst>
          </a:prstGeom>
          <a:solidFill>
            <a:srgbClr val="FFFFFF"/>
          </a:solidFill>
          <a:ln cap="flat" cmpd="sng" w="9750">
            <a:solidFill>
              <a:srgbClr val="E4E7EC"/>
            </a:solidFill>
            <a:prstDash val="solid"/>
            <a:round/>
            <a:headEnd len="sm" w="sm" type="none"/>
            <a:tailEnd len="sm" w="sm" type="none"/>
          </a:ln>
        </p:spPr>
        <p:txBody>
          <a:bodyPr anchorCtr="0" anchor="ctr" bIns="93650" lIns="93650" spcFirstLastPara="1" rIns="93650" wrap="square" tIns="93650">
            <a:noAutofit/>
          </a:bodyPr>
          <a:lstStyle/>
          <a:p>
            <a:pPr indent="0" lvl="0" marL="0" rtl="0" algn="l">
              <a:spcBef>
                <a:spcPts val="0"/>
              </a:spcBef>
              <a:spcAft>
                <a:spcPts val="0"/>
              </a:spcAft>
              <a:buNone/>
            </a:pPr>
            <a:r>
              <a:t/>
            </a:r>
            <a:endParaRPr/>
          </a:p>
        </p:txBody>
      </p:sp>
      <p:sp>
        <p:nvSpPr>
          <p:cNvPr id="172" name="Google Shape;172;p5"/>
          <p:cNvSpPr/>
          <p:nvPr/>
        </p:nvSpPr>
        <p:spPr>
          <a:xfrm>
            <a:off x="3015016" y="4741350"/>
            <a:ext cx="1599600" cy="350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8"/>
              <a:buFont typeface="Noto Sans"/>
              <a:buNone/>
            </a:pPr>
            <a:r>
              <a:rPr b="1" i="0" lang="en-US" sz="2458" u="none" cap="none" strike="noStrike">
                <a:solidFill>
                  <a:srgbClr val="0B1F33"/>
                </a:solidFill>
                <a:latin typeface="Noto Sans"/>
                <a:ea typeface="Noto Sans"/>
                <a:cs typeface="Noto Sans"/>
                <a:sym typeface="Noto Sans"/>
              </a:rPr>
              <a:t>259</a:t>
            </a:r>
            <a:endParaRPr b="0" i="0" sz="2458" u="none" cap="none" strike="noStrike">
              <a:solidFill>
                <a:schemeClr val="dk1"/>
              </a:solidFill>
              <a:latin typeface="Noto Sans"/>
              <a:ea typeface="Noto Sans"/>
              <a:cs typeface="Noto Sans"/>
              <a:sym typeface="Noto Sans"/>
            </a:endParaRPr>
          </a:p>
        </p:txBody>
      </p:sp>
      <p:sp>
        <p:nvSpPr>
          <p:cNvPr id="173" name="Google Shape;173;p5"/>
          <p:cNvSpPr/>
          <p:nvPr/>
        </p:nvSpPr>
        <p:spPr>
          <a:xfrm>
            <a:off x="3015019" y="5157191"/>
            <a:ext cx="1899300" cy="206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75"/>
              <a:buFont typeface="Noto Sans"/>
              <a:buNone/>
            </a:pPr>
            <a:r>
              <a:rPr b="1" i="0" lang="en-US" sz="1229" u="none" cap="none" strike="noStrike">
                <a:solidFill>
                  <a:srgbClr val="344054"/>
                </a:solidFill>
                <a:latin typeface="Noto Sans"/>
                <a:ea typeface="Noto Sans"/>
                <a:cs typeface="Noto Sans"/>
                <a:sym typeface="Noto Sans"/>
              </a:rPr>
              <a:t>usable non-fire frames</a:t>
            </a:r>
            <a:endParaRPr b="0" i="0" sz="1229" u="none" cap="none" strike="noStrike">
              <a:solidFill>
                <a:schemeClr val="dk1"/>
              </a:solidFill>
              <a:latin typeface="Noto Sans"/>
              <a:ea typeface="Noto Sans"/>
              <a:cs typeface="Noto Sans"/>
              <a:sym typeface="Noto Sans"/>
            </a:endParaRPr>
          </a:p>
        </p:txBody>
      </p:sp>
      <p:sp>
        <p:nvSpPr>
          <p:cNvPr id="174" name="Google Shape;174;p5"/>
          <p:cNvSpPr/>
          <p:nvPr/>
        </p:nvSpPr>
        <p:spPr>
          <a:xfrm>
            <a:off x="3015016" y="5419415"/>
            <a:ext cx="1599600" cy="131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59"/>
              <a:buFont typeface="Noto Sans"/>
              <a:buNone/>
            </a:pPr>
            <a:r>
              <a:rPr b="0" i="0" lang="en-US" sz="1065" u="none" cap="none" strike="noStrike">
                <a:solidFill>
                  <a:srgbClr val="667085"/>
                </a:solidFill>
                <a:latin typeface="Noto Sans"/>
                <a:ea typeface="Noto Sans"/>
                <a:cs typeface="Noto Sans"/>
                <a:sym typeface="Noto Sans"/>
              </a:rPr>
              <a:t>train/val/hard-neg split</a:t>
            </a:r>
            <a:endParaRPr b="0" i="0" sz="1065" u="none" cap="none" strike="noStrike">
              <a:solidFill>
                <a:schemeClr val="dk1"/>
              </a:solidFill>
              <a:latin typeface="Noto Sans"/>
              <a:ea typeface="Noto Sans"/>
              <a:cs typeface="Noto Sans"/>
              <a:sym typeface="Noto Sans"/>
            </a:endParaRPr>
          </a:p>
        </p:txBody>
      </p:sp>
      <p:sp>
        <p:nvSpPr>
          <p:cNvPr id="175" name="Google Shape;175;p5"/>
          <p:cNvSpPr/>
          <p:nvPr/>
        </p:nvSpPr>
        <p:spPr>
          <a:xfrm>
            <a:off x="5100455" y="4617725"/>
            <a:ext cx="1940400" cy="1030200"/>
          </a:xfrm>
          <a:prstGeom prst="roundRect">
            <a:avLst>
              <a:gd fmla="val 7273" name="adj"/>
            </a:avLst>
          </a:prstGeom>
          <a:solidFill>
            <a:srgbClr val="FFFFFF"/>
          </a:solidFill>
          <a:ln cap="flat" cmpd="sng" w="9750">
            <a:solidFill>
              <a:srgbClr val="E4E7EC"/>
            </a:solidFill>
            <a:prstDash val="solid"/>
            <a:round/>
            <a:headEnd len="sm" w="sm" type="none"/>
            <a:tailEnd len="sm" w="sm" type="none"/>
          </a:ln>
        </p:spPr>
        <p:txBody>
          <a:bodyPr anchorCtr="0" anchor="ctr" bIns="93650" lIns="93650" spcFirstLastPara="1" rIns="93650" wrap="square" tIns="93650">
            <a:noAutofit/>
          </a:bodyPr>
          <a:lstStyle/>
          <a:p>
            <a:pPr indent="0" lvl="0" marL="0" rtl="0" algn="l">
              <a:spcBef>
                <a:spcPts val="0"/>
              </a:spcBef>
              <a:spcAft>
                <a:spcPts val="0"/>
              </a:spcAft>
              <a:buNone/>
            </a:pPr>
            <a:r>
              <a:t/>
            </a:r>
            <a:endParaRPr/>
          </a:p>
        </p:txBody>
      </p:sp>
      <p:sp>
        <p:nvSpPr>
          <p:cNvPr id="176" name="Google Shape;176;p5"/>
          <p:cNvSpPr/>
          <p:nvPr/>
        </p:nvSpPr>
        <p:spPr>
          <a:xfrm>
            <a:off x="5191949" y="4741350"/>
            <a:ext cx="1599600" cy="350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8"/>
              <a:buFont typeface="Noto Sans"/>
              <a:buNone/>
            </a:pPr>
            <a:r>
              <a:rPr b="1" i="0" lang="en-US" sz="2458" u="none" cap="none" strike="noStrike">
                <a:solidFill>
                  <a:srgbClr val="0B1F33"/>
                </a:solidFill>
                <a:latin typeface="Noto Sans"/>
                <a:ea typeface="Noto Sans"/>
                <a:cs typeface="Noto Sans"/>
                <a:sym typeface="Noto Sans"/>
              </a:rPr>
              <a:t>2,000</a:t>
            </a:r>
            <a:endParaRPr b="0" i="0" sz="2458" u="none" cap="none" strike="noStrike">
              <a:solidFill>
                <a:schemeClr val="dk1"/>
              </a:solidFill>
              <a:latin typeface="Noto Sans"/>
              <a:ea typeface="Noto Sans"/>
              <a:cs typeface="Noto Sans"/>
              <a:sym typeface="Noto Sans"/>
            </a:endParaRPr>
          </a:p>
        </p:txBody>
      </p:sp>
      <p:sp>
        <p:nvSpPr>
          <p:cNvPr id="177" name="Google Shape;177;p5"/>
          <p:cNvSpPr/>
          <p:nvPr/>
        </p:nvSpPr>
        <p:spPr>
          <a:xfrm>
            <a:off x="5191949" y="5157180"/>
            <a:ext cx="1599600" cy="206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75"/>
              <a:buFont typeface="Noto Sans"/>
              <a:buNone/>
            </a:pPr>
            <a:r>
              <a:rPr b="1" i="0" lang="en-US" sz="1229" u="none" cap="none" strike="noStrike">
                <a:solidFill>
                  <a:srgbClr val="344054"/>
                </a:solidFill>
                <a:latin typeface="Noto Sans"/>
                <a:ea typeface="Noto Sans"/>
                <a:cs typeface="Noto Sans"/>
                <a:sym typeface="Noto Sans"/>
              </a:rPr>
              <a:t>donor crops</a:t>
            </a:r>
            <a:endParaRPr b="0" i="0" sz="1229" u="none" cap="none" strike="noStrike">
              <a:solidFill>
                <a:schemeClr val="dk1"/>
              </a:solidFill>
              <a:latin typeface="Noto Sans"/>
              <a:ea typeface="Noto Sans"/>
              <a:cs typeface="Noto Sans"/>
              <a:sym typeface="Noto Sans"/>
            </a:endParaRPr>
          </a:p>
        </p:txBody>
      </p:sp>
      <p:sp>
        <p:nvSpPr>
          <p:cNvPr id="178" name="Google Shape;178;p5"/>
          <p:cNvSpPr/>
          <p:nvPr/>
        </p:nvSpPr>
        <p:spPr>
          <a:xfrm>
            <a:off x="5191949" y="5419415"/>
            <a:ext cx="1599600" cy="131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59"/>
              <a:buFont typeface="Noto Sans"/>
              <a:buNone/>
            </a:pPr>
            <a:r>
              <a:rPr b="0" i="0" lang="en-US" sz="1065" u="none" cap="none" strike="noStrike">
                <a:solidFill>
                  <a:srgbClr val="667085"/>
                </a:solidFill>
                <a:latin typeface="Noto Sans"/>
                <a:ea typeface="Noto Sans"/>
                <a:cs typeface="Noto Sans"/>
                <a:sym typeface="Noto Sans"/>
              </a:rPr>
              <a:t>fire + smoke annotation</a:t>
            </a:r>
            <a:endParaRPr b="0" i="0" sz="1065" u="none" cap="none" strike="noStrike">
              <a:solidFill>
                <a:schemeClr val="dk1"/>
              </a:solidFill>
              <a:latin typeface="Noto Sans"/>
              <a:ea typeface="Noto Sans"/>
              <a:cs typeface="Noto Sans"/>
              <a:sym typeface="Noto Sans"/>
            </a:endParaRPr>
          </a:p>
        </p:txBody>
      </p:sp>
      <p:sp>
        <p:nvSpPr>
          <p:cNvPr id="179" name="Google Shape;179;p5"/>
          <p:cNvSpPr/>
          <p:nvPr/>
        </p:nvSpPr>
        <p:spPr>
          <a:xfrm>
            <a:off x="7277389" y="4617725"/>
            <a:ext cx="1940400" cy="1030200"/>
          </a:xfrm>
          <a:prstGeom prst="roundRect">
            <a:avLst>
              <a:gd fmla="val 7273" name="adj"/>
            </a:avLst>
          </a:prstGeom>
          <a:solidFill>
            <a:srgbClr val="FFFFFF"/>
          </a:solidFill>
          <a:ln cap="flat" cmpd="sng" w="9750">
            <a:solidFill>
              <a:srgbClr val="E4E7EC"/>
            </a:solidFill>
            <a:prstDash val="solid"/>
            <a:round/>
            <a:headEnd len="sm" w="sm" type="none"/>
            <a:tailEnd len="sm" w="sm" type="none"/>
          </a:ln>
        </p:spPr>
        <p:txBody>
          <a:bodyPr anchorCtr="0" anchor="ctr" bIns="93650" lIns="93650" spcFirstLastPara="1" rIns="93650" wrap="square" tIns="93650">
            <a:noAutofit/>
          </a:bodyPr>
          <a:lstStyle/>
          <a:p>
            <a:pPr indent="0" lvl="0" marL="0" rtl="0" algn="l">
              <a:spcBef>
                <a:spcPts val="0"/>
              </a:spcBef>
              <a:spcAft>
                <a:spcPts val="0"/>
              </a:spcAft>
              <a:buNone/>
            </a:pPr>
            <a:r>
              <a:t/>
            </a:r>
            <a:endParaRPr/>
          </a:p>
        </p:txBody>
      </p:sp>
      <p:sp>
        <p:nvSpPr>
          <p:cNvPr id="180" name="Google Shape;180;p5"/>
          <p:cNvSpPr/>
          <p:nvPr/>
        </p:nvSpPr>
        <p:spPr>
          <a:xfrm>
            <a:off x="7368883" y="4741350"/>
            <a:ext cx="1599600" cy="350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8"/>
              <a:buFont typeface="Noto Sans"/>
              <a:buNone/>
            </a:pPr>
            <a:r>
              <a:rPr b="1" i="0" lang="en-US" sz="2458" u="none" cap="none" strike="noStrike">
                <a:solidFill>
                  <a:srgbClr val="0B1F33"/>
                </a:solidFill>
                <a:latin typeface="Noto Sans"/>
                <a:ea typeface="Noto Sans"/>
                <a:cs typeface="Noto Sans"/>
                <a:sym typeface="Noto Sans"/>
              </a:rPr>
              <a:t>170</a:t>
            </a:r>
            <a:endParaRPr b="0" i="0" sz="2458" u="none" cap="none" strike="noStrike">
              <a:solidFill>
                <a:schemeClr val="dk1"/>
              </a:solidFill>
              <a:latin typeface="Noto Sans"/>
              <a:ea typeface="Noto Sans"/>
              <a:cs typeface="Noto Sans"/>
              <a:sym typeface="Noto Sans"/>
            </a:endParaRPr>
          </a:p>
        </p:txBody>
      </p:sp>
      <p:sp>
        <p:nvSpPr>
          <p:cNvPr id="181" name="Google Shape;181;p5"/>
          <p:cNvSpPr/>
          <p:nvPr/>
        </p:nvSpPr>
        <p:spPr>
          <a:xfrm>
            <a:off x="7368883" y="5157180"/>
            <a:ext cx="1599600" cy="206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75"/>
              <a:buFont typeface="Noto Sans"/>
              <a:buNone/>
            </a:pPr>
            <a:r>
              <a:rPr b="1" i="0" lang="en-US" sz="1229" u="none" cap="none" strike="noStrike">
                <a:solidFill>
                  <a:srgbClr val="344054"/>
                </a:solidFill>
                <a:latin typeface="Noto Sans"/>
                <a:ea typeface="Noto Sans"/>
                <a:cs typeface="Noto Sans"/>
                <a:sym typeface="Noto Sans"/>
              </a:rPr>
              <a:t>synthetic v1 proxy</a:t>
            </a:r>
            <a:endParaRPr b="0" i="0" sz="1229" u="none" cap="none" strike="noStrike">
              <a:solidFill>
                <a:schemeClr val="dk1"/>
              </a:solidFill>
              <a:latin typeface="Noto Sans"/>
              <a:ea typeface="Noto Sans"/>
              <a:cs typeface="Noto Sans"/>
              <a:sym typeface="Noto Sans"/>
            </a:endParaRPr>
          </a:p>
        </p:txBody>
      </p:sp>
      <p:sp>
        <p:nvSpPr>
          <p:cNvPr id="182" name="Google Shape;182;p5"/>
          <p:cNvSpPr/>
          <p:nvPr/>
        </p:nvSpPr>
        <p:spPr>
          <a:xfrm>
            <a:off x="7368883" y="5419415"/>
            <a:ext cx="1599600" cy="131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59"/>
              <a:buFont typeface="Noto Sans"/>
              <a:buNone/>
            </a:pPr>
            <a:r>
              <a:rPr b="0" i="0" lang="en-US" sz="1065" u="none" cap="none" strike="noStrike">
                <a:solidFill>
                  <a:srgbClr val="667085"/>
                </a:solidFill>
                <a:latin typeface="Noto Sans"/>
                <a:ea typeface="Noto Sans"/>
                <a:cs typeface="Noto Sans"/>
                <a:sym typeface="Noto Sans"/>
              </a:rPr>
              <a:t>fire 85 / smoke 85</a:t>
            </a:r>
            <a:endParaRPr b="0" i="0" sz="1065" u="none" cap="none" strike="noStrike">
              <a:solidFill>
                <a:schemeClr val="dk1"/>
              </a:solidFill>
              <a:latin typeface="Noto Sans"/>
              <a:ea typeface="Noto Sans"/>
              <a:cs typeface="Noto Sans"/>
              <a:sym typeface="Noto Sans"/>
            </a:endParaRPr>
          </a:p>
        </p:txBody>
      </p:sp>
      <p:sp>
        <p:nvSpPr>
          <p:cNvPr id="183" name="Google Shape;183;p5"/>
          <p:cNvSpPr/>
          <p:nvPr/>
        </p:nvSpPr>
        <p:spPr>
          <a:xfrm>
            <a:off x="9454322" y="4617725"/>
            <a:ext cx="1940400" cy="1030200"/>
          </a:xfrm>
          <a:prstGeom prst="roundRect">
            <a:avLst>
              <a:gd fmla="val 7273" name="adj"/>
            </a:avLst>
          </a:prstGeom>
          <a:solidFill>
            <a:srgbClr val="FFFFFF"/>
          </a:solidFill>
          <a:ln cap="flat" cmpd="sng" w="9750">
            <a:solidFill>
              <a:srgbClr val="E4E7EC"/>
            </a:solidFill>
            <a:prstDash val="solid"/>
            <a:round/>
            <a:headEnd len="sm" w="sm" type="none"/>
            <a:tailEnd len="sm" w="sm" type="none"/>
          </a:ln>
        </p:spPr>
        <p:txBody>
          <a:bodyPr anchorCtr="0" anchor="ctr" bIns="93650" lIns="93650" spcFirstLastPara="1" rIns="93650" wrap="square" tIns="93650">
            <a:noAutofit/>
          </a:bodyPr>
          <a:lstStyle/>
          <a:p>
            <a:pPr indent="0" lvl="0" marL="0" rtl="0" algn="l">
              <a:spcBef>
                <a:spcPts val="0"/>
              </a:spcBef>
              <a:spcAft>
                <a:spcPts val="0"/>
              </a:spcAft>
              <a:buNone/>
            </a:pPr>
            <a:r>
              <a:t/>
            </a:r>
            <a:endParaRPr/>
          </a:p>
        </p:txBody>
      </p:sp>
      <p:sp>
        <p:nvSpPr>
          <p:cNvPr id="184" name="Google Shape;184;p5"/>
          <p:cNvSpPr/>
          <p:nvPr/>
        </p:nvSpPr>
        <p:spPr>
          <a:xfrm>
            <a:off x="9545817" y="4741350"/>
            <a:ext cx="1599600" cy="350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F5D8C"/>
              </a:buClr>
              <a:buSzPts val="2151"/>
              <a:buFont typeface="Noto Sans"/>
              <a:buNone/>
            </a:pPr>
            <a:r>
              <a:rPr b="1" i="0" lang="en-US" sz="2151" u="none" cap="none" strike="noStrike">
                <a:solidFill>
                  <a:srgbClr val="2F5D8C"/>
                </a:solidFill>
                <a:latin typeface="Noto Sans"/>
                <a:ea typeface="Noto Sans"/>
                <a:cs typeface="Noto Sans"/>
                <a:sym typeface="Noto Sans"/>
              </a:rPr>
              <a:t>PASS</a:t>
            </a:r>
            <a:endParaRPr b="0" i="0" sz="2151" u="none" cap="none" strike="noStrike">
              <a:solidFill>
                <a:schemeClr val="dk1"/>
              </a:solidFill>
              <a:latin typeface="Noto Sans"/>
              <a:ea typeface="Noto Sans"/>
              <a:cs typeface="Noto Sans"/>
              <a:sym typeface="Noto Sans"/>
            </a:endParaRPr>
          </a:p>
        </p:txBody>
      </p:sp>
      <p:sp>
        <p:nvSpPr>
          <p:cNvPr id="185" name="Google Shape;185;p5"/>
          <p:cNvSpPr/>
          <p:nvPr/>
        </p:nvSpPr>
        <p:spPr>
          <a:xfrm>
            <a:off x="9545809" y="5157191"/>
            <a:ext cx="1791600" cy="205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75"/>
              <a:buFont typeface="Noto Sans"/>
              <a:buNone/>
            </a:pPr>
            <a:r>
              <a:rPr b="1" i="0" lang="en-US" sz="1229" u="none" cap="none" strike="noStrike">
                <a:solidFill>
                  <a:srgbClr val="344054"/>
                </a:solidFill>
                <a:latin typeface="Noto Sans"/>
                <a:ea typeface="Noto Sans"/>
                <a:cs typeface="Noto Sans"/>
                <a:sym typeface="Noto Sans"/>
              </a:rPr>
              <a:t>synthetic v1 validation</a:t>
            </a:r>
            <a:endParaRPr b="0" i="0" sz="1229" u="none" cap="none" strike="noStrike">
              <a:solidFill>
                <a:schemeClr val="dk1"/>
              </a:solidFill>
              <a:latin typeface="Noto Sans"/>
              <a:ea typeface="Noto Sans"/>
              <a:cs typeface="Noto Sans"/>
              <a:sym typeface="Noto Sans"/>
            </a:endParaRPr>
          </a:p>
        </p:txBody>
      </p:sp>
      <p:sp>
        <p:nvSpPr>
          <p:cNvPr id="186" name="Google Shape;186;p5"/>
          <p:cNvSpPr/>
          <p:nvPr/>
        </p:nvSpPr>
        <p:spPr>
          <a:xfrm>
            <a:off x="9545810" y="5419419"/>
            <a:ext cx="1899300" cy="131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59"/>
              <a:buFont typeface="Noto Sans"/>
              <a:buNone/>
            </a:pPr>
            <a:r>
              <a:rPr b="0" i="0" lang="en-US" sz="1065" u="none" cap="none" strike="noStrike">
                <a:solidFill>
                  <a:srgbClr val="667085"/>
                </a:solidFill>
                <a:latin typeface="Noto Sans"/>
                <a:ea typeface="Noto Sans"/>
                <a:cs typeface="Noto Sans"/>
                <a:sym typeface="Noto Sans"/>
              </a:rPr>
              <a:t>metadata consistency check</a:t>
            </a:r>
            <a:endParaRPr b="0" i="0" sz="1065" u="none" cap="none" strike="noStrike">
              <a:solidFill>
                <a:schemeClr val="dk1"/>
              </a:solidFill>
              <a:latin typeface="Noto Sans"/>
              <a:ea typeface="Noto Sans"/>
              <a:cs typeface="Noto Sans"/>
              <a:sym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1" name="Shape 191"/>
        <p:cNvGrpSpPr/>
        <p:nvPr/>
      </p:nvGrpSpPr>
      <p:grpSpPr>
        <a:xfrm>
          <a:off x="0" y="0"/>
          <a:ext cx="0" cy="0"/>
          <a:chOff x="0" y="0"/>
          <a:chExt cx="0" cy="0"/>
        </a:xfrm>
      </p:grpSpPr>
      <p:sp>
        <p:nvSpPr>
          <p:cNvPr id="192" name="Google Shape;192;p6"/>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03 / Data scaffold</a:t>
            </a:r>
            <a:endParaRPr b="0" i="0" sz="850" u="none" cap="none" strike="noStrike">
              <a:solidFill>
                <a:schemeClr val="dk1"/>
              </a:solidFill>
              <a:latin typeface="Noto Sans"/>
              <a:ea typeface="Noto Sans"/>
              <a:cs typeface="Noto Sans"/>
              <a:sym typeface="Noto Sans"/>
            </a:endParaRPr>
          </a:p>
        </p:txBody>
      </p:sp>
      <p:sp>
        <p:nvSpPr>
          <p:cNvPr id="193" name="Google Shape;193;p6"/>
          <p:cNvSpPr/>
          <p:nvPr/>
        </p:nvSpPr>
        <p:spPr>
          <a:xfrm>
            <a:off x="512076" y="475500"/>
            <a:ext cx="10488300" cy="384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Ship-like frame bank: </a:t>
            </a:r>
            <a:r>
              <a:rPr b="1" i="0" lang="en-US" sz="2450" u="none" cap="none" strike="noStrike">
                <a:solidFill>
                  <a:srgbClr val="0B1F33"/>
                </a:solidFill>
                <a:latin typeface="Noto Sans"/>
                <a:ea typeface="Noto Sans"/>
                <a:cs typeface="Noto Sans"/>
                <a:sym typeface="Noto Sans"/>
              </a:rPr>
              <a:t>평가 scaffold의 핵심은 hard-negative confuser</a:t>
            </a:r>
            <a:endParaRPr b="0" i="0" sz="2450" u="none" cap="none" strike="noStrike">
              <a:solidFill>
                <a:schemeClr val="dk1"/>
              </a:solidFill>
              <a:latin typeface="Noto Sans"/>
              <a:ea typeface="Noto Sans"/>
              <a:cs typeface="Noto Sans"/>
              <a:sym typeface="Noto Sans"/>
            </a:endParaRPr>
          </a:p>
        </p:txBody>
      </p:sp>
      <p:sp>
        <p:nvSpPr>
          <p:cNvPr id="194" name="Google Shape;194;p6"/>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06</a:t>
            </a:r>
            <a:endParaRPr b="0" i="0" sz="800" u="none" cap="none" strike="noStrike">
              <a:solidFill>
                <a:schemeClr val="dk1"/>
              </a:solidFill>
              <a:latin typeface="Noto Sans"/>
              <a:ea typeface="Noto Sans"/>
              <a:cs typeface="Noto Sans"/>
              <a:sym typeface="Noto Sans"/>
            </a:endParaRPr>
          </a:p>
        </p:txBody>
      </p:sp>
      <p:cxnSp>
        <p:nvCxnSpPr>
          <p:cNvPr id="195" name="Google Shape;195;p6"/>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196" name="Google Shape;196;p6"/>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197" name="Google Shape;197;p6"/>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198" name="Google Shape;198;p6"/>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6</a:t>
            </a:r>
            <a:endParaRPr b="0" i="0" sz="720" u="none" cap="none" strike="noStrike">
              <a:solidFill>
                <a:schemeClr val="dk1"/>
              </a:solidFill>
              <a:latin typeface="Noto Sans"/>
              <a:ea typeface="Noto Sans"/>
              <a:cs typeface="Noto Sans"/>
              <a:sym typeface="Noto Sans"/>
            </a:endParaRPr>
          </a:p>
        </p:txBody>
      </p:sp>
      <p:sp>
        <p:nvSpPr>
          <p:cNvPr id="199" name="Google Shape;199;p6"/>
          <p:cNvSpPr/>
          <p:nvPr/>
        </p:nvSpPr>
        <p:spPr>
          <a:xfrm>
            <a:off x="512064" y="1078992"/>
            <a:ext cx="1088136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60"/>
              <a:buFont typeface="Noto Sans"/>
              <a:buNone/>
            </a:pPr>
            <a:r>
              <a:rPr i="0" lang="en-US" sz="1560" u="none" cap="none" strike="noStrike">
                <a:solidFill>
                  <a:srgbClr val="0B1F33"/>
                </a:solidFill>
                <a:latin typeface="Noto Sans"/>
                <a:ea typeface="Noto Sans"/>
                <a:cs typeface="Noto Sans"/>
                <a:sym typeface="Noto Sans"/>
              </a:rPr>
              <a:t>실제 화재 positive가 없기 때문에, non-fire ship-like frame과 confuser가 오경보 한계를 드러내는 핵심 평가 축</a:t>
            </a:r>
            <a:endParaRPr i="0" sz="1560" u="none" cap="none" strike="noStrike">
              <a:solidFill>
                <a:schemeClr val="dk1"/>
              </a:solidFill>
              <a:latin typeface="Noto Sans"/>
              <a:ea typeface="Noto Sans"/>
              <a:cs typeface="Noto Sans"/>
              <a:sym typeface="Noto Sans"/>
            </a:endParaRPr>
          </a:p>
        </p:txBody>
      </p:sp>
      <p:sp>
        <p:nvSpPr>
          <p:cNvPr id="200" name="Google Shape;200;p6"/>
          <p:cNvSpPr/>
          <p:nvPr/>
        </p:nvSpPr>
        <p:spPr>
          <a:xfrm>
            <a:off x="685800" y="1783075"/>
            <a:ext cx="1508700" cy="1143000"/>
          </a:xfrm>
          <a:prstGeom prst="roundRect">
            <a:avLst>
              <a:gd fmla="val 8889"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850392" y="1920221"/>
            <a:ext cx="1179600" cy="388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200"/>
              <a:buFont typeface="Noto Sans"/>
              <a:buNone/>
            </a:pPr>
            <a:r>
              <a:rPr b="1" i="0" lang="en-US" sz="2400" u="none" cap="none" strike="noStrike">
                <a:solidFill>
                  <a:srgbClr val="0B1F33"/>
                </a:solidFill>
                <a:latin typeface="Noto Sans"/>
                <a:ea typeface="Noto Sans"/>
                <a:cs typeface="Noto Sans"/>
                <a:sym typeface="Noto Sans"/>
              </a:rPr>
              <a:t>103</a:t>
            </a:r>
            <a:endParaRPr b="0" i="0" sz="2400" u="none" cap="none" strike="noStrike">
              <a:solidFill>
                <a:schemeClr val="dk1"/>
              </a:solidFill>
              <a:latin typeface="Noto Sans"/>
              <a:ea typeface="Noto Sans"/>
              <a:cs typeface="Noto Sans"/>
              <a:sym typeface="Noto Sans"/>
            </a:endParaRPr>
          </a:p>
        </p:txBody>
      </p:sp>
      <p:sp>
        <p:nvSpPr>
          <p:cNvPr id="202" name="Google Shape;202;p6"/>
          <p:cNvSpPr/>
          <p:nvPr/>
        </p:nvSpPr>
        <p:spPr>
          <a:xfrm>
            <a:off x="850392" y="2321494"/>
            <a:ext cx="11796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u="none" cap="none" strike="noStrike">
                <a:solidFill>
                  <a:srgbClr val="344054"/>
                </a:solidFill>
                <a:latin typeface="Noto Sans"/>
                <a:ea typeface="Noto Sans"/>
                <a:cs typeface="Noto Sans"/>
                <a:sym typeface="Noto Sans"/>
              </a:rPr>
              <a:t>train</a:t>
            </a:r>
            <a:endParaRPr b="0" i="0" u="none" cap="none" strike="noStrike">
              <a:solidFill>
                <a:schemeClr val="dk1"/>
              </a:solidFill>
              <a:latin typeface="Noto Sans"/>
              <a:ea typeface="Noto Sans"/>
              <a:cs typeface="Noto Sans"/>
              <a:sym typeface="Noto Sans"/>
            </a:endParaRPr>
          </a:p>
        </p:txBody>
      </p:sp>
      <p:sp>
        <p:nvSpPr>
          <p:cNvPr id="203" name="Google Shape;203;p6"/>
          <p:cNvSpPr/>
          <p:nvPr/>
        </p:nvSpPr>
        <p:spPr>
          <a:xfrm>
            <a:off x="850392" y="2656077"/>
            <a:ext cx="1179600" cy="154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040" u="none" cap="none" strike="noStrike">
                <a:solidFill>
                  <a:srgbClr val="667085"/>
                </a:solidFill>
                <a:latin typeface="Noto Sans"/>
                <a:ea typeface="Noto Sans"/>
                <a:cs typeface="Noto Sans"/>
                <a:sym typeface="Noto Sans"/>
              </a:rPr>
              <a:t>usable frames</a:t>
            </a:r>
            <a:endParaRPr b="0" i="0" sz="1040" u="none" cap="none" strike="noStrike">
              <a:solidFill>
                <a:schemeClr val="dk1"/>
              </a:solidFill>
              <a:latin typeface="Noto Sans"/>
              <a:ea typeface="Noto Sans"/>
              <a:cs typeface="Noto Sans"/>
              <a:sym typeface="Noto Sans"/>
            </a:endParaRPr>
          </a:p>
        </p:txBody>
      </p:sp>
      <p:sp>
        <p:nvSpPr>
          <p:cNvPr id="204" name="Google Shape;204;p6"/>
          <p:cNvSpPr/>
          <p:nvPr/>
        </p:nvSpPr>
        <p:spPr>
          <a:xfrm>
            <a:off x="2331723" y="1783075"/>
            <a:ext cx="1508700" cy="1143000"/>
          </a:xfrm>
          <a:prstGeom prst="roundRect">
            <a:avLst>
              <a:gd fmla="val 8889"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2496316" y="1920221"/>
            <a:ext cx="1179600" cy="388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200"/>
              <a:buFont typeface="Noto Sans"/>
              <a:buNone/>
            </a:pPr>
            <a:r>
              <a:rPr b="1" i="0" lang="en-US" sz="2400" u="none" cap="none" strike="noStrike">
                <a:solidFill>
                  <a:srgbClr val="0B1F33"/>
                </a:solidFill>
                <a:latin typeface="Noto Sans"/>
                <a:ea typeface="Noto Sans"/>
                <a:cs typeface="Noto Sans"/>
                <a:sym typeface="Noto Sans"/>
              </a:rPr>
              <a:t>29</a:t>
            </a:r>
            <a:endParaRPr b="0" i="0" sz="2400" u="none" cap="none" strike="noStrike">
              <a:solidFill>
                <a:schemeClr val="dk1"/>
              </a:solidFill>
              <a:latin typeface="Noto Sans"/>
              <a:ea typeface="Noto Sans"/>
              <a:cs typeface="Noto Sans"/>
              <a:sym typeface="Noto Sans"/>
            </a:endParaRPr>
          </a:p>
        </p:txBody>
      </p:sp>
      <p:sp>
        <p:nvSpPr>
          <p:cNvPr id="206" name="Google Shape;206;p6"/>
          <p:cNvSpPr/>
          <p:nvPr/>
        </p:nvSpPr>
        <p:spPr>
          <a:xfrm>
            <a:off x="2496316" y="2321494"/>
            <a:ext cx="11796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u="none" cap="none" strike="noStrike">
                <a:solidFill>
                  <a:srgbClr val="344054"/>
                </a:solidFill>
                <a:latin typeface="Noto Sans"/>
                <a:ea typeface="Noto Sans"/>
                <a:cs typeface="Noto Sans"/>
                <a:sym typeface="Noto Sans"/>
              </a:rPr>
              <a:t>validation</a:t>
            </a:r>
            <a:endParaRPr b="0" i="0" u="none" cap="none" strike="noStrike">
              <a:solidFill>
                <a:schemeClr val="dk1"/>
              </a:solidFill>
              <a:latin typeface="Noto Sans"/>
              <a:ea typeface="Noto Sans"/>
              <a:cs typeface="Noto Sans"/>
              <a:sym typeface="Noto Sans"/>
            </a:endParaRPr>
          </a:p>
        </p:txBody>
      </p:sp>
      <p:sp>
        <p:nvSpPr>
          <p:cNvPr id="207" name="Google Shape;207;p6"/>
          <p:cNvSpPr/>
          <p:nvPr/>
        </p:nvSpPr>
        <p:spPr>
          <a:xfrm>
            <a:off x="2496312" y="2656077"/>
            <a:ext cx="1179600" cy="154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040" u="none" cap="none" strike="noStrike">
                <a:solidFill>
                  <a:srgbClr val="667085"/>
                </a:solidFill>
                <a:latin typeface="Noto Sans"/>
                <a:ea typeface="Noto Sans"/>
                <a:cs typeface="Noto Sans"/>
                <a:sym typeface="Noto Sans"/>
              </a:rPr>
              <a:t>usable frames</a:t>
            </a:r>
            <a:endParaRPr b="0" i="0" sz="1040" u="none" cap="none" strike="noStrike">
              <a:solidFill>
                <a:schemeClr val="dk1"/>
              </a:solidFill>
              <a:latin typeface="Noto Sans"/>
              <a:ea typeface="Noto Sans"/>
              <a:cs typeface="Noto Sans"/>
              <a:sym typeface="Noto Sans"/>
            </a:endParaRPr>
          </a:p>
        </p:txBody>
      </p:sp>
      <p:sp>
        <p:nvSpPr>
          <p:cNvPr id="208" name="Google Shape;208;p6"/>
          <p:cNvSpPr/>
          <p:nvPr/>
        </p:nvSpPr>
        <p:spPr>
          <a:xfrm>
            <a:off x="3977647" y="1783075"/>
            <a:ext cx="1508700" cy="1143000"/>
          </a:xfrm>
          <a:prstGeom prst="roundRect">
            <a:avLst>
              <a:gd fmla="val 8889"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4142239" y="1844021"/>
            <a:ext cx="1179600" cy="388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7918"/>
              </a:buClr>
              <a:buSzPts val="2200"/>
              <a:buFont typeface="Noto Sans"/>
              <a:buNone/>
            </a:pPr>
            <a:r>
              <a:rPr b="1" i="0" lang="en-US" sz="2400" u="none" cap="none" strike="noStrike">
                <a:solidFill>
                  <a:srgbClr val="A77918"/>
                </a:solidFill>
                <a:latin typeface="Noto Sans"/>
                <a:ea typeface="Noto Sans"/>
                <a:cs typeface="Noto Sans"/>
                <a:sym typeface="Noto Sans"/>
              </a:rPr>
              <a:t>127</a:t>
            </a:r>
            <a:endParaRPr b="0" i="0" sz="2400" u="none" cap="none" strike="noStrike">
              <a:solidFill>
                <a:schemeClr val="dk1"/>
              </a:solidFill>
              <a:latin typeface="Noto Sans"/>
              <a:ea typeface="Noto Sans"/>
              <a:cs typeface="Noto Sans"/>
              <a:sym typeface="Noto Sans"/>
            </a:endParaRPr>
          </a:p>
        </p:txBody>
      </p:sp>
      <p:sp>
        <p:nvSpPr>
          <p:cNvPr id="210" name="Google Shape;210;p6"/>
          <p:cNvSpPr/>
          <p:nvPr/>
        </p:nvSpPr>
        <p:spPr>
          <a:xfrm>
            <a:off x="4142251" y="2321500"/>
            <a:ext cx="12768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u="none" cap="none" strike="noStrike">
                <a:solidFill>
                  <a:srgbClr val="344054"/>
                </a:solidFill>
                <a:latin typeface="Noto Sans"/>
                <a:ea typeface="Noto Sans"/>
                <a:cs typeface="Noto Sans"/>
                <a:sym typeface="Noto Sans"/>
              </a:rPr>
              <a:t>hard-negative test</a:t>
            </a:r>
            <a:endParaRPr b="0" i="0" u="none" cap="none" strike="noStrike">
              <a:solidFill>
                <a:schemeClr val="dk1"/>
              </a:solidFill>
              <a:latin typeface="Noto Sans"/>
              <a:ea typeface="Noto Sans"/>
              <a:cs typeface="Noto Sans"/>
              <a:sym typeface="Noto Sans"/>
            </a:endParaRPr>
          </a:p>
        </p:txBody>
      </p:sp>
      <p:sp>
        <p:nvSpPr>
          <p:cNvPr id="211" name="Google Shape;211;p6"/>
          <p:cNvSpPr/>
          <p:nvPr/>
        </p:nvSpPr>
        <p:spPr>
          <a:xfrm>
            <a:off x="4142232" y="2656077"/>
            <a:ext cx="1179600" cy="154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040" u="none" cap="none" strike="noStrike">
                <a:solidFill>
                  <a:srgbClr val="667085"/>
                </a:solidFill>
                <a:latin typeface="Noto Sans"/>
                <a:ea typeface="Noto Sans"/>
                <a:cs typeface="Noto Sans"/>
                <a:sym typeface="Noto Sans"/>
              </a:rPr>
              <a:t>non-fire frames</a:t>
            </a:r>
            <a:endParaRPr b="0" i="0" sz="1040" u="none" cap="none" strike="noStrike">
              <a:solidFill>
                <a:schemeClr val="dk1"/>
              </a:solidFill>
              <a:latin typeface="Noto Sans"/>
              <a:ea typeface="Noto Sans"/>
              <a:cs typeface="Noto Sans"/>
              <a:sym typeface="Noto Sans"/>
            </a:endParaRPr>
          </a:p>
        </p:txBody>
      </p:sp>
      <p:sp>
        <p:nvSpPr>
          <p:cNvPr id="212" name="Google Shape;212;p6"/>
          <p:cNvSpPr/>
          <p:nvPr/>
        </p:nvSpPr>
        <p:spPr>
          <a:xfrm>
            <a:off x="777240" y="3090672"/>
            <a:ext cx="4572000" cy="384000"/>
          </a:xfrm>
          <a:prstGeom prst="roundRect">
            <a:avLst>
              <a:gd fmla="val 14286" name="adj"/>
            </a:avLst>
          </a:prstGeom>
          <a:solidFill>
            <a:srgbClr val="F9FAFB"/>
          </a:solidFill>
          <a:ln cap="flat" cmpd="sng" w="9525">
            <a:solidFill>
              <a:srgbClr val="E4E7EC"/>
            </a:solidFill>
            <a:prstDash val="solid"/>
            <a:round/>
            <a:headEnd len="sm" w="sm" type="none"/>
            <a:tailEnd len="sm" w="sm" type="none"/>
          </a:ln>
        </p:spPr>
        <p:txBody>
          <a:bodyPr anchorCtr="0" anchor="ctr" bIns="1000" lIns="1000" spcFirstLastPara="1" rIns="1000" wrap="square" tIns="1000">
            <a:normAutofit/>
          </a:bodyPr>
          <a:lstStyle/>
          <a:p>
            <a:pPr indent="0" lvl="0" marL="0" marR="0" rtl="0" algn="l">
              <a:spcBef>
                <a:spcPts val="0"/>
              </a:spcBef>
              <a:spcAft>
                <a:spcPts val="0"/>
              </a:spcAft>
              <a:buClr>
                <a:srgbClr val="344054"/>
              </a:buClr>
              <a:buSzPts val="1050"/>
              <a:buFont typeface="Noto Sans"/>
              <a:buNone/>
            </a:pPr>
            <a:r>
              <a:rPr b="0" i="0" lang="en-US" sz="1050" u="none" cap="none" strike="noStrike">
                <a:solidFill>
                  <a:srgbClr val="344054"/>
                </a:solidFill>
                <a:latin typeface="Noto Sans"/>
                <a:ea typeface="Noto Sans"/>
                <a:cs typeface="Noto Sans"/>
                <a:sym typeface="Noto Sans"/>
              </a:rPr>
              <a:t>with_human frame은 별도 표시하고 synthetic background에서 제외</a:t>
            </a:r>
            <a:endParaRPr b="0" i="0" sz="1050" u="none" cap="none" strike="noStrike">
              <a:solidFill>
                <a:schemeClr val="dk1"/>
              </a:solidFill>
              <a:latin typeface="Noto Sans"/>
              <a:ea typeface="Noto Sans"/>
              <a:cs typeface="Noto Sans"/>
              <a:sym typeface="Noto Sans"/>
            </a:endParaRPr>
          </a:p>
        </p:txBody>
      </p:sp>
      <p:sp>
        <p:nvSpPr>
          <p:cNvPr id="213" name="Google Shape;213;p6"/>
          <p:cNvSpPr/>
          <p:nvPr/>
        </p:nvSpPr>
        <p:spPr>
          <a:xfrm>
            <a:off x="5989320" y="1783080"/>
            <a:ext cx="5440680" cy="3383280"/>
          </a:xfrm>
          <a:prstGeom prst="roundRect">
            <a:avLst>
              <a:gd fmla="val 2162"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6263640" y="2011680"/>
            <a:ext cx="4114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00"/>
              <a:buFont typeface="Noto Sans"/>
              <a:buNone/>
            </a:pPr>
            <a:r>
              <a:rPr b="1" i="0" lang="en-US" sz="1600" u="none" cap="none" strike="noStrike">
                <a:solidFill>
                  <a:srgbClr val="0B1F33"/>
                </a:solidFill>
                <a:latin typeface="Noto Sans"/>
                <a:ea typeface="Noto Sans"/>
                <a:cs typeface="Noto Sans"/>
                <a:sym typeface="Noto Sans"/>
              </a:rPr>
              <a:t>Zone distribution of usable frames</a:t>
            </a:r>
            <a:endParaRPr b="0" i="0" sz="1600" u="none" cap="none" strike="noStrike">
              <a:solidFill>
                <a:schemeClr val="dk1"/>
              </a:solidFill>
              <a:latin typeface="Noto Sans"/>
              <a:ea typeface="Noto Sans"/>
              <a:cs typeface="Noto Sans"/>
              <a:sym typeface="Noto Sans"/>
            </a:endParaRPr>
          </a:p>
        </p:txBody>
      </p:sp>
      <p:sp>
        <p:nvSpPr>
          <p:cNvPr id="215" name="Google Shape;215;p6"/>
          <p:cNvSpPr/>
          <p:nvPr/>
        </p:nvSpPr>
        <p:spPr>
          <a:xfrm>
            <a:off x="6281928" y="2505456"/>
            <a:ext cx="146304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70"/>
              <a:buFont typeface="Noto Sans"/>
              <a:buNone/>
            </a:pPr>
            <a:r>
              <a:rPr b="0" i="0" lang="en-US" sz="1200" u="none" cap="none" strike="noStrike">
                <a:solidFill>
                  <a:srgbClr val="344054"/>
                </a:solidFill>
                <a:latin typeface="Noto Sans"/>
                <a:ea typeface="Noto Sans"/>
                <a:cs typeface="Noto Sans"/>
                <a:sym typeface="Noto Sans"/>
              </a:rPr>
              <a:t>engine_room</a:t>
            </a:r>
            <a:endParaRPr b="0" i="0" sz="1200" u="none" cap="none" strike="noStrike">
              <a:solidFill>
                <a:schemeClr val="dk1"/>
              </a:solidFill>
              <a:latin typeface="Noto Sans"/>
              <a:ea typeface="Noto Sans"/>
              <a:cs typeface="Noto Sans"/>
              <a:sym typeface="Noto Sans"/>
            </a:endParaRPr>
          </a:p>
        </p:txBody>
      </p:sp>
      <p:sp>
        <p:nvSpPr>
          <p:cNvPr id="216" name="Google Shape;216;p6"/>
          <p:cNvSpPr/>
          <p:nvPr/>
        </p:nvSpPr>
        <p:spPr>
          <a:xfrm>
            <a:off x="7863840" y="2478024"/>
            <a:ext cx="2743200" cy="201168"/>
          </a:xfrm>
          <a:prstGeom prst="rect">
            <a:avLst/>
          </a:prstGeom>
          <a:solidFill>
            <a:srgbClr val="496E94"/>
          </a:solidFill>
          <a:ln cap="flat" cmpd="sng" w="12700">
            <a:solidFill>
              <a:srgbClr val="496E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10680192" y="2468880"/>
            <a:ext cx="3200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44054"/>
              </a:buClr>
              <a:buSzPts val="850"/>
              <a:buFont typeface="Noto Sans"/>
              <a:buNone/>
            </a:pPr>
            <a:r>
              <a:rPr b="0" i="0" lang="en-US" sz="1200" u="none" cap="none" strike="noStrike">
                <a:solidFill>
                  <a:srgbClr val="344054"/>
                </a:solidFill>
                <a:latin typeface="Noto Sans"/>
                <a:ea typeface="Noto Sans"/>
                <a:cs typeface="Noto Sans"/>
                <a:sym typeface="Noto Sans"/>
              </a:rPr>
              <a:t>131</a:t>
            </a:r>
            <a:endParaRPr b="0" i="0" sz="1200" u="none" cap="none" strike="noStrike">
              <a:solidFill>
                <a:schemeClr val="dk1"/>
              </a:solidFill>
              <a:latin typeface="Noto Sans"/>
              <a:ea typeface="Noto Sans"/>
              <a:cs typeface="Noto Sans"/>
              <a:sym typeface="Noto Sans"/>
            </a:endParaRPr>
          </a:p>
        </p:txBody>
      </p:sp>
      <p:sp>
        <p:nvSpPr>
          <p:cNvPr id="218" name="Google Shape;218;p6"/>
          <p:cNvSpPr/>
          <p:nvPr/>
        </p:nvSpPr>
        <p:spPr>
          <a:xfrm>
            <a:off x="6281928" y="2962656"/>
            <a:ext cx="146304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70"/>
              <a:buFont typeface="Noto Sans"/>
              <a:buNone/>
            </a:pPr>
            <a:r>
              <a:rPr b="0" i="0" lang="en-US" sz="1200" u="none" cap="none" strike="noStrike">
                <a:solidFill>
                  <a:srgbClr val="344054"/>
                </a:solidFill>
                <a:latin typeface="Noto Sans"/>
                <a:ea typeface="Noto Sans"/>
                <a:cs typeface="Noto Sans"/>
                <a:sym typeface="Noto Sans"/>
              </a:rPr>
              <a:t>control_room</a:t>
            </a:r>
            <a:endParaRPr b="0" i="0" sz="1200" u="none" cap="none" strike="noStrike">
              <a:solidFill>
                <a:schemeClr val="dk1"/>
              </a:solidFill>
              <a:latin typeface="Noto Sans"/>
              <a:ea typeface="Noto Sans"/>
              <a:cs typeface="Noto Sans"/>
              <a:sym typeface="Noto Sans"/>
            </a:endParaRPr>
          </a:p>
        </p:txBody>
      </p:sp>
      <p:sp>
        <p:nvSpPr>
          <p:cNvPr id="219" name="Google Shape;219;p6"/>
          <p:cNvSpPr/>
          <p:nvPr/>
        </p:nvSpPr>
        <p:spPr>
          <a:xfrm>
            <a:off x="7863840" y="2935224"/>
            <a:ext cx="1717118" cy="201168"/>
          </a:xfrm>
          <a:prstGeom prst="rect">
            <a:avLst/>
          </a:prstGeom>
          <a:solidFill>
            <a:srgbClr val="496E94"/>
          </a:solidFill>
          <a:ln cap="flat" cmpd="sng" w="12700">
            <a:solidFill>
              <a:srgbClr val="496E9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6"/>
          <p:cNvSpPr/>
          <p:nvPr/>
        </p:nvSpPr>
        <p:spPr>
          <a:xfrm>
            <a:off x="10680192" y="2926080"/>
            <a:ext cx="3200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44054"/>
              </a:buClr>
              <a:buSzPts val="850"/>
              <a:buFont typeface="Noto Sans"/>
              <a:buNone/>
            </a:pPr>
            <a:r>
              <a:rPr b="0" i="0" lang="en-US" sz="1200" u="none" cap="none" strike="noStrike">
                <a:solidFill>
                  <a:srgbClr val="344054"/>
                </a:solidFill>
                <a:latin typeface="Noto Sans"/>
                <a:ea typeface="Noto Sans"/>
                <a:cs typeface="Noto Sans"/>
                <a:sym typeface="Noto Sans"/>
              </a:rPr>
              <a:t>82</a:t>
            </a:r>
            <a:endParaRPr b="0" i="0" sz="1200" u="none" cap="none" strike="noStrike">
              <a:solidFill>
                <a:schemeClr val="dk1"/>
              </a:solidFill>
              <a:latin typeface="Noto Sans"/>
              <a:ea typeface="Noto Sans"/>
              <a:cs typeface="Noto Sans"/>
              <a:sym typeface="Noto Sans"/>
            </a:endParaRPr>
          </a:p>
        </p:txBody>
      </p:sp>
      <p:sp>
        <p:nvSpPr>
          <p:cNvPr id="221" name="Google Shape;221;p6"/>
          <p:cNvSpPr/>
          <p:nvPr/>
        </p:nvSpPr>
        <p:spPr>
          <a:xfrm>
            <a:off x="6281928" y="3419856"/>
            <a:ext cx="146304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70"/>
              <a:buFont typeface="Noto Sans"/>
              <a:buNone/>
            </a:pPr>
            <a:r>
              <a:rPr b="0" i="0" lang="en-US" sz="1200" u="none" cap="none" strike="noStrike">
                <a:solidFill>
                  <a:srgbClr val="344054"/>
                </a:solidFill>
                <a:latin typeface="Noto Sans"/>
                <a:ea typeface="Noto Sans"/>
                <a:cs typeface="Noto Sans"/>
                <a:sym typeface="Noto Sans"/>
              </a:rPr>
              <a:t>service_support</a:t>
            </a:r>
            <a:endParaRPr b="0" i="0" sz="1200" u="none" cap="none" strike="noStrike">
              <a:solidFill>
                <a:schemeClr val="dk1"/>
              </a:solidFill>
              <a:latin typeface="Noto Sans"/>
              <a:ea typeface="Noto Sans"/>
              <a:cs typeface="Noto Sans"/>
              <a:sym typeface="Noto Sans"/>
            </a:endParaRPr>
          </a:p>
        </p:txBody>
      </p:sp>
      <p:sp>
        <p:nvSpPr>
          <p:cNvPr id="222" name="Google Shape;222;p6"/>
          <p:cNvSpPr/>
          <p:nvPr/>
        </p:nvSpPr>
        <p:spPr>
          <a:xfrm>
            <a:off x="7863840" y="3392424"/>
            <a:ext cx="544452" cy="201168"/>
          </a:xfrm>
          <a:prstGeom prst="rect">
            <a:avLst/>
          </a:prstGeom>
          <a:solidFill>
            <a:srgbClr val="D0D5DD"/>
          </a:solidFill>
          <a:ln cap="flat" cmpd="sng" w="12700">
            <a:solidFill>
              <a:srgbClr val="D0D5D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10680192" y="3383280"/>
            <a:ext cx="3200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44054"/>
              </a:buClr>
              <a:buSzPts val="850"/>
              <a:buFont typeface="Noto Sans"/>
              <a:buNone/>
            </a:pPr>
            <a:r>
              <a:rPr b="0" i="0" lang="en-US" sz="1200" u="none" cap="none" strike="noStrike">
                <a:solidFill>
                  <a:srgbClr val="344054"/>
                </a:solidFill>
                <a:latin typeface="Noto Sans"/>
                <a:ea typeface="Noto Sans"/>
                <a:cs typeface="Noto Sans"/>
                <a:sym typeface="Noto Sans"/>
              </a:rPr>
              <a:t>26</a:t>
            </a:r>
            <a:endParaRPr b="0" i="0" sz="1200" u="none" cap="none" strike="noStrike">
              <a:solidFill>
                <a:schemeClr val="dk1"/>
              </a:solidFill>
              <a:latin typeface="Noto Sans"/>
              <a:ea typeface="Noto Sans"/>
              <a:cs typeface="Noto Sans"/>
              <a:sym typeface="Noto Sans"/>
            </a:endParaRPr>
          </a:p>
        </p:txBody>
      </p:sp>
      <p:sp>
        <p:nvSpPr>
          <p:cNvPr id="224" name="Google Shape;224;p6"/>
          <p:cNvSpPr/>
          <p:nvPr/>
        </p:nvSpPr>
        <p:spPr>
          <a:xfrm>
            <a:off x="6281928" y="3877056"/>
            <a:ext cx="146304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70"/>
              <a:buFont typeface="Noto Sans"/>
              <a:buNone/>
            </a:pPr>
            <a:r>
              <a:rPr b="0" i="0" lang="en-US" sz="1200" u="none" cap="none" strike="noStrike">
                <a:solidFill>
                  <a:srgbClr val="344054"/>
                </a:solidFill>
                <a:latin typeface="Noto Sans"/>
                <a:ea typeface="Noto Sans"/>
                <a:cs typeface="Noto Sans"/>
                <a:sym typeface="Noto Sans"/>
              </a:rPr>
              <a:t>exterior</a:t>
            </a:r>
            <a:endParaRPr b="0" i="0" sz="1200" u="none" cap="none" strike="noStrike">
              <a:solidFill>
                <a:schemeClr val="dk1"/>
              </a:solidFill>
              <a:latin typeface="Noto Sans"/>
              <a:ea typeface="Noto Sans"/>
              <a:cs typeface="Noto Sans"/>
              <a:sym typeface="Noto Sans"/>
            </a:endParaRPr>
          </a:p>
        </p:txBody>
      </p:sp>
      <p:sp>
        <p:nvSpPr>
          <p:cNvPr id="225" name="Google Shape;225;p6"/>
          <p:cNvSpPr/>
          <p:nvPr/>
        </p:nvSpPr>
        <p:spPr>
          <a:xfrm>
            <a:off x="7863840" y="3849624"/>
            <a:ext cx="314107" cy="201168"/>
          </a:xfrm>
          <a:prstGeom prst="rect">
            <a:avLst/>
          </a:prstGeom>
          <a:solidFill>
            <a:srgbClr val="D0D5DD"/>
          </a:solidFill>
          <a:ln cap="flat" cmpd="sng" w="12700">
            <a:solidFill>
              <a:srgbClr val="D0D5D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p:nvPr/>
        </p:nvSpPr>
        <p:spPr>
          <a:xfrm>
            <a:off x="10680192" y="3840480"/>
            <a:ext cx="3200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44054"/>
              </a:buClr>
              <a:buSzPts val="850"/>
              <a:buFont typeface="Noto Sans"/>
              <a:buNone/>
            </a:pPr>
            <a:r>
              <a:rPr b="0" i="0" lang="en-US" sz="1200" u="none" cap="none" strike="noStrike">
                <a:solidFill>
                  <a:srgbClr val="344054"/>
                </a:solidFill>
                <a:latin typeface="Noto Sans"/>
                <a:ea typeface="Noto Sans"/>
                <a:cs typeface="Noto Sans"/>
                <a:sym typeface="Noto Sans"/>
              </a:rPr>
              <a:t>15</a:t>
            </a:r>
            <a:endParaRPr b="0" i="0" sz="1200" u="none" cap="none" strike="noStrike">
              <a:solidFill>
                <a:schemeClr val="dk1"/>
              </a:solidFill>
              <a:latin typeface="Noto Sans"/>
              <a:ea typeface="Noto Sans"/>
              <a:cs typeface="Noto Sans"/>
              <a:sym typeface="Noto Sans"/>
            </a:endParaRPr>
          </a:p>
        </p:txBody>
      </p:sp>
      <p:sp>
        <p:nvSpPr>
          <p:cNvPr id="227" name="Google Shape;227;p6"/>
          <p:cNvSpPr/>
          <p:nvPr/>
        </p:nvSpPr>
        <p:spPr>
          <a:xfrm>
            <a:off x="6281928" y="4334256"/>
            <a:ext cx="146304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70"/>
              <a:buFont typeface="Noto Sans"/>
              <a:buNone/>
            </a:pPr>
            <a:r>
              <a:rPr b="0" i="0" lang="en-US" sz="1200" u="none" cap="none" strike="noStrike">
                <a:solidFill>
                  <a:srgbClr val="344054"/>
                </a:solidFill>
                <a:latin typeface="Noto Sans"/>
                <a:ea typeface="Noto Sans"/>
                <a:cs typeface="Noto Sans"/>
                <a:sym typeface="Noto Sans"/>
              </a:rPr>
              <a:t>passageway/ladder</a:t>
            </a:r>
            <a:endParaRPr b="0" i="0" sz="1200" u="none" cap="none" strike="noStrike">
              <a:solidFill>
                <a:schemeClr val="dk1"/>
              </a:solidFill>
              <a:latin typeface="Noto Sans"/>
              <a:ea typeface="Noto Sans"/>
              <a:cs typeface="Noto Sans"/>
              <a:sym typeface="Noto Sans"/>
            </a:endParaRPr>
          </a:p>
        </p:txBody>
      </p:sp>
      <p:sp>
        <p:nvSpPr>
          <p:cNvPr id="228" name="Google Shape;228;p6"/>
          <p:cNvSpPr/>
          <p:nvPr/>
        </p:nvSpPr>
        <p:spPr>
          <a:xfrm>
            <a:off x="7863840" y="4306824"/>
            <a:ext cx="104702" cy="201168"/>
          </a:xfrm>
          <a:prstGeom prst="rect">
            <a:avLst/>
          </a:prstGeom>
          <a:solidFill>
            <a:srgbClr val="D0D5DD"/>
          </a:solidFill>
          <a:ln cap="flat" cmpd="sng" w="12700">
            <a:solidFill>
              <a:srgbClr val="D0D5D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10680192" y="4297680"/>
            <a:ext cx="32004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44054"/>
              </a:buClr>
              <a:buSzPts val="850"/>
              <a:buFont typeface="Noto Sans"/>
              <a:buNone/>
            </a:pPr>
            <a:r>
              <a:rPr b="0" i="0" lang="en-US" sz="1200" u="none" cap="none" strike="noStrike">
                <a:solidFill>
                  <a:srgbClr val="344054"/>
                </a:solidFill>
                <a:latin typeface="Noto Sans"/>
                <a:ea typeface="Noto Sans"/>
                <a:cs typeface="Noto Sans"/>
                <a:sym typeface="Noto Sans"/>
              </a:rPr>
              <a:t>5</a:t>
            </a:r>
            <a:endParaRPr b="0" i="0" sz="1200" u="none" cap="none" strike="noStrike">
              <a:solidFill>
                <a:schemeClr val="dk1"/>
              </a:solidFill>
              <a:latin typeface="Noto Sans"/>
              <a:ea typeface="Noto Sans"/>
              <a:cs typeface="Noto Sans"/>
              <a:sym typeface="Noto Sans"/>
            </a:endParaRPr>
          </a:p>
        </p:txBody>
      </p:sp>
      <p:sp>
        <p:nvSpPr>
          <p:cNvPr id="230" name="Google Shape;230;p6"/>
          <p:cNvSpPr/>
          <p:nvPr/>
        </p:nvSpPr>
        <p:spPr>
          <a:xfrm>
            <a:off x="685800" y="3772813"/>
            <a:ext cx="4800600" cy="1393500"/>
          </a:xfrm>
          <a:prstGeom prst="roundRect">
            <a:avLst>
              <a:gd fmla="val 50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960125" y="3858998"/>
            <a:ext cx="4206300" cy="31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00"/>
              <a:buFont typeface="Noto Sans"/>
              <a:buNone/>
            </a:pPr>
            <a:r>
              <a:rPr b="1" i="0" lang="en-US" sz="1500" u="none" cap="none" strike="noStrike">
                <a:solidFill>
                  <a:srgbClr val="0B1F33"/>
                </a:solidFill>
                <a:latin typeface="Noto Sans"/>
                <a:ea typeface="Noto Sans"/>
                <a:cs typeface="Noto Sans"/>
                <a:sym typeface="Noto Sans"/>
              </a:rPr>
              <a:t>대표 confuser taxonomy</a:t>
            </a:r>
            <a:endParaRPr b="0" i="0" sz="1500" u="none" cap="none" strike="noStrike">
              <a:solidFill>
                <a:schemeClr val="dk1"/>
              </a:solidFill>
              <a:latin typeface="Noto Sans"/>
              <a:ea typeface="Noto Sans"/>
              <a:cs typeface="Noto Sans"/>
              <a:sym typeface="Noto Sans"/>
            </a:endParaRPr>
          </a:p>
        </p:txBody>
      </p:sp>
      <p:sp>
        <p:nvSpPr>
          <p:cNvPr id="232" name="Google Shape;232;p6"/>
          <p:cNvSpPr/>
          <p:nvPr/>
        </p:nvSpPr>
        <p:spPr>
          <a:xfrm>
            <a:off x="960125" y="4278500"/>
            <a:ext cx="1365300" cy="319800"/>
          </a:xfrm>
          <a:prstGeom prst="roundRect">
            <a:avLst>
              <a:gd fmla="val 29630" name="adj"/>
            </a:avLst>
          </a:prstGeom>
          <a:solidFill>
            <a:srgbClr val="F4EEE1"/>
          </a:solidFill>
          <a:ln cap="flat" cmpd="sng" w="10775">
            <a:solidFill>
              <a:srgbClr val="F4EEE1">
                <a:alpha val="0"/>
              </a:srgbClr>
            </a:solidFill>
            <a:prstDash val="solid"/>
            <a:round/>
            <a:headEnd len="sm" w="sm" type="none"/>
            <a:tailEnd len="sm" w="sm" type="none"/>
          </a:ln>
        </p:spPr>
        <p:txBody>
          <a:bodyPr anchorCtr="0" anchor="ctr" bIns="425" lIns="425" spcFirstLastPara="1" rIns="425" wrap="square" tIns="425">
            <a:normAutofit/>
          </a:bodyPr>
          <a:lstStyle/>
          <a:p>
            <a:pPr indent="0" lvl="0" marL="0" marR="0" rtl="0" algn="ctr">
              <a:spcBef>
                <a:spcPts val="0"/>
              </a:spcBef>
              <a:spcAft>
                <a:spcPts val="0"/>
              </a:spcAft>
              <a:buClr>
                <a:srgbClr val="A77918"/>
              </a:buClr>
              <a:buSzPts val="984"/>
              <a:buFont typeface="Noto Sans"/>
              <a:buNone/>
            </a:pPr>
            <a:r>
              <a:rPr b="1" i="0" lang="en-US" sz="984" u="none" cap="none" strike="noStrike">
                <a:solidFill>
                  <a:srgbClr val="A77918"/>
                </a:solidFill>
                <a:latin typeface="Noto Sans"/>
                <a:ea typeface="Noto Sans"/>
                <a:cs typeface="Noto Sans"/>
                <a:sym typeface="Noto Sans"/>
              </a:rPr>
              <a:t>red valve</a:t>
            </a:r>
            <a:endParaRPr b="0" i="0" sz="984" u="none" cap="none" strike="noStrike">
              <a:solidFill>
                <a:schemeClr val="dk1"/>
              </a:solidFill>
              <a:latin typeface="Noto Sans"/>
              <a:ea typeface="Noto Sans"/>
              <a:cs typeface="Noto Sans"/>
              <a:sym typeface="Noto Sans"/>
            </a:endParaRPr>
          </a:p>
        </p:txBody>
      </p:sp>
      <p:sp>
        <p:nvSpPr>
          <p:cNvPr id="233" name="Google Shape;233;p6"/>
          <p:cNvSpPr/>
          <p:nvPr/>
        </p:nvSpPr>
        <p:spPr>
          <a:xfrm>
            <a:off x="2411074" y="4278500"/>
            <a:ext cx="1365300" cy="319800"/>
          </a:xfrm>
          <a:prstGeom prst="roundRect">
            <a:avLst>
              <a:gd fmla="val 29630" name="adj"/>
            </a:avLst>
          </a:prstGeom>
          <a:solidFill>
            <a:srgbClr val="F4EEE1"/>
          </a:solidFill>
          <a:ln cap="flat" cmpd="sng" w="10775">
            <a:solidFill>
              <a:srgbClr val="F4EEE1">
                <a:alpha val="0"/>
              </a:srgbClr>
            </a:solidFill>
            <a:prstDash val="solid"/>
            <a:round/>
            <a:headEnd len="sm" w="sm" type="none"/>
            <a:tailEnd len="sm" w="sm" type="none"/>
          </a:ln>
        </p:spPr>
        <p:txBody>
          <a:bodyPr anchorCtr="0" anchor="ctr" bIns="425" lIns="425" spcFirstLastPara="1" rIns="425" wrap="square" tIns="425">
            <a:normAutofit/>
          </a:bodyPr>
          <a:lstStyle/>
          <a:p>
            <a:pPr indent="0" lvl="0" marL="0" marR="0" rtl="0" algn="ctr">
              <a:spcBef>
                <a:spcPts val="0"/>
              </a:spcBef>
              <a:spcAft>
                <a:spcPts val="0"/>
              </a:spcAft>
              <a:buClr>
                <a:srgbClr val="A77918"/>
              </a:buClr>
              <a:buSzPts val="984"/>
              <a:buFont typeface="Noto Sans"/>
              <a:buNone/>
            </a:pPr>
            <a:r>
              <a:rPr b="1" i="0" lang="en-US" sz="984" u="none" cap="none" strike="noStrike">
                <a:solidFill>
                  <a:srgbClr val="A77918"/>
                </a:solidFill>
                <a:latin typeface="Noto Sans"/>
                <a:ea typeface="Noto Sans"/>
                <a:cs typeface="Noto Sans"/>
                <a:sym typeface="Noto Sans"/>
              </a:rPr>
              <a:t>red machine</a:t>
            </a:r>
            <a:endParaRPr b="0" i="0" sz="984" u="none" cap="none" strike="noStrike">
              <a:solidFill>
                <a:schemeClr val="dk1"/>
              </a:solidFill>
              <a:latin typeface="Noto Sans"/>
              <a:ea typeface="Noto Sans"/>
              <a:cs typeface="Noto Sans"/>
              <a:sym typeface="Noto Sans"/>
            </a:endParaRPr>
          </a:p>
        </p:txBody>
      </p:sp>
      <p:sp>
        <p:nvSpPr>
          <p:cNvPr id="234" name="Google Shape;234;p6"/>
          <p:cNvSpPr/>
          <p:nvPr/>
        </p:nvSpPr>
        <p:spPr>
          <a:xfrm>
            <a:off x="3862023" y="4278500"/>
            <a:ext cx="1365300" cy="319800"/>
          </a:xfrm>
          <a:prstGeom prst="roundRect">
            <a:avLst>
              <a:gd fmla="val 29630" name="adj"/>
            </a:avLst>
          </a:prstGeom>
          <a:solidFill>
            <a:srgbClr val="F4EEE1"/>
          </a:solidFill>
          <a:ln cap="flat" cmpd="sng" w="10775">
            <a:solidFill>
              <a:srgbClr val="F4EEE1">
                <a:alpha val="0"/>
              </a:srgbClr>
            </a:solidFill>
            <a:prstDash val="solid"/>
            <a:round/>
            <a:headEnd len="sm" w="sm" type="none"/>
            <a:tailEnd len="sm" w="sm" type="none"/>
          </a:ln>
        </p:spPr>
        <p:txBody>
          <a:bodyPr anchorCtr="0" anchor="ctr" bIns="425" lIns="425" spcFirstLastPara="1" rIns="425" wrap="square" tIns="425">
            <a:normAutofit/>
          </a:bodyPr>
          <a:lstStyle/>
          <a:p>
            <a:pPr indent="0" lvl="0" marL="0" marR="0" rtl="0" algn="ctr">
              <a:spcBef>
                <a:spcPts val="0"/>
              </a:spcBef>
              <a:spcAft>
                <a:spcPts val="0"/>
              </a:spcAft>
              <a:buClr>
                <a:srgbClr val="A77918"/>
              </a:buClr>
              <a:buSzPts val="984"/>
              <a:buFont typeface="Noto Sans"/>
              <a:buNone/>
            </a:pPr>
            <a:r>
              <a:rPr b="1" i="0" lang="en-US" sz="984" u="none" cap="none" strike="noStrike">
                <a:solidFill>
                  <a:srgbClr val="A77918"/>
                </a:solidFill>
                <a:latin typeface="Noto Sans"/>
                <a:ea typeface="Noto Sans"/>
                <a:cs typeface="Noto Sans"/>
                <a:sym typeface="Noto Sans"/>
              </a:rPr>
              <a:t>red light</a:t>
            </a:r>
            <a:endParaRPr b="0" i="0" sz="984" u="none" cap="none" strike="noStrike">
              <a:solidFill>
                <a:schemeClr val="dk1"/>
              </a:solidFill>
              <a:latin typeface="Noto Sans"/>
              <a:ea typeface="Noto Sans"/>
              <a:cs typeface="Noto Sans"/>
              <a:sym typeface="Noto Sans"/>
            </a:endParaRPr>
          </a:p>
        </p:txBody>
      </p:sp>
      <p:sp>
        <p:nvSpPr>
          <p:cNvPr id="235" name="Google Shape;235;p6"/>
          <p:cNvSpPr/>
          <p:nvPr/>
        </p:nvSpPr>
        <p:spPr>
          <a:xfrm>
            <a:off x="960125" y="4717533"/>
            <a:ext cx="1365300" cy="319800"/>
          </a:xfrm>
          <a:prstGeom prst="roundRect">
            <a:avLst>
              <a:gd fmla="val 29630" name="adj"/>
            </a:avLst>
          </a:prstGeom>
          <a:solidFill>
            <a:srgbClr val="F4EEE2"/>
          </a:solidFill>
          <a:ln cap="flat" cmpd="sng" w="10775">
            <a:solidFill>
              <a:srgbClr val="EAF2FA">
                <a:alpha val="0"/>
              </a:srgbClr>
            </a:solidFill>
            <a:prstDash val="solid"/>
            <a:round/>
            <a:headEnd len="sm" w="sm" type="none"/>
            <a:tailEnd len="sm" w="sm" type="none"/>
          </a:ln>
        </p:spPr>
        <p:txBody>
          <a:bodyPr anchorCtr="0" anchor="ctr" bIns="425" lIns="425" spcFirstLastPara="1" rIns="425" wrap="square" tIns="425">
            <a:normAutofit/>
          </a:bodyPr>
          <a:lstStyle/>
          <a:p>
            <a:pPr indent="0" lvl="0" marL="0" marR="0" rtl="0" algn="ctr">
              <a:spcBef>
                <a:spcPts val="0"/>
              </a:spcBef>
              <a:spcAft>
                <a:spcPts val="0"/>
              </a:spcAft>
              <a:buClr>
                <a:srgbClr val="2F5D8C"/>
              </a:buClr>
              <a:buSzPts val="984"/>
              <a:buFont typeface="Noto Sans"/>
              <a:buNone/>
            </a:pPr>
            <a:r>
              <a:rPr b="1" i="0" lang="en-US" sz="984" u="none" cap="none" strike="noStrike">
                <a:solidFill>
                  <a:srgbClr val="A77917"/>
                </a:solidFill>
                <a:latin typeface="Noto Sans"/>
                <a:ea typeface="Noto Sans"/>
                <a:cs typeface="Noto Sans"/>
                <a:sym typeface="Noto Sans"/>
              </a:rPr>
              <a:t>monitor</a:t>
            </a:r>
            <a:endParaRPr b="0" i="0" sz="984" u="none" cap="none" strike="noStrike">
              <a:solidFill>
                <a:srgbClr val="A77917"/>
              </a:solidFill>
              <a:latin typeface="Noto Sans"/>
              <a:ea typeface="Noto Sans"/>
              <a:cs typeface="Noto Sans"/>
              <a:sym typeface="Noto Sans"/>
            </a:endParaRPr>
          </a:p>
        </p:txBody>
      </p:sp>
      <p:sp>
        <p:nvSpPr>
          <p:cNvPr id="236" name="Google Shape;236;p6"/>
          <p:cNvSpPr/>
          <p:nvPr/>
        </p:nvSpPr>
        <p:spPr>
          <a:xfrm>
            <a:off x="2411074" y="4717533"/>
            <a:ext cx="1365300" cy="319800"/>
          </a:xfrm>
          <a:prstGeom prst="roundRect">
            <a:avLst>
              <a:gd fmla="val 29630" name="adj"/>
            </a:avLst>
          </a:prstGeom>
          <a:solidFill>
            <a:srgbClr val="F4EEE2"/>
          </a:solidFill>
          <a:ln cap="flat" cmpd="sng" w="10775">
            <a:solidFill>
              <a:srgbClr val="EAF2FA">
                <a:alpha val="0"/>
              </a:srgbClr>
            </a:solidFill>
            <a:prstDash val="solid"/>
            <a:round/>
            <a:headEnd len="sm" w="sm" type="none"/>
            <a:tailEnd len="sm" w="sm" type="none"/>
          </a:ln>
        </p:spPr>
        <p:txBody>
          <a:bodyPr anchorCtr="0" anchor="ctr" bIns="425" lIns="425" spcFirstLastPara="1" rIns="425" wrap="square" tIns="425">
            <a:normAutofit/>
          </a:bodyPr>
          <a:lstStyle/>
          <a:p>
            <a:pPr indent="0" lvl="0" marL="0" marR="0" rtl="0" algn="ctr">
              <a:spcBef>
                <a:spcPts val="0"/>
              </a:spcBef>
              <a:spcAft>
                <a:spcPts val="0"/>
              </a:spcAft>
              <a:buClr>
                <a:srgbClr val="2F5D8C"/>
              </a:buClr>
              <a:buSzPts val="984"/>
              <a:buFont typeface="Noto Sans"/>
              <a:buNone/>
            </a:pPr>
            <a:r>
              <a:rPr b="1" i="0" lang="en-US" sz="984" u="none" cap="none" strike="noStrike">
                <a:solidFill>
                  <a:srgbClr val="A77917"/>
                </a:solidFill>
                <a:latin typeface="Noto Sans"/>
                <a:ea typeface="Noto Sans"/>
                <a:cs typeface="Noto Sans"/>
                <a:sym typeface="Noto Sans"/>
              </a:rPr>
              <a:t>red wall</a:t>
            </a:r>
            <a:endParaRPr b="0" i="0" sz="984" u="none" cap="none" strike="noStrike">
              <a:solidFill>
                <a:srgbClr val="A77917"/>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1" name="Shape 241"/>
        <p:cNvGrpSpPr/>
        <p:nvPr/>
      </p:nvGrpSpPr>
      <p:grpSpPr>
        <a:xfrm>
          <a:off x="0" y="0"/>
          <a:ext cx="0" cy="0"/>
          <a:chOff x="0" y="0"/>
          <a:chExt cx="0" cy="0"/>
        </a:xfrm>
      </p:grpSpPr>
      <p:sp>
        <p:nvSpPr>
          <p:cNvPr id="242" name="Google Shape;242;p7"/>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03 / Data scaffold</a:t>
            </a:r>
            <a:endParaRPr b="0" i="0" sz="850" u="none" cap="none" strike="noStrike">
              <a:solidFill>
                <a:schemeClr val="dk1"/>
              </a:solidFill>
              <a:latin typeface="Noto Sans"/>
              <a:ea typeface="Noto Sans"/>
              <a:cs typeface="Noto Sans"/>
              <a:sym typeface="Noto Sans"/>
            </a:endParaRPr>
          </a:p>
        </p:txBody>
      </p:sp>
      <p:sp>
        <p:nvSpPr>
          <p:cNvPr id="243" name="Google Shape;243;p7"/>
          <p:cNvSpPr/>
          <p:nvPr/>
        </p:nvSpPr>
        <p:spPr>
          <a:xfrm>
            <a:off x="512064" y="475488"/>
            <a:ext cx="9875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Synthetic v1</a:t>
            </a:r>
            <a:r>
              <a:rPr b="1" lang="en-US" sz="2450">
                <a:solidFill>
                  <a:srgbClr val="0B1F33"/>
                </a:solidFill>
                <a:latin typeface="Noto Sans"/>
                <a:ea typeface="Noto Sans"/>
                <a:cs typeface="Noto Sans"/>
                <a:sym typeface="Noto Sans"/>
              </a:rPr>
              <a:t> construction - </a:t>
            </a:r>
            <a:r>
              <a:rPr b="1" i="0" lang="en-US" sz="2450" u="none" cap="none" strike="noStrike">
                <a:solidFill>
                  <a:srgbClr val="0B1F33"/>
                </a:solidFill>
                <a:latin typeface="Noto Sans"/>
                <a:ea typeface="Noto Sans"/>
                <a:cs typeface="Noto Sans"/>
                <a:sym typeface="Noto Sans"/>
              </a:rPr>
              <a:t>prototype 검증용 proxy</a:t>
            </a:r>
            <a:endParaRPr b="1" i="0" sz="2450" u="none" cap="none" strike="noStrike">
              <a:solidFill>
                <a:schemeClr val="dk1"/>
              </a:solidFill>
              <a:latin typeface="Noto Sans"/>
              <a:ea typeface="Noto Sans"/>
              <a:cs typeface="Noto Sans"/>
              <a:sym typeface="Noto Sans"/>
            </a:endParaRPr>
          </a:p>
        </p:txBody>
      </p:sp>
      <p:sp>
        <p:nvSpPr>
          <p:cNvPr id="244" name="Google Shape;244;p7"/>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07</a:t>
            </a:r>
            <a:endParaRPr b="0" i="0" sz="800" u="none" cap="none" strike="noStrike">
              <a:solidFill>
                <a:schemeClr val="dk1"/>
              </a:solidFill>
              <a:latin typeface="Noto Sans"/>
              <a:ea typeface="Noto Sans"/>
              <a:cs typeface="Noto Sans"/>
              <a:sym typeface="Noto Sans"/>
            </a:endParaRPr>
          </a:p>
        </p:txBody>
      </p:sp>
      <p:cxnSp>
        <p:nvCxnSpPr>
          <p:cNvPr id="245" name="Google Shape;245;p7"/>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246" name="Google Shape;246;p7"/>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247" name="Google Shape;247;p7"/>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248" name="Google Shape;248;p7"/>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7</a:t>
            </a:r>
            <a:endParaRPr b="0" i="0" sz="720" u="none" cap="none" strike="noStrike">
              <a:solidFill>
                <a:schemeClr val="dk1"/>
              </a:solidFill>
              <a:latin typeface="Noto Sans"/>
              <a:ea typeface="Noto Sans"/>
              <a:cs typeface="Noto Sans"/>
              <a:sym typeface="Noto Sans"/>
            </a:endParaRPr>
          </a:p>
        </p:txBody>
      </p:sp>
      <p:sp>
        <p:nvSpPr>
          <p:cNvPr id="249" name="Google Shape;249;p7"/>
          <p:cNvSpPr/>
          <p:nvPr/>
        </p:nvSpPr>
        <p:spPr>
          <a:xfrm>
            <a:off x="512064" y="1078992"/>
            <a:ext cx="1088136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50"/>
              <a:buFont typeface="Noto Sans"/>
              <a:buNone/>
            </a:pPr>
            <a:r>
              <a:rPr i="0" lang="en-US" sz="1550" u="none" cap="none" strike="noStrike">
                <a:solidFill>
                  <a:srgbClr val="0B1F33"/>
                </a:solidFill>
                <a:latin typeface="Noto Sans"/>
                <a:ea typeface="Noto Sans"/>
                <a:cs typeface="Noto Sans"/>
                <a:sym typeface="Noto Sans"/>
              </a:rPr>
              <a:t>합성 데이터의 목적은 실제 함정 화재를 재현하는 것이 아니라, 공개자료 조건에서 positive signal을 주입해 pipeline을 테스트하는 것이다.</a:t>
            </a:r>
            <a:endParaRPr i="0" sz="1550" u="none" cap="none" strike="noStrike">
              <a:solidFill>
                <a:schemeClr val="dk1"/>
              </a:solidFill>
              <a:latin typeface="Noto Sans"/>
              <a:ea typeface="Noto Sans"/>
              <a:cs typeface="Noto Sans"/>
              <a:sym typeface="Noto Sans"/>
            </a:endParaRPr>
          </a:p>
        </p:txBody>
      </p:sp>
      <p:sp>
        <p:nvSpPr>
          <p:cNvPr id="250" name="Google Shape;250;p7"/>
          <p:cNvSpPr/>
          <p:nvPr/>
        </p:nvSpPr>
        <p:spPr>
          <a:xfrm>
            <a:off x="892950" y="1914850"/>
            <a:ext cx="2649600" cy="1280100"/>
          </a:xfrm>
          <a:prstGeom prst="roundRect">
            <a:avLst>
              <a:gd fmla="val 5000"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010"/>
              <a:buFont typeface="Noto Sans"/>
              <a:buNone/>
            </a:pPr>
            <a:r>
              <a:rPr b="1" i="0" lang="en-US" u="none" cap="none" strike="noStrike">
                <a:solidFill>
                  <a:srgbClr val="1D2939"/>
                </a:solidFill>
                <a:latin typeface="Noto Sans"/>
                <a:ea typeface="Noto Sans"/>
                <a:cs typeface="Noto Sans"/>
                <a:sym typeface="Noto Sans"/>
              </a:rPr>
              <a:t>Engine-room background</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10"/>
              <a:buFont typeface="Noto Sans"/>
              <a:buNone/>
            </a:pPr>
            <a:r>
              <a:rPr b="1" i="0" lang="en-US" u="none" cap="none" strike="noStrike">
                <a:solidFill>
                  <a:srgbClr val="1D2939"/>
                </a:solidFill>
                <a:latin typeface="Noto Sans"/>
                <a:ea typeface="Noto Sans"/>
                <a:cs typeface="Noto Sans"/>
                <a:sym typeface="Noto Sans"/>
              </a:rPr>
              <a:t>SHIP_DVIDS_001</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10"/>
              <a:buFont typeface="Noto Sans"/>
              <a:buNone/>
            </a:pPr>
            <a:r>
              <a:rPr b="1" i="0" lang="en-US" u="none" cap="none" strike="noStrike">
                <a:solidFill>
                  <a:srgbClr val="1D2939"/>
                </a:solidFill>
                <a:latin typeface="Noto Sans"/>
                <a:ea typeface="Noto Sans"/>
                <a:cs typeface="Noto Sans"/>
                <a:sym typeface="Noto Sans"/>
              </a:rPr>
              <a:t>non-human · good quality</a:t>
            </a:r>
            <a:endParaRPr b="0" i="0" u="none" cap="none" strike="noStrike">
              <a:solidFill>
                <a:schemeClr val="dk1"/>
              </a:solidFill>
              <a:latin typeface="Noto Sans"/>
              <a:ea typeface="Noto Sans"/>
              <a:cs typeface="Noto Sans"/>
              <a:sym typeface="Noto Sans"/>
            </a:endParaRPr>
          </a:p>
        </p:txBody>
      </p:sp>
      <p:cxnSp>
        <p:nvCxnSpPr>
          <p:cNvPr id="251" name="Google Shape;251;p7"/>
          <p:cNvCxnSpPr/>
          <p:nvPr/>
        </p:nvCxnSpPr>
        <p:spPr>
          <a:xfrm>
            <a:off x="3687088" y="2554930"/>
            <a:ext cx="819300" cy="0"/>
          </a:xfrm>
          <a:prstGeom prst="straightConnector1">
            <a:avLst/>
          </a:prstGeom>
          <a:noFill/>
          <a:ln cap="flat" cmpd="sng" w="15225">
            <a:solidFill>
              <a:srgbClr val="496E94"/>
            </a:solidFill>
            <a:prstDash val="solid"/>
            <a:round/>
            <a:headEnd len="sm" w="sm" type="none"/>
            <a:tailEnd len="med" w="med" type="triangle"/>
          </a:ln>
        </p:spPr>
      </p:cxnSp>
      <p:sp>
        <p:nvSpPr>
          <p:cNvPr id="252" name="Google Shape;252;p7"/>
          <p:cNvSpPr/>
          <p:nvPr/>
        </p:nvSpPr>
        <p:spPr>
          <a:xfrm>
            <a:off x="4650584" y="1914850"/>
            <a:ext cx="2649600" cy="1280100"/>
          </a:xfrm>
          <a:prstGeom prst="roundRect">
            <a:avLst>
              <a:gd fmla="val 5000"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010"/>
              <a:buFont typeface="Noto Sans"/>
              <a:buNone/>
            </a:pPr>
            <a:r>
              <a:rPr b="1" i="0" lang="en-US" u="none" cap="none" strike="noStrike">
                <a:solidFill>
                  <a:srgbClr val="1D2939"/>
                </a:solidFill>
                <a:latin typeface="Noto Sans"/>
                <a:ea typeface="Noto Sans"/>
                <a:cs typeface="Noto Sans"/>
                <a:sym typeface="Noto Sans"/>
              </a:rPr>
              <a:t>Public donor crop</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10"/>
              <a:buFont typeface="Noto Sans"/>
              <a:buNone/>
            </a:pPr>
            <a:r>
              <a:rPr b="1" i="0" lang="en-US" u="none" cap="none" strike="noStrike">
                <a:solidFill>
                  <a:srgbClr val="1D2939"/>
                </a:solidFill>
                <a:latin typeface="Noto Sans"/>
                <a:ea typeface="Noto Sans"/>
                <a:cs typeface="Noto Sans"/>
                <a:sym typeface="Noto Sans"/>
              </a:rPr>
              <a:t>D-Fire / CQU</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10"/>
              <a:buFont typeface="Noto Sans"/>
              <a:buNone/>
            </a:pPr>
            <a:r>
              <a:rPr b="1" i="0" lang="en-US" u="none" cap="none" strike="noStrike">
                <a:solidFill>
                  <a:srgbClr val="1D2939"/>
                </a:solidFill>
                <a:latin typeface="Noto Sans"/>
                <a:ea typeface="Noto Sans"/>
                <a:cs typeface="Noto Sans"/>
                <a:sym typeface="Noto Sans"/>
              </a:rPr>
              <a:t>fire or smoke annotation</a:t>
            </a:r>
            <a:endParaRPr b="0" i="0" u="none" cap="none" strike="noStrike">
              <a:solidFill>
                <a:schemeClr val="dk1"/>
              </a:solidFill>
              <a:latin typeface="Noto Sans"/>
              <a:ea typeface="Noto Sans"/>
              <a:cs typeface="Noto Sans"/>
              <a:sym typeface="Noto Sans"/>
            </a:endParaRPr>
          </a:p>
        </p:txBody>
      </p:sp>
      <p:cxnSp>
        <p:nvCxnSpPr>
          <p:cNvPr id="253" name="Google Shape;253;p7"/>
          <p:cNvCxnSpPr/>
          <p:nvPr/>
        </p:nvCxnSpPr>
        <p:spPr>
          <a:xfrm>
            <a:off x="7444722" y="2554930"/>
            <a:ext cx="819300" cy="0"/>
          </a:xfrm>
          <a:prstGeom prst="straightConnector1">
            <a:avLst/>
          </a:prstGeom>
          <a:noFill/>
          <a:ln cap="flat" cmpd="sng" w="15225">
            <a:solidFill>
              <a:srgbClr val="496E94"/>
            </a:solidFill>
            <a:prstDash val="solid"/>
            <a:round/>
            <a:headEnd len="sm" w="sm" type="none"/>
            <a:tailEnd len="med" w="med" type="triangle"/>
          </a:ln>
        </p:spPr>
      </p:cxnSp>
      <p:sp>
        <p:nvSpPr>
          <p:cNvPr id="254" name="Google Shape;254;p7"/>
          <p:cNvSpPr/>
          <p:nvPr/>
        </p:nvSpPr>
        <p:spPr>
          <a:xfrm>
            <a:off x="8408218" y="1914850"/>
            <a:ext cx="2890500" cy="1280100"/>
          </a:xfrm>
          <a:prstGeom prst="roundRect">
            <a:avLst>
              <a:gd fmla="val 5000" name="adj"/>
            </a:avLst>
          </a:prstGeom>
          <a:solidFill>
            <a:srgbClr val="EAF2FA"/>
          </a:solidFill>
          <a:ln cap="flat" cmpd="sng" w="9525">
            <a:solidFill>
              <a:srgbClr val="496E94"/>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0B1F33"/>
              </a:buClr>
              <a:buSzPts val="1010"/>
              <a:buFont typeface="Noto Sans"/>
              <a:buNone/>
            </a:pPr>
            <a:r>
              <a:rPr b="1" i="0" lang="en-US" u="none" cap="none" strike="noStrike">
                <a:solidFill>
                  <a:srgbClr val="0B1F33"/>
                </a:solidFill>
                <a:latin typeface="Noto Sans"/>
                <a:ea typeface="Noto Sans"/>
                <a:cs typeface="Noto Sans"/>
                <a:sym typeface="Noto Sans"/>
              </a:rPr>
              <a:t>Synthetic v1 proxy</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10"/>
              <a:buFont typeface="Noto Sans"/>
              <a:buNone/>
            </a:pPr>
            <a:r>
              <a:rPr b="1" i="0" lang="en-US" u="none" cap="none" strike="noStrike">
                <a:solidFill>
                  <a:srgbClr val="0B1F33"/>
                </a:solidFill>
                <a:latin typeface="Noto Sans"/>
                <a:ea typeface="Noto Sans"/>
                <a:cs typeface="Noto Sans"/>
                <a:sym typeface="Noto Sans"/>
              </a:rPr>
              <a:t>2D crop compositing</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10"/>
              <a:buFont typeface="Noto Sans"/>
              <a:buNone/>
            </a:pPr>
            <a:r>
              <a:rPr b="1" i="0" lang="en-US" u="none" cap="none" strike="noStrike">
                <a:solidFill>
                  <a:srgbClr val="0B1F33"/>
                </a:solidFill>
                <a:latin typeface="Noto Sans"/>
                <a:ea typeface="Noto Sans"/>
                <a:cs typeface="Noto Sans"/>
                <a:sym typeface="Noto Sans"/>
              </a:rPr>
              <a:t>metadata validation PASS</a:t>
            </a:r>
            <a:endParaRPr b="0" i="0" u="none" cap="none" strike="noStrike">
              <a:solidFill>
                <a:schemeClr val="dk1"/>
              </a:solidFill>
              <a:latin typeface="Noto Sans"/>
              <a:ea typeface="Noto Sans"/>
              <a:cs typeface="Noto Sans"/>
              <a:sym typeface="Noto Sans"/>
            </a:endParaRPr>
          </a:p>
        </p:txBody>
      </p:sp>
      <p:sp>
        <p:nvSpPr>
          <p:cNvPr id="255" name="Google Shape;255;p7"/>
          <p:cNvSpPr/>
          <p:nvPr/>
        </p:nvSpPr>
        <p:spPr>
          <a:xfrm>
            <a:off x="1536700" y="3619325"/>
            <a:ext cx="2576100" cy="1280100"/>
          </a:xfrm>
          <a:prstGeom prst="roundRect">
            <a:avLst>
              <a:gd fmla="val 7273" name="adj"/>
            </a:avLst>
          </a:prstGeom>
          <a:solidFill>
            <a:srgbClr val="FFFFFF"/>
          </a:solidFill>
          <a:ln cap="flat" cmpd="sng" w="10400">
            <a:solidFill>
              <a:srgbClr val="E4E7EC"/>
            </a:solidFill>
            <a:prstDash val="solid"/>
            <a:round/>
            <a:headEnd len="sm" w="sm" type="none"/>
            <a:tailEnd len="sm" w="sm" type="none"/>
          </a:ln>
        </p:spPr>
        <p:txBody>
          <a:bodyPr anchorCtr="0" anchor="ctr" bIns="99725" lIns="99725" spcFirstLastPara="1" rIns="99725" wrap="square" tIns="99725">
            <a:noAutofit/>
          </a:bodyPr>
          <a:lstStyle/>
          <a:p>
            <a:pPr indent="0" lvl="0" marL="0" rtl="0" algn="l">
              <a:spcBef>
                <a:spcPts val="0"/>
              </a:spcBef>
              <a:spcAft>
                <a:spcPts val="0"/>
              </a:spcAft>
              <a:buNone/>
            </a:pPr>
            <a:r>
              <a:t/>
            </a:r>
            <a:endParaRPr/>
          </a:p>
        </p:txBody>
      </p:sp>
      <p:sp>
        <p:nvSpPr>
          <p:cNvPr id="256" name="Google Shape;256;p7"/>
          <p:cNvSpPr/>
          <p:nvPr/>
        </p:nvSpPr>
        <p:spPr>
          <a:xfrm>
            <a:off x="1742802" y="3772929"/>
            <a:ext cx="2164200" cy="435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727"/>
              <a:buFont typeface="Noto Sans"/>
              <a:buNone/>
            </a:pPr>
            <a:r>
              <a:rPr b="1" i="0" lang="en-US" sz="2400" u="none" cap="none" strike="noStrike">
                <a:solidFill>
                  <a:srgbClr val="0B1F33"/>
                </a:solidFill>
                <a:latin typeface="Noto Sans"/>
                <a:ea typeface="Noto Sans"/>
                <a:cs typeface="Noto Sans"/>
                <a:sym typeface="Noto Sans"/>
              </a:rPr>
              <a:t>170</a:t>
            </a:r>
            <a:endParaRPr b="0" i="0" sz="2400" u="none" cap="none" strike="noStrike">
              <a:solidFill>
                <a:schemeClr val="dk1"/>
              </a:solidFill>
              <a:latin typeface="Noto Sans"/>
              <a:ea typeface="Noto Sans"/>
              <a:cs typeface="Noto Sans"/>
              <a:sym typeface="Noto Sans"/>
            </a:endParaRPr>
          </a:p>
        </p:txBody>
      </p:sp>
      <p:sp>
        <p:nvSpPr>
          <p:cNvPr id="257" name="Google Shape;257;p7"/>
          <p:cNvSpPr/>
          <p:nvPr/>
        </p:nvSpPr>
        <p:spPr>
          <a:xfrm>
            <a:off x="1742802" y="4283721"/>
            <a:ext cx="2164200" cy="256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45"/>
              <a:buFont typeface="Noto Sans"/>
              <a:buNone/>
            </a:pPr>
            <a:r>
              <a:rPr b="1" i="0" lang="en-US" sz="1500" u="none" cap="none" strike="noStrike">
                <a:solidFill>
                  <a:srgbClr val="344054"/>
                </a:solidFill>
                <a:latin typeface="Noto Sans"/>
                <a:ea typeface="Noto Sans"/>
                <a:cs typeface="Noto Sans"/>
                <a:sym typeface="Noto Sans"/>
              </a:rPr>
              <a:t>total synthetic v1</a:t>
            </a:r>
            <a:endParaRPr b="0" i="0" sz="1500" u="none" cap="none" strike="noStrike">
              <a:solidFill>
                <a:schemeClr val="dk1"/>
              </a:solidFill>
              <a:latin typeface="Noto Sans"/>
              <a:ea typeface="Noto Sans"/>
              <a:cs typeface="Noto Sans"/>
              <a:sym typeface="Noto Sans"/>
            </a:endParaRPr>
          </a:p>
        </p:txBody>
      </p:sp>
      <p:sp>
        <p:nvSpPr>
          <p:cNvPr id="258" name="Google Shape;258;p7"/>
          <p:cNvSpPr/>
          <p:nvPr/>
        </p:nvSpPr>
        <p:spPr>
          <a:xfrm>
            <a:off x="1742802" y="4615422"/>
            <a:ext cx="2164200" cy="163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15"/>
              <a:buFont typeface="Noto Sans"/>
              <a:buNone/>
            </a:pPr>
            <a:r>
              <a:rPr b="0" i="0" lang="en-US" sz="1216" u="none" cap="none" strike="noStrike">
                <a:solidFill>
                  <a:srgbClr val="667085"/>
                </a:solidFill>
                <a:latin typeface="Noto Sans"/>
                <a:ea typeface="Noto Sans"/>
                <a:cs typeface="Noto Sans"/>
                <a:sym typeface="Noto Sans"/>
              </a:rPr>
              <a:t>engine_room only</a:t>
            </a:r>
            <a:endParaRPr b="0" i="0" sz="1216" u="none" cap="none" strike="noStrike">
              <a:solidFill>
                <a:schemeClr val="dk1"/>
              </a:solidFill>
              <a:latin typeface="Noto Sans"/>
              <a:ea typeface="Noto Sans"/>
              <a:cs typeface="Noto Sans"/>
              <a:sym typeface="Noto Sans"/>
            </a:endParaRPr>
          </a:p>
        </p:txBody>
      </p:sp>
      <p:sp>
        <p:nvSpPr>
          <p:cNvPr id="259" name="Google Shape;259;p7"/>
          <p:cNvSpPr/>
          <p:nvPr/>
        </p:nvSpPr>
        <p:spPr>
          <a:xfrm>
            <a:off x="4704929" y="3619325"/>
            <a:ext cx="2576100" cy="1280100"/>
          </a:xfrm>
          <a:prstGeom prst="roundRect">
            <a:avLst>
              <a:gd fmla="val 7273" name="adj"/>
            </a:avLst>
          </a:prstGeom>
          <a:solidFill>
            <a:srgbClr val="FFFFFF"/>
          </a:solidFill>
          <a:ln cap="flat" cmpd="sng" w="10400">
            <a:solidFill>
              <a:srgbClr val="E4E7EC"/>
            </a:solidFill>
            <a:prstDash val="solid"/>
            <a:round/>
            <a:headEnd len="sm" w="sm" type="none"/>
            <a:tailEnd len="sm" w="sm" type="none"/>
          </a:ln>
        </p:spPr>
        <p:txBody>
          <a:bodyPr anchorCtr="0" anchor="ctr" bIns="99725" lIns="99725" spcFirstLastPara="1" rIns="99725" wrap="square" tIns="99725">
            <a:noAutofit/>
          </a:bodyPr>
          <a:lstStyle/>
          <a:p>
            <a:pPr indent="0" lvl="0" marL="0" rtl="0" algn="l">
              <a:spcBef>
                <a:spcPts val="0"/>
              </a:spcBef>
              <a:spcAft>
                <a:spcPts val="0"/>
              </a:spcAft>
              <a:buNone/>
            </a:pPr>
            <a:r>
              <a:t/>
            </a:r>
            <a:endParaRPr/>
          </a:p>
        </p:txBody>
      </p:sp>
      <p:sp>
        <p:nvSpPr>
          <p:cNvPr id="260" name="Google Shape;260;p7"/>
          <p:cNvSpPr/>
          <p:nvPr/>
        </p:nvSpPr>
        <p:spPr>
          <a:xfrm>
            <a:off x="4911031" y="3772929"/>
            <a:ext cx="2164200" cy="435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618"/>
              <a:buFont typeface="Noto Sans"/>
              <a:buNone/>
            </a:pPr>
            <a:r>
              <a:rPr b="1" i="0" lang="en-US" sz="2400" u="none" cap="none" strike="noStrike">
                <a:solidFill>
                  <a:srgbClr val="0B1F33"/>
                </a:solidFill>
                <a:latin typeface="Noto Sans"/>
                <a:ea typeface="Noto Sans"/>
                <a:cs typeface="Noto Sans"/>
                <a:sym typeface="Noto Sans"/>
              </a:rPr>
              <a:t>85 / 85</a:t>
            </a:r>
            <a:endParaRPr b="0" i="0" sz="2400" u="none" cap="none" strike="noStrike">
              <a:solidFill>
                <a:schemeClr val="dk1"/>
              </a:solidFill>
              <a:latin typeface="Noto Sans"/>
              <a:ea typeface="Noto Sans"/>
              <a:cs typeface="Noto Sans"/>
              <a:sym typeface="Noto Sans"/>
            </a:endParaRPr>
          </a:p>
        </p:txBody>
      </p:sp>
      <p:sp>
        <p:nvSpPr>
          <p:cNvPr id="261" name="Google Shape;261;p7"/>
          <p:cNvSpPr/>
          <p:nvPr/>
        </p:nvSpPr>
        <p:spPr>
          <a:xfrm>
            <a:off x="4911031" y="4283721"/>
            <a:ext cx="2164200" cy="256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45"/>
              <a:buFont typeface="Noto Sans"/>
              <a:buNone/>
            </a:pPr>
            <a:r>
              <a:rPr b="1" i="0" lang="en-US" sz="1500" u="none" cap="none" strike="noStrike">
                <a:solidFill>
                  <a:srgbClr val="344054"/>
                </a:solidFill>
                <a:latin typeface="Noto Sans"/>
                <a:ea typeface="Noto Sans"/>
                <a:cs typeface="Noto Sans"/>
                <a:sym typeface="Noto Sans"/>
              </a:rPr>
              <a:t>fire / smoke</a:t>
            </a:r>
            <a:endParaRPr b="0" i="0" sz="1500" u="none" cap="none" strike="noStrike">
              <a:solidFill>
                <a:schemeClr val="dk1"/>
              </a:solidFill>
              <a:latin typeface="Noto Sans"/>
              <a:ea typeface="Noto Sans"/>
              <a:cs typeface="Noto Sans"/>
              <a:sym typeface="Noto Sans"/>
            </a:endParaRPr>
          </a:p>
        </p:txBody>
      </p:sp>
      <p:sp>
        <p:nvSpPr>
          <p:cNvPr id="262" name="Google Shape;262;p7"/>
          <p:cNvSpPr/>
          <p:nvPr/>
        </p:nvSpPr>
        <p:spPr>
          <a:xfrm>
            <a:off x="4911031" y="4615422"/>
            <a:ext cx="2164200" cy="163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15"/>
              <a:buFont typeface="Noto Sans"/>
              <a:buNone/>
            </a:pPr>
            <a:r>
              <a:rPr b="0" i="0" lang="en-US" sz="1216" u="none" cap="none" strike="noStrike">
                <a:solidFill>
                  <a:srgbClr val="667085"/>
                </a:solidFill>
                <a:latin typeface="Noto Sans"/>
                <a:ea typeface="Noto Sans"/>
                <a:cs typeface="Noto Sans"/>
                <a:sym typeface="Noto Sans"/>
              </a:rPr>
              <a:t>balanced proxy classes</a:t>
            </a:r>
            <a:endParaRPr b="0" i="0" sz="1216" u="none" cap="none" strike="noStrike">
              <a:solidFill>
                <a:schemeClr val="dk1"/>
              </a:solidFill>
              <a:latin typeface="Noto Sans"/>
              <a:ea typeface="Noto Sans"/>
              <a:cs typeface="Noto Sans"/>
              <a:sym typeface="Noto Sans"/>
            </a:endParaRPr>
          </a:p>
        </p:txBody>
      </p:sp>
      <p:sp>
        <p:nvSpPr>
          <p:cNvPr id="263" name="Google Shape;263;p7"/>
          <p:cNvSpPr/>
          <p:nvPr/>
        </p:nvSpPr>
        <p:spPr>
          <a:xfrm>
            <a:off x="8078956" y="3619325"/>
            <a:ext cx="2576100" cy="1280100"/>
          </a:xfrm>
          <a:prstGeom prst="roundRect">
            <a:avLst>
              <a:gd fmla="val 7273" name="adj"/>
            </a:avLst>
          </a:prstGeom>
          <a:solidFill>
            <a:srgbClr val="FFFFFF"/>
          </a:solidFill>
          <a:ln cap="flat" cmpd="sng" w="10400">
            <a:solidFill>
              <a:srgbClr val="E4E7EC"/>
            </a:solidFill>
            <a:prstDash val="solid"/>
            <a:round/>
            <a:headEnd len="sm" w="sm" type="none"/>
            <a:tailEnd len="sm" w="sm" type="none"/>
          </a:ln>
        </p:spPr>
        <p:txBody>
          <a:bodyPr anchorCtr="0" anchor="ctr" bIns="99725" lIns="99725" spcFirstLastPara="1" rIns="99725" wrap="square" tIns="99725">
            <a:noAutofit/>
          </a:bodyPr>
          <a:lstStyle/>
          <a:p>
            <a:pPr indent="0" lvl="0" marL="0" rtl="0" algn="l">
              <a:spcBef>
                <a:spcPts val="0"/>
              </a:spcBef>
              <a:spcAft>
                <a:spcPts val="0"/>
              </a:spcAft>
              <a:buNone/>
            </a:pPr>
            <a:r>
              <a:t/>
            </a:r>
            <a:endParaRPr/>
          </a:p>
        </p:txBody>
      </p:sp>
      <p:sp>
        <p:nvSpPr>
          <p:cNvPr id="264" name="Google Shape;264;p7"/>
          <p:cNvSpPr/>
          <p:nvPr/>
        </p:nvSpPr>
        <p:spPr>
          <a:xfrm>
            <a:off x="8285058" y="3772929"/>
            <a:ext cx="2164200" cy="435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618"/>
              <a:buFont typeface="Noto Sans"/>
              <a:buNone/>
            </a:pPr>
            <a:r>
              <a:rPr b="1" i="0" lang="en-US" sz="2400" u="none" cap="none" strike="noStrike">
                <a:solidFill>
                  <a:srgbClr val="0B1F33"/>
                </a:solidFill>
                <a:latin typeface="Noto Sans"/>
                <a:ea typeface="Noto Sans"/>
                <a:cs typeface="Noto Sans"/>
                <a:sym typeface="Noto Sans"/>
              </a:rPr>
              <a:t>87 / 83</a:t>
            </a:r>
            <a:endParaRPr b="0" i="0" sz="2400" u="none" cap="none" strike="noStrike">
              <a:solidFill>
                <a:schemeClr val="dk1"/>
              </a:solidFill>
              <a:latin typeface="Noto Sans"/>
              <a:ea typeface="Noto Sans"/>
              <a:cs typeface="Noto Sans"/>
              <a:sym typeface="Noto Sans"/>
            </a:endParaRPr>
          </a:p>
        </p:txBody>
      </p:sp>
      <p:sp>
        <p:nvSpPr>
          <p:cNvPr id="265" name="Google Shape;265;p7"/>
          <p:cNvSpPr/>
          <p:nvPr/>
        </p:nvSpPr>
        <p:spPr>
          <a:xfrm>
            <a:off x="8285058" y="4283721"/>
            <a:ext cx="2164200" cy="256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45"/>
              <a:buFont typeface="Noto Sans"/>
              <a:buNone/>
            </a:pPr>
            <a:r>
              <a:rPr b="1" i="0" lang="en-US" sz="1500" u="none" cap="none" strike="noStrike">
                <a:solidFill>
                  <a:srgbClr val="344054"/>
                </a:solidFill>
                <a:latin typeface="Noto Sans"/>
                <a:ea typeface="Noto Sans"/>
                <a:cs typeface="Noto Sans"/>
                <a:sym typeface="Noto Sans"/>
              </a:rPr>
              <a:t>CQU / DFire</a:t>
            </a:r>
            <a:endParaRPr b="0" i="0" sz="1500" u="none" cap="none" strike="noStrike">
              <a:solidFill>
                <a:schemeClr val="dk1"/>
              </a:solidFill>
              <a:latin typeface="Noto Sans"/>
              <a:ea typeface="Noto Sans"/>
              <a:cs typeface="Noto Sans"/>
              <a:sym typeface="Noto Sans"/>
            </a:endParaRPr>
          </a:p>
        </p:txBody>
      </p:sp>
      <p:sp>
        <p:nvSpPr>
          <p:cNvPr id="266" name="Google Shape;266;p7"/>
          <p:cNvSpPr/>
          <p:nvPr/>
        </p:nvSpPr>
        <p:spPr>
          <a:xfrm>
            <a:off x="8285058" y="4615422"/>
            <a:ext cx="2164200" cy="163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15"/>
              <a:buFont typeface="Noto Sans"/>
              <a:buNone/>
            </a:pPr>
            <a:r>
              <a:rPr b="0" i="0" lang="en-US" sz="1216" u="none" cap="none" strike="noStrike">
                <a:solidFill>
                  <a:srgbClr val="667085"/>
                </a:solidFill>
                <a:latin typeface="Noto Sans"/>
                <a:ea typeface="Noto Sans"/>
                <a:cs typeface="Noto Sans"/>
                <a:sym typeface="Noto Sans"/>
              </a:rPr>
              <a:t>donor source balance</a:t>
            </a:r>
            <a:endParaRPr b="0" i="0" sz="1216" u="none" cap="none" strike="noStrike">
              <a:solidFill>
                <a:schemeClr val="dk1"/>
              </a:solidFill>
              <a:latin typeface="Noto Sans"/>
              <a:ea typeface="Noto Sans"/>
              <a:cs typeface="Noto Sans"/>
              <a:sym typeface="Noto Sans"/>
            </a:endParaRPr>
          </a:p>
        </p:txBody>
      </p:sp>
      <p:sp>
        <p:nvSpPr>
          <p:cNvPr id="267" name="Google Shape;267;p7"/>
          <p:cNvSpPr/>
          <p:nvPr/>
        </p:nvSpPr>
        <p:spPr>
          <a:xfrm>
            <a:off x="960120" y="5384938"/>
            <a:ext cx="10149900" cy="548700"/>
          </a:xfrm>
          <a:prstGeom prst="roundRect">
            <a:avLst>
              <a:gd fmla="val 10000" name="adj"/>
            </a:avLst>
          </a:prstGeom>
          <a:solidFill>
            <a:srgbClr val="F4EEE1"/>
          </a:solidFill>
          <a:ln cap="flat" cmpd="sng" w="9525">
            <a:solidFill>
              <a:srgbClr val="F4EEE1"/>
            </a:solidFill>
            <a:prstDash val="solid"/>
            <a:round/>
            <a:headEnd len="sm" w="sm" type="none"/>
            <a:tailEnd len="sm" w="sm" type="none"/>
          </a:ln>
        </p:spPr>
        <p:txBody>
          <a:bodyPr anchorCtr="0" anchor="ctr" bIns="1000" lIns="1000" spcFirstLastPara="1" rIns="1000" wrap="square" tIns="1000">
            <a:normAutofit/>
          </a:bodyPr>
          <a:lstStyle/>
          <a:p>
            <a:pPr indent="0" lvl="0" marL="0" marR="0" rtl="0" algn="ctr">
              <a:spcBef>
                <a:spcPts val="0"/>
              </a:spcBef>
              <a:spcAft>
                <a:spcPts val="0"/>
              </a:spcAft>
              <a:buClr>
                <a:srgbClr val="A77918"/>
              </a:buClr>
              <a:buSzPts val="1100"/>
              <a:buFont typeface="Noto Sans"/>
              <a:buNone/>
            </a:pPr>
            <a:r>
              <a:rPr b="1" i="0" lang="en-US" sz="1300" u="none" cap="none" strike="noStrike">
                <a:solidFill>
                  <a:srgbClr val="A77918"/>
                </a:solidFill>
                <a:latin typeface="Noto Sans"/>
                <a:ea typeface="Noto Sans"/>
                <a:cs typeface="Noto Sans"/>
                <a:sym typeface="Noto Sans"/>
              </a:rPr>
              <a:t>Boundary: synthetic v</a:t>
            </a:r>
            <a:r>
              <a:rPr b="1" lang="en-US" sz="1300">
                <a:solidFill>
                  <a:srgbClr val="A77918"/>
                </a:solidFill>
                <a:latin typeface="Noto Sans"/>
                <a:ea typeface="Noto Sans"/>
                <a:cs typeface="Noto Sans"/>
                <a:sym typeface="Noto Sans"/>
              </a:rPr>
              <a:t>1의 사</a:t>
            </a:r>
            <a:r>
              <a:rPr b="1" i="0" lang="en-US" sz="1300" u="none" cap="none" strike="noStrike">
                <a:solidFill>
                  <a:srgbClr val="A77918"/>
                </a:solidFill>
                <a:latin typeface="Noto Sans"/>
                <a:ea typeface="Noto Sans"/>
                <a:cs typeface="Noto Sans"/>
                <a:sym typeface="Noto Sans"/>
              </a:rPr>
              <a:t>실성·물리 정합성 최적화는 후속 연구 범위</a:t>
            </a:r>
            <a:endParaRPr b="0" i="0" sz="1300" u="none" cap="none" strike="noStrike">
              <a:solidFill>
                <a:schemeClr val="dk1"/>
              </a:solidFill>
              <a:latin typeface="Noto Sans"/>
              <a:ea typeface="Noto Sans"/>
              <a:cs typeface="Noto Sans"/>
              <a:sym typeface="No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2" name="Shape 272"/>
        <p:cNvGrpSpPr/>
        <p:nvPr/>
      </p:nvGrpSpPr>
      <p:grpSpPr>
        <a:xfrm>
          <a:off x="0" y="0"/>
          <a:ext cx="0" cy="0"/>
          <a:chOff x="0" y="0"/>
          <a:chExt cx="0" cy="0"/>
        </a:xfrm>
      </p:grpSpPr>
      <p:sp>
        <p:nvSpPr>
          <p:cNvPr id="273" name="Google Shape;273;p8"/>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04 / Evaluation protocol</a:t>
            </a:r>
            <a:endParaRPr b="0" i="0" sz="850" u="none" cap="none" strike="noStrike">
              <a:solidFill>
                <a:schemeClr val="dk1"/>
              </a:solidFill>
              <a:latin typeface="Noto Sans"/>
              <a:ea typeface="Noto Sans"/>
              <a:cs typeface="Noto Sans"/>
              <a:sym typeface="Noto Sans"/>
            </a:endParaRPr>
          </a:p>
        </p:txBody>
      </p:sp>
      <p:sp>
        <p:nvSpPr>
          <p:cNvPr id="274" name="Google Shape;274;p8"/>
          <p:cNvSpPr/>
          <p:nvPr/>
        </p:nvSpPr>
        <p:spPr>
          <a:xfrm>
            <a:off x="512076" y="475500"/>
            <a:ext cx="10552200" cy="384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Evaluation design: sanity-check와 failure-mode 측정</a:t>
            </a:r>
            <a:endParaRPr b="0" i="0" sz="2450" u="none" cap="none" strike="noStrike">
              <a:solidFill>
                <a:schemeClr val="dk1"/>
              </a:solidFill>
              <a:latin typeface="Noto Sans"/>
              <a:ea typeface="Noto Sans"/>
              <a:cs typeface="Noto Sans"/>
              <a:sym typeface="Noto Sans"/>
            </a:endParaRPr>
          </a:p>
        </p:txBody>
      </p:sp>
      <p:sp>
        <p:nvSpPr>
          <p:cNvPr id="275" name="Google Shape;275;p8"/>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08</a:t>
            </a:r>
            <a:endParaRPr b="0" i="0" sz="800" u="none" cap="none" strike="noStrike">
              <a:solidFill>
                <a:schemeClr val="dk1"/>
              </a:solidFill>
              <a:latin typeface="Noto Sans"/>
              <a:ea typeface="Noto Sans"/>
              <a:cs typeface="Noto Sans"/>
              <a:sym typeface="Noto Sans"/>
            </a:endParaRPr>
          </a:p>
        </p:txBody>
      </p:sp>
      <p:cxnSp>
        <p:nvCxnSpPr>
          <p:cNvPr id="276" name="Google Shape;276;p8"/>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277" name="Google Shape;277;p8"/>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278" name="Google Shape;278;p8"/>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279" name="Google Shape;279;p8"/>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8</a:t>
            </a:r>
            <a:endParaRPr b="0" i="0" sz="720" u="none" cap="none" strike="noStrike">
              <a:solidFill>
                <a:schemeClr val="dk1"/>
              </a:solidFill>
              <a:latin typeface="Noto Sans"/>
              <a:ea typeface="Noto Sans"/>
              <a:cs typeface="Noto Sans"/>
              <a:sym typeface="Noto Sans"/>
            </a:endParaRPr>
          </a:p>
        </p:txBody>
      </p:sp>
      <p:sp>
        <p:nvSpPr>
          <p:cNvPr id="280" name="Google Shape;280;p8"/>
          <p:cNvSpPr/>
          <p:nvPr/>
        </p:nvSpPr>
        <p:spPr>
          <a:xfrm>
            <a:off x="512064" y="1069848"/>
            <a:ext cx="1069848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40"/>
              <a:buFont typeface="Noto Sans"/>
              <a:buNone/>
            </a:pPr>
            <a:r>
              <a:rPr i="0" lang="en-US" sz="1540" u="none" cap="none" strike="noStrike">
                <a:solidFill>
                  <a:srgbClr val="0B1F33"/>
                </a:solidFill>
                <a:latin typeface="Noto Sans"/>
                <a:ea typeface="Noto Sans"/>
                <a:cs typeface="Noto Sans"/>
                <a:sym typeface="Noto Sans"/>
              </a:rPr>
              <a:t>합성 proxy를 테스트에 사용하더라도, 이를 실제 성능 정확도로 해석하지 않고</a:t>
            </a:r>
            <a:endParaRPr i="0" sz="154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0B1F33"/>
              </a:buClr>
              <a:buSzPts val="1540"/>
              <a:buFont typeface="Noto Sans"/>
              <a:buNone/>
            </a:pPr>
            <a:r>
              <a:rPr b="1" i="0" lang="en-US" sz="1540" u="none" cap="none" strike="noStrike">
                <a:solidFill>
                  <a:srgbClr val="0B1F33"/>
                </a:solidFill>
                <a:latin typeface="Noto Sans"/>
                <a:ea typeface="Noto Sans"/>
                <a:cs typeface="Noto Sans"/>
                <a:sym typeface="Noto Sans"/>
              </a:rPr>
              <a:t>held-out proxy hit-rate와 독립 hard-negative false alarm</a:t>
            </a:r>
            <a:r>
              <a:rPr i="0" lang="en-US" sz="1540" u="none" cap="none" strike="noStrike">
                <a:solidFill>
                  <a:srgbClr val="0B1F33"/>
                </a:solidFill>
                <a:latin typeface="Noto Sans"/>
                <a:ea typeface="Noto Sans"/>
                <a:cs typeface="Noto Sans"/>
                <a:sym typeface="Noto Sans"/>
              </a:rPr>
              <a:t>을 분리해 보고</a:t>
            </a:r>
            <a:endParaRPr i="0" sz="1540" u="none" cap="none" strike="noStrike">
              <a:solidFill>
                <a:schemeClr val="dk1"/>
              </a:solidFill>
              <a:latin typeface="Noto Sans"/>
              <a:ea typeface="Noto Sans"/>
              <a:cs typeface="Noto Sans"/>
              <a:sym typeface="Noto Sans"/>
            </a:endParaRPr>
          </a:p>
        </p:txBody>
      </p:sp>
      <p:cxnSp>
        <p:nvCxnSpPr>
          <p:cNvPr id="281" name="Google Shape;281;p8"/>
          <p:cNvCxnSpPr/>
          <p:nvPr/>
        </p:nvCxnSpPr>
        <p:spPr>
          <a:xfrm>
            <a:off x="2849713" y="2468880"/>
            <a:ext cx="1097400" cy="0"/>
          </a:xfrm>
          <a:prstGeom prst="straightConnector1">
            <a:avLst/>
          </a:prstGeom>
          <a:noFill/>
          <a:ln cap="flat" cmpd="sng" w="12700">
            <a:solidFill>
              <a:srgbClr val="D0D5DD"/>
            </a:solidFill>
            <a:prstDash val="solid"/>
            <a:round/>
            <a:headEnd len="sm" w="sm" type="none"/>
            <a:tailEnd len="med" w="med" type="triangle"/>
          </a:ln>
        </p:spPr>
      </p:cxnSp>
      <p:cxnSp>
        <p:nvCxnSpPr>
          <p:cNvPr id="282" name="Google Shape;282;p8"/>
          <p:cNvCxnSpPr/>
          <p:nvPr/>
        </p:nvCxnSpPr>
        <p:spPr>
          <a:xfrm>
            <a:off x="5592913" y="2468880"/>
            <a:ext cx="1051500" cy="0"/>
          </a:xfrm>
          <a:prstGeom prst="straightConnector1">
            <a:avLst/>
          </a:prstGeom>
          <a:noFill/>
          <a:ln cap="flat" cmpd="sng" w="12700">
            <a:solidFill>
              <a:srgbClr val="D0D5DD"/>
            </a:solidFill>
            <a:prstDash val="solid"/>
            <a:round/>
            <a:headEnd len="sm" w="sm" type="none"/>
            <a:tailEnd len="med" w="med" type="triangle"/>
          </a:ln>
        </p:spPr>
      </p:cxnSp>
      <p:cxnSp>
        <p:nvCxnSpPr>
          <p:cNvPr id="283" name="Google Shape;283;p8"/>
          <p:cNvCxnSpPr/>
          <p:nvPr/>
        </p:nvCxnSpPr>
        <p:spPr>
          <a:xfrm>
            <a:off x="8290393" y="2468880"/>
            <a:ext cx="1051500" cy="0"/>
          </a:xfrm>
          <a:prstGeom prst="straightConnector1">
            <a:avLst/>
          </a:prstGeom>
          <a:noFill/>
          <a:ln cap="flat" cmpd="sng" w="12700">
            <a:solidFill>
              <a:srgbClr val="D0D5DD"/>
            </a:solidFill>
            <a:prstDash val="solid"/>
            <a:round/>
            <a:headEnd len="sm" w="sm" type="none"/>
            <a:tailEnd len="med" w="med" type="triangle"/>
          </a:ln>
        </p:spPr>
      </p:cxnSp>
      <p:sp>
        <p:nvSpPr>
          <p:cNvPr id="284" name="Google Shape;284;p8"/>
          <p:cNvSpPr/>
          <p:nvPr/>
        </p:nvSpPr>
        <p:spPr>
          <a:xfrm>
            <a:off x="883753" y="1847088"/>
            <a:ext cx="1920300" cy="1234500"/>
          </a:xfrm>
          <a:prstGeom prst="roundRect">
            <a:avLst>
              <a:gd fmla="val 5185"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020"/>
              <a:buFont typeface="Noto Sans"/>
              <a:buNone/>
            </a:pPr>
            <a:r>
              <a:rPr b="1" i="0" lang="en-US" u="none" cap="none" strike="noStrike">
                <a:solidFill>
                  <a:srgbClr val="1D2939"/>
                </a:solidFill>
                <a:latin typeface="Noto Sans"/>
                <a:ea typeface="Noto Sans"/>
                <a:cs typeface="Noto Sans"/>
                <a:sym typeface="Noto Sans"/>
              </a:rPr>
              <a:t>Donor + ship-like</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20"/>
              <a:buFont typeface="Noto Sans"/>
              <a:buNone/>
            </a:pPr>
            <a:r>
              <a:rPr b="1" i="0" lang="en-US" u="none" cap="none" strike="noStrike">
                <a:solidFill>
                  <a:srgbClr val="1D2939"/>
                </a:solidFill>
                <a:latin typeface="Noto Sans"/>
                <a:ea typeface="Noto Sans"/>
                <a:cs typeface="Noto Sans"/>
                <a:sym typeface="Noto Sans"/>
              </a:rPr>
              <a:t>construction</a:t>
            </a:r>
            <a:endParaRPr b="0" i="0" u="none" cap="none" strike="noStrike">
              <a:solidFill>
                <a:schemeClr val="dk1"/>
              </a:solidFill>
              <a:latin typeface="Noto Sans"/>
              <a:ea typeface="Noto Sans"/>
              <a:cs typeface="Noto Sans"/>
              <a:sym typeface="Noto Sans"/>
            </a:endParaRPr>
          </a:p>
        </p:txBody>
      </p:sp>
      <p:sp>
        <p:nvSpPr>
          <p:cNvPr id="285" name="Google Shape;285;p8"/>
          <p:cNvSpPr/>
          <p:nvPr/>
        </p:nvSpPr>
        <p:spPr>
          <a:xfrm>
            <a:off x="3764113" y="1847088"/>
            <a:ext cx="1920300" cy="1234500"/>
          </a:xfrm>
          <a:prstGeom prst="roundRect">
            <a:avLst>
              <a:gd fmla="val 5185"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020"/>
              <a:buFont typeface="Noto Sans"/>
              <a:buNone/>
            </a:pPr>
            <a:r>
              <a:rPr b="1" i="0" lang="en-US" u="none" cap="none" strike="noStrike">
                <a:solidFill>
                  <a:srgbClr val="1D2939"/>
                </a:solidFill>
                <a:latin typeface="Noto Sans"/>
                <a:ea typeface="Noto Sans"/>
                <a:cs typeface="Noto Sans"/>
                <a:sym typeface="Noto Sans"/>
              </a:rPr>
              <a:t>Train / validation</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20"/>
              <a:buFont typeface="Noto Sans"/>
              <a:buNone/>
            </a:pPr>
            <a:r>
              <a:rPr b="1" i="0" lang="en-US" u="none" cap="none" strike="noStrike">
                <a:solidFill>
                  <a:srgbClr val="1D2939"/>
                </a:solidFill>
                <a:latin typeface="Noto Sans"/>
                <a:ea typeface="Noto Sans"/>
                <a:cs typeface="Noto Sans"/>
                <a:sym typeface="Noto Sans"/>
              </a:rPr>
              <a:t>1,838 / 464 images</a:t>
            </a:r>
            <a:endParaRPr b="0" i="0" u="none" cap="none" strike="noStrike">
              <a:solidFill>
                <a:schemeClr val="dk1"/>
              </a:solidFill>
              <a:latin typeface="Noto Sans"/>
              <a:ea typeface="Noto Sans"/>
              <a:cs typeface="Noto Sans"/>
              <a:sym typeface="Noto Sans"/>
            </a:endParaRPr>
          </a:p>
        </p:txBody>
      </p:sp>
      <p:sp>
        <p:nvSpPr>
          <p:cNvPr id="286" name="Google Shape;286;p8"/>
          <p:cNvSpPr/>
          <p:nvPr/>
        </p:nvSpPr>
        <p:spPr>
          <a:xfrm>
            <a:off x="6507313" y="1847088"/>
            <a:ext cx="1920300" cy="1234500"/>
          </a:xfrm>
          <a:prstGeom prst="roundRect">
            <a:avLst>
              <a:gd fmla="val 5185" name="adj"/>
            </a:avLst>
          </a:prstGeom>
          <a:solidFill>
            <a:srgbClr val="EAF2FA"/>
          </a:solidFill>
          <a:ln cap="flat" cmpd="sng" w="9525">
            <a:solidFill>
              <a:srgbClr val="496E94"/>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0B1F33"/>
              </a:buClr>
              <a:buSzPts val="1020"/>
              <a:buFont typeface="Noto Sans"/>
              <a:buNone/>
            </a:pPr>
            <a:r>
              <a:rPr b="1" i="0" lang="en-US" u="none" cap="none" strike="noStrike">
                <a:solidFill>
                  <a:srgbClr val="0B1F33"/>
                </a:solidFill>
                <a:latin typeface="Noto Sans"/>
                <a:ea typeface="Noto Sans"/>
                <a:cs typeface="Noto Sans"/>
                <a:sym typeface="Noto Sans"/>
              </a:rPr>
              <a:t>Held-out synthetic</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20"/>
              <a:buFont typeface="Noto Sans"/>
              <a:buNone/>
            </a:pPr>
            <a:r>
              <a:rPr b="1" i="0" lang="en-US" u="none" cap="none" strike="noStrike">
                <a:solidFill>
                  <a:srgbClr val="0B1F33"/>
                </a:solidFill>
                <a:latin typeface="Noto Sans"/>
                <a:ea typeface="Noto Sans"/>
                <a:cs typeface="Noto Sans"/>
                <a:sym typeface="Noto Sans"/>
              </a:rPr>
              <a:t>proxy eval · 34 images</a:t>
            </a:r>
            <a:endParaRPr b="0" i="0" u="none" cap="none" strike="noStrike">
              <a:solidFill>
                <a:schemeClr val="dk1"/>
              </a:solidFill>
              <a:latin typeface="Noto Sans"/>
              <a:ea typeface="Noto Sans"/>
              <a:cs typeface="Noto Sans"/>
              <a:sym typeface="Noto Sans"/>
            </a:endParaRPr>
          </a:p>
        </p:txBody>
      </p:sp>
      <p:sp>
        <p:nvSpPr>
          <p:cNvPr id="287" name="Google Shape;287;p8"/>
          <p:cNvSpPr/>
          <p:nvPr/>
        </p:nvSpPr>
        <p:spPr>
          <a:xfrm>
            <a:off x="9250513" y="1847088"/>
            <a:ext cx="2057400" cy="1234500"/>
          </a:xfrm>
          <a:prstGeom prst="roundRect">
            <a:avLst>
              <a:gd fmla="val 5185" name="adj"/>
            </a:avLst>
          </a:prstGeom>
          <a:solidFill>
            <a:srgbClr val="F4EEE1"/>
          </a:solidFill>
          <a:ln cap="flat" cmpd="sng" w="9525">
            <a:solidFill>
              <a:srgbClr val="A77918"/>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020"/>
              <a:buFont typeface="Noto Sans"/>
              <a:buNone/>
            </a:pPr>
            <a:r>
              <a:rPr b="1" i="0" lang="en-US" u="none" cap="none" strike="noStrike">
                <a:solidFill>
                  <a:srgbClr val="1D2939"/>
                </a:solidFill>
                <a:latin typeface="Noto Sans"/>
                <a:ea typeface="Noto Sans"/>
                <a:cs typeface="Noto Sans"/>
                <a:sym typeface="Noto Sans"/>
              </a:rPr>
              <a:t>Hard-negative</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20"/>
              <a:buFont typeface="Noto Sans"/>
              <a:buNone/>
            </a:pPr>
            <a:r>
              <a:rPr b="1" i="0" lang="en-US" u="none" cap="none" strike="noStrike">
                <a:solidFill>
                  <a:srgbClr val="1D2939"/>
                </a:solidFill>
                <a:latin typeface="Noto Sans"/>
                <a:ea typeface="Noto Sans"/>
                <a:cs typeface="Noto Sans"/>
                <a:sym typeface="Noto Sans"/>
              </a:rPr>
              <a:t>non-fire eval · 127 frames</a:t>
            </a:r>
            <a:endParaRPr b="0" i="0" u="none" cap="none" strike="noStrike">
              <a:solidFill>
                <a:schemeClr val="dk1"/>
              </a:solidFill>
              <a:latin typeface="Noto Sans"/>
              <a:ea typeface="Noto Sans"/>
              <a:cs typeface="Noto Sans"/>
              <a:sym typeface="Noto Sans"/>
            </a:endParaRPr>
          </a:p>
        </p:txBody>
      </p:sp>
      <p:sp>
        <p:nvSpPr>
          <p:cNvPr id="288" name="Google Shape;288;p8"/>
          <p:cNvSpPr/>
          <p:nvPr/>
        </p:nvSpPr>
        <p:spPr>
          <a:xfrm>
            <a:off x="1841250" y="3834125"/>
            <a:ext cx="8509200" cy="1554000"/>
          </a:xfrm>
          <a:prstGeom prst="roundRect">
            <a:avLst>
              <a:gd fmla="val 5161" name="adj"/>
            </a:avLst>
          </a:prstGeom>
          <a:solidFill>
            <a:srgbClr val="FFFFFF"/>
          </a:solidFill>
          <a:ln cap="flat" cmpd="sng" w="11550">
            <a:solidFill>
              <a:srgbClr val="E4E7EC"/>
            </a:solidFill>
            <a:prstDash val="solid"/>
            <a:round/>
            <a:headEnd len="sm" w="sm" type="none"/>
            <a:tailEnd len="sm" w="sm" type="none"/>
          </a:ln>
        </p:spPr>
        <p:txBody>
          <a:bodyPr anchorCtr="0" anchor="ctr" bIns="110925" lIns="110925" spcFirstLastPara="1" rIns="110925" wrap="square" tIns="110925">
            <a:noAutofit/>
          </a:bodyPr>
          <a:lstStyle/>
          <a:p>
            <a:pPr indent="0" lvl="0" marL="0" rtl="0" algn="l">
              <a:spcBef>
                <a:spcPts val="0"/>
              </a:spcBef>
              <a:spcAft>
                <a:spcPts val="0"/>
              </a:spcAft>
              <a:buNone/>
            </a:pPr>
            <a:r>
              <a:t/>
            </a:r>
            <a:endParaRPr/>
          </a:p>
        </p:txBody>
      </p:sp>
      <p:sp>
        <p:nvSpPr>
          <p:cNvPr id="289" name="Google Shape;289;p8"/>
          <p:cNvSpPr/>
          <p:nvPr/>
        </p:nvSpPr>
        <p:spPr>
          <a:xfrm>
            <a:off x="2301187" y="3946471"/>
            <a:ext cx="7512600" cy="27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602"/>
              <a:buFont typeface="Noto Sans"/>
              <a:buNone/>
            </a:pPr>
            <a:r>
              <a:rPr b="1" i="0" lang="en-US" sz="2002" u="none" cap="none" strike="noStrike">
                <a:solidFill>
                  <a:srgbClr val="0B1F33"/>
                </a:solidFill>
                <a:latin typeface="Noto Sans"/>
                <a:ea typeface="Noto Sans"/>
                <a:cs typeface="Noto Sans"/>
                <a:sym typeface="Noto Sans"/>
              </a:rPr>
              <a:t>Bias-control interpretation</a:t>
            </a:r>
            <a:endParaRPr b="0" i="0" sz="2002" u="none" cap="none" strike="noStrike">
              <a:solidFill>
                <a:schemeClr val="dk1"/>
              </a:solidFill>
              <a:latin typeface="Noto Sans"/>
              <a:ea typeface="Noto Sans"/>
              <a:cs typeface="Noto Sans"/>
              <a:sym typeface="Noto Sans"/>
            </a:endParaRPr>
          </a:p>
        </p:txBody>
      </p:sp>
      <p:sp>
        <p:nvSpPr>
          <p:cNvPr id="290" name="Google Shape;290;p8"/>
          <p:cNvSpPr/>
          <p:nvPr/>
        </p:nvSpPr>
        <p:spPr>
          <a:xfrm>
            <a:off x="2377845" y="4351465"/>
            <a:ext cx="7512600" cy="222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04"/>
              <a:buFont typeface="Noto Sans"/>
              <a:buNone/>
            </a:pPr>
            <a:r>
              <a:rPr b="0" i="0" lang="en-US" sz="1504" u="none" cap="none" strike="noStrike">
                <a:solidFill>
                  <a:srgbClr val="344054"/>
                </a:solidFill>
                <a:latin typeface="Noto Sans"/>
                <a:ea typeface="Noto Sans"/>
                <a:cs typeface="Noto Sans"/>
                <a:sym typeface="Noto Sans"/>
              </a:rPr>
              <a:t>• asset-level split 우선 적용으로 동일 asset 누출 완화</a:t>
            </a:r>
            <a:endParaRPr b="0" i="0" sz="1504" u="none" cap="none" strike="noStrike">
              <a:solidFill>
                <a:schemeClr val="dk1"/>
              </a:solidFill>
              <a:latin typeface="Noto Sans"/>
              <a:ea typeface="Noto Sans"/>
              <a:cs typeface="Noto Sans"/>
              <a:sym typeface="Noto Sans"/>
            </a:endParaRPr>
          </a:p>
        </p:txBody>
      </p:sp>
      <p:sp>
        <p:nvSpPr>
          <p:cNvPr id="291" name="Google Shape;291;p8"/>
          <p:cNvSpPr/>
          <p:nvPr/>
        </p:nvSpPr>
        <p:spPr>
          <a:xfrm>
            <a:off x="2377845" y="4700964"/>
            <a:ext cx="7512600" cy="222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04"/>
              <a:buFont typeface="Noto Sans"/>
              <a:buNone/>
            </a:pPr>
            <a:r>
              <a:rPr b="0" i="0" lang="en-US" sz="1504" u="none" cap="none" strike="noStrike">
                <a:solidFill>
                  <a:srgbClr val="344054"/>
                </a:solidFill>
                <a:latin typeface="Noto Sans"/>
                <a:ea typeface="Noto Sans"/>
                <a:cs typeface="Noto Sans"/>
                <a:sym typeface="Noto Sans"/>
              </a:rPr>
              <a:t>• held-out synthetic은 “proxy hit-rate”로만 해석</a:t>
            </a:r>
            <a:endParaRPr b="0" i="0" sz="1504" u="none" cap="none" strike="noStrike">
              <a:solidFill>
                <a:schemeClr val="dk1"/>
              </a:solidFill>
              <a:latin typeface="Noto Sans"/>
              <a:ea typeface="Noto Sans"/>
              <a:cs typeface="Noto Sans"/>
              <a:sym typeface="Noto Sans"/>
            </a:endParaRPr>
          </a:p>
        </p:txBody>
      </p:sp>
      <p:sp>
        <p:nvSpPr>
          <p:cNvPr id="292" name="Google Shape;292;p8"/>
          <p:cNvSpPr/>
          <p:nvPr/>
        </p:nvSpPr>
        <p:spPr>
          <a:xfrm>
            <a:off x="2377845" y="5050463"/>
            <a:ext cx="7512600" cy="222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04"/>
              <a:buFont typeface="Noto Sans"/>
              <a:buNone/>
            </a:pPr>
            <a:r>
              <a:rPr b="0" i="0" lang="en-US" sz="1504" u="none" cap="none" strike="noStrike">
                <a:solidFill>
                  <a:srgbClr val="344054"/>
                </a:solidFill>
                <a:latin typeface="Noto Sans"/>
                <a:ea typeface="Noto Sans"/>
                <a:cs typeface="Noto Sans"/>
                <a:sym typeface="Noto Sans"/>
              </a:rPr>
              <a:t>• hard-negative set은 non-fire 공개 ship-like frame에서 오탐을 직접 측정</a:t>
            </a:r>
            <a:endParaRPr b="0" i="0" sz="1504" u="none" cap="none" strike="noStrike">
              <a:solidFill>
                <a:schemeClr val="dk1"/>
              </a:solidFill>
              <a:latin typeface="Noto Sans"/>
              <a:ea typeface="Noto Sans"/>
              <a:cs typeface="Noto Sans"/>
              <a:sym typeface="No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7" name="Shape 297"/>
        <p:cNvGrpSpPr/>
        <p:nvPr/>
      </p:nvGrpSpPr>
      <p:grpSpPr>
        <a:xfrm>
          <a:off x="0" y="0"/>
          <a:ext cx="0" cy="0"/>
          <a:chOff x="0" y="0"/>
          <a:chExt cx="0" cy="0"/>
        </a:xfrm>
      </p:grpSpPr>
      <p:sp>
        <p:nvSpPr>
          <p:cNvPr id="298" name="Google Shape;298;p9"/>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05 / System design</a:t>
            </a:r>
            <a:endParaRPr b="0" i="0" sz="850" u="none" cap="none" strike="noStrike">
              <a:solidFill>
                <a:schemeClr val="dk1"/>
              </a:solidFill>
              <a:latin typeface="Noto Sans"/>
              <a:ea typeface="Noto Sans"/>
              <a:cs typeface="Noto Sans"/>
              <a:sym typeface="Noto Sans"/>
            </a:endParaRPr>
          </a:p>
        </p:txBody>
      </p:sp>
      <p:sp>
        <p:nvSpPr>
          <p:cNvPr id="299" name="Google Shape;299;p9"/>
          <p:cNvSpPr/>
          <p:nvPr/>
        </p:nvSpPr>
        <p:spPr>
          <a:xfrm>
            <a:off x="512064" y="475488"/>
            <a:ext cx="9875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Prototype architecture: ingest–filter–detect–verify–alert</a:t>
            </a:r>
            <a:endParaRPr b="0" i="0" sz="2450" u="none" cap="none" strike="noStrike">
              <a:solidFill>
                <a:schemeClr val="dk1"/>
              </a:solidFill>
              <a:latin typeface="Noto Sans"/>
              <a:ea typeface="Noto Sans"/>
              <a:cs typeface="Noto Sans"/>
              <a:sym typeface="Noto Sans"/>
            </a:endParaRPr>
          </a:p>
        </p:txBody>
      </p:sp>
      <p:sp>
        <p:nvSpPr>
          <p:cNvPr id="300" name="Google Shape;300;p9"/>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09</a:t>
            </a:r>
            <a:endParaRPr b="0" i="0" sz="800" u="none" cap="none" strike="noStrike">
              <a:solidFill>
                <a:schemeClr val="dk1"/>
              </a:solidFill>
              <a:latin typeface="Noto Sans"/>
              <a:ea typeface="Noto Sans"/>
              <a:cs typeface="Noto Sans"/>
              <a:sym typeface="Noto Sans"/>
            </a:endParaRPr>
          </a:p>
        </p:txBody>
      </p:sp>
      <p:cxnSp>
        <p:nvCxnSpPr>
          <p:cNvPr id="301" name="Google Shape;301;p9"/>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302" name="Google Shape;302;p9"/>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303" name="Google Shape;303;p9"/>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304" name="Google Shape;304;p9"/>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9</a:t>
            </a:r>
            <a:endParaRPr b="0" i="0" sz="720" u="none" cap="none" strike="noStrike">
              <a:solidFill>
                <a:schemeClr val="dk1"/>
              </a:solidFill>
              <a:latin typeface="Noto Sans"/>
              <a:ea typeface="Noto Sans"/>
              <a:cs typeface="Noto Sans"/>
              <a:sym typeface="Noto Sans"/>
            </a:endParaRPr>
          </a:p>
        </p:txBody>
      </p:sp>
      <p:sp>
        <p:nvSpPr>
          <p:cNvPr id="305" name="Google Shape;305;p9"/>
          <p:cNvSpPr/>
          <p:nvPr/>
        </p:nvSpPr>
        <p:spPr>
          <a:xfrm>
            <a:off x="512064" y="1069848"/>
            <a:ext cx="1088136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80"/>
              <a:buFont typeface="Noto Sans"/>
              <a:buNone/>
            </a:pPr>
            <a:r>
              <a:rPr i="0" lang="en-US" sz="1580" u="none" cap="none" strike="noStrike">
                <a:solidFill>
                  <a:srgbClr val="0B1F33"/>
                </a:solidFill>
                <a:latin typeface="Noto Sans"/>
                <a:ea typeface="Noto Sans"/>
                <a:cs typeface="Noto Sans"/>
                <a:sym typeface="Noto Sans"/>
              </a:rPr>
              <a:t>다중 MP4 stream을 NVR-style로 입력하고, cheap filter와 detector, temporal verifier를 거쳐 사건 증거를 저장</a:t>
            </a:r>
            <a:endParaRPr i="0" sz="1580" u="none" cap="none" strike="noStrike">
              <a:solidFill>
                <a:schemeClr val="dk1"/>
              </a:solidFill>
              <a:latin typeface="Noto Sans"/>
              <a:ea typeface="Noto Sans"/>
              <a:cs typeface="Noto Sans"/>
              <a:sym typeface="Noto Sans"/>
            </a:endParaRPr>
          </a:p>
        </p:txBody>
      </p:sp>
      <p:sp>
        <p:nvSpPr>
          <p:cNvPr id="306" name="Google Shape;306;p9"/>
          <p:cNvSpPr/>
          <p:nvPr/>
        </p:nvSpPr>
        <p:spPr>
          <a:xfrm>
            <a:off x="731520" y="1828800"/>
            <a:ext cx="2103120" cy="3566160"/>
          </a:xfrm>
          <a:prstGeom prst="roundRect">
            <a:avLst>
              <a:gd fmla="val 3478"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p:nvPr/>
        </p:nvSpPr>
        <p:spPr>
          <a:xfrm>
            <a:off x="896112" y="1993392"/>
            <a:ext cx="177393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D8C"/>
              </a:buClr>
              <a:buSzPts val="1070"/>
              <a:buFont typeface="Noto Sans"/>
              <a:buNone/>
            </a:pPr>
            <a:r>
              <a:rPr b="1" i="0" lang="en-US" sz="1500" u="none" cap="none" strike="noStrike">
                <a:solidFill>
                  <a:srgbClr val="2F5D8C"/>
                </a:solidFill>
                <a:latin typeface="Noto Sans"/>
                <a:ea typeface="Noto Sans"/>
                <a:cs typeface="Noto Sans"/>
                <a:sym typeface="Noto Sans"/>
              </a:rPr>
              <a:t>Input streams</a:t>
            </a:r>
            <a:endParaRPr b="0" i="0" sz="1500" u="none" cap="none" strike="noStrike">
              <a:solidFill>
                <a:schemeClr val="dk1"/>
              </a:solidFill>
              <a:latin typeface="Noto Sans"/>
              <a:ea typeface="Noto Sans"/>
              <a:cs typeface="Noto Sans"/>
              <a:sym typeface="Noto Sans"/>
            </a:endParaRPr>
          </a:p>
        </p:txBody>
      </p:sp>
      <p:sp>
        <p:nvSpPr>
          <p:cNvPr id="308" name="Google Shape;308;p9"/>
          <p:cNvSpPr/>
          <p:nvPr/>
        </p:nvSpPr>
        <p:spPr>
          <a:xfrm>
            <a:off x="3291825" y="2432300"/>
            <a:ext cx="2194500" cy="2246100"/>
          </a:xfrm>
          <a:prstGeom prst="roundRect">
            <a:avLst>
              <a:gd fmla="val 3333"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3438092" y="2556042"/>
            <a:ext cx="18654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D8C"/>
              </a:buClr>
              <a:buSzPts val="1070"/>
              <a:buFont typeface="Noto Sans"/>
              <a:buNone/>
            </a:pPr>
            <a:r>
              <a:rPr b="1" i="0" lang="en-US" sz="1500" u="none" cap="none" strike="noStrike">
                <a:solidFill>
                  <a:srgbClr val="2F5D8C"/>
                </a:solidFill>
                <a:latin typeface="Noto Sans"/>
                <a:ea typeface="Noto Sans"/>
                <a:cs typeface="Noto Sans"/>
                <a:sym typeface="Noto Sans"/>
              </a:rPr>
              <a:t>Front-end filtering</a:t>
            </a:r>
            <a:endParaRPr b="0" i="0" sz="1500" u="none" cap="none" strike="noStrike">
              <a:solidFill>
                <a:schemeClr val="dk1"/>
              </a:solidFill>
              <a:latin typeface="Noto Sans"/>
              <a:ea typeface="Noto Sans"/>
              <a:cs typeface="Noto Sans"/>
              <a:sym typeface="Noto Sans"/>
            </a:endParaRPr>
          </a:p>
        </p:txBody>
      </p:sp>
      <p:sp>
        <p:nvSpPr>
          <p:cNvPr id="310" name="Google Shape;310;p9"/>
          <p:cNvSpPr/>
          <p:nvPr/>
        </p:nvSpPr>
        <p:spPr>
          <a:xfrm>
            <a:off x="5943575" y="2432300"/>
            <a:ext cx="2834700" cy="2214900"/>
          </a:xfrm>
          <a:prstGeom prst="roundRect">
            <a:avLst>
              <a:gd fmla="val 258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p:nvPr/>
        </p:nvSpPr>
        <p:spPr>
          <a:xfrm>
            <a:off x="6108177" y="2556117"/>
            <a:ext cx="2505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D8C"/>
              </a:buClr>
              <a:buSzPts val="1070"/>
              <a:buFont typeface="Noto Sans"/>
              <a:buNone/>
            </a:pPr>
            <a:r>
              <a:rPr b="1" i="0" lang="en-US" sz="1500" u="none" cap="none" strike="noStrike">
                <a:solidFill>
                  <a:srgbClr val="2F5D8C"/>
                </a:solidFill>
                <a:latin typeface="Noto Sans"/>
                <a:ea typeface="Noto Sans"/>
                <a:cs typeface="Noto Sans"/>
                <a:sym typeface="Noto Sans"/>
              </a:rPr>
              <a:t>Core inference</a:t>
            </a:r>
            <a:endParaRPr b="0" i="0" sz="1500" u="none" cap="none" strike="noStrike">
              <a:solidFill>
                <a:schemeClr val="dk1"/>
              </a:solidFill>
              <a:latin typeface="Noto Sans"/>
              <a:ea typeface="Noto Sans"/>
              <a:cs typeface="Noto Sans"/>
              <a:sym typeface="Noto Sans"/>
            </a:endParaRPr>
          </a:p>
        </p:txBody>
      </p:sp>
      <p:sp>
        <p:nvSpPr>
          <p:cNvPr id="312" name="Google Shape;312;p9"/>
          <p:cNvSpPr/>
          <p:nvPr/>
        </p:nvSpPr>
        <p:spPr>
          <a:xfrm>
            <a:off x="9235440" y="1828800"/>
            <a:ext cx="2560320" cy="3566160"/>
          </a:xfrm>
          <a:prstGeom prst="roundRect">
            <a:avLst>
              <a:gd fmla="val 2857"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9400032" y="1993392"/>
            <a:ext cx="223113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D8C"/>
              </a:buClr>
              <a:buSzPts val="1070"/>
              <a:buFont typeface="Noto Sans"/>
              <a:buNone/>
            </a:pPr>
            <a:r>
              <a:rPr b="1" i="0" lang="en-US" sz="1500" u="none" cap="none" strike="noStrike">
                <a:solidFill>
                  <a:srgbClr val="2F5D8C"/>
                </a:solidFill>
                <a:latin typeface="Noto Sans"/>
                <a:ea typeface="Noto Sans"/>
                <a:cs typeface="Noto Sans"/>
                <a:sym typeface="Noto Sans"/>
              </a:rPr>
              <a:t>Output &amp; evidence</a:t>
            </a:r>
            <a:endParaRPr b="0" i="0" sz="1500" u="none" cap="none" strike="noStrike">
              <a:solidFill>
                <a:schemeClr val="dk1"/>
              </a:solidFill>
              <a:latin typeface="Noto Sans"/>
              <a:ea typeface="Noto Sans"/>
              <a:cs typeface="Noto Sans"/>
              <a:sym typeface="Noto Sans"/>
            </a:endParaRPr>
          </a:p>
        </p:txBody>
      </p:sp>
      <p:cxnSp>
        <p:nvCxnSpPr>
          <p:cNvPr id="314" name="Google Shape;314;p9"/>
          <p:cNvCxnSpPr/>
          <p:nvPr/>
        </p:nvCxnSpPr>
        <p:spPr>
          <a:xfrm>
            <a:off x="2944368" y="3657600"/>
            <a:ext cx="259500" cy="0"/>
          </a:xfrm>
          <a:prstGeom prst="straightConnector1">
            <a:avLst/>
          </a:prstGeom>
          <a:noFill/>
          <a:ln cap="flat" cmpd="sng" w="16500">
            <a:solidFill>
              <a:srgbClr val="496E94"/>
            </a:solidFill>
            <a:prstDash val="solid"/>
            <a:round/>
            <a:headEnd len="sm" w="sm" type="none"/>
            <a:tailEnd len="med" w="med" type="triangle"/>
          </a:ln>
        </p:spPr>
      </p:cxnSp>
      <p:cxnSp>
        <p:nvCxnSpPr>
          <p:cNvPr id="315" name="Google Shape;315;p9"/>
          <p:cNvCxnSpPr/>
          <p:nvPr/>
        </p:nvCxnSpPr>
        <p:spPr>
          <a:xfrm>
            <a:off x="5596113" y="3657600"/>
            <a:ext cx="201300" cy="0"/>
          </a:xfrm>
          <a:prstGeom prst="straightConnector1">
            <a:avLst/>
          </a:prstGeom>
          <a:noFill/>
          <a:ln cap="flat" cmpd="sng" w="16500">
            <a:solidFill>
              <a:srgbClr val="496E94"/>
            </a:solidFill>
            <a:prstDash val="solid"/>
            <a:round/>
            <a:headEnd len="sm" w="sm" type="none"/>
            <a:tailEnd len="med" w="med" type="triangle"/>
          </a:ln>
        </p:spPr>
      </p:cxnSp>
      <p:sp>
        <p:nvSpPr>
          <p:cNvPr id="316" name="Google Shape;316;p9"/>
          <p:cNvSpPr/>
          <p:nvPr/>
        </p:nvSpPr>
        <p:spPr>
          <a:xfrm>
            <a:off x="1024125" y="2432300"/>
            <a:ext cx="1518000" cy="467100"/>
          </a:xfrm>
          <a:prstGeom prst="roundRect">
            <a:avLst>
              <a:gd fmla="val 14583"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Ch01</a:t>
            </a:r>
            <a:endParaRPr b="0" i="0" sz="1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synth-positive</a:t>
            </a:r>
            <a:endParaRPr b="0" i="0" sz="1200" u="none" cap="none" strike="noStrike">
              <a:solidFill>
                <a:schemeClr val="dk1"/>
              </a:solidFill>
              <a:latin typeface="Noto Sans"/>
              <a:ea typeface="Noto Sans"/>
              <a:cs typeface="Noto Sans"/>
              <a:sym typeface="Noto Sans"/>
            </a:endParaRPr>
          </a:p>
        </p:txBody>
      </p:sp>
      <p:sp>
        <p:nvSpPr>
          <p:cNvPr id="317" name="Google Shape;317;p9"/>
          <p:cNvSpPr/>
          <p:nvPr/>
        </p:nvSpPr>
        <p:spPr>
          <a:xfrm>
            <a:off x="1024125" y="3133008"/>
            <a:ext cx="1518000" cy="467100"/>
          </a:xfrm>
          <a:prstGeom prst="roundRect">
            <a:avLst>
              <a:gd fmla="val 14583"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Ch02</a:t>
            </a:r>
            <a:endParaRPr b="0" i="0" sz="1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engine bg</a:t>
            </a:r>
            <a:endParaRPr b="0" i="0" sz="1200" u="none" cap="none" strike="noStrike">
              <a:solidFill>
                <a:schemeClr val="dk1"/>
              </a:solidFill>
              <a:latin typeface="Noto Sans"/>
              <a:ea typeface="Noto Sans"/>
              <a:cs typeface="Noto Sans"/>
              <a:sym typeface="Noto Sans"/>
            </a:endParaRPr>
          </a:p>
        </p:txBody>
      </p:sp>
      <p:sp>
        <p:nvSpPr>
          <p:cNvPr id="318" name="Google Shape;318;p9"/>
          <p:cNvSpPr/>
          <p:nvPr/>
        </p:nvSpPr>
        <p:spPr>
          <a:xfrm>
            <a:off x="1024125" y="3833716"/>
            <a:ext cx="1518000" cy="467100"/>
          </a:xfrm>
          <a:prstGeom prst="roundRect">
            <a:avLst>
              <a:gd fmla="val 14583"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Ch03</a:t>
            </a:r>
            <a:endParaRPr b="0" i="0" sz="1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hard-neg</a:t>
            </a:r>
            <a:endParaRPr b="0" i="0" sz="1200" u="none" cap="none" strike="noStrike">
              <a:solidFill>
                <a:schemeClr val="dk1"/>
              </a:solidFill>
              <a:latin typeface="Noto Sans"/>
              <a:ea typeface="Noto Sans"/>
              <a:cs typeface="Noto Sans"/>
              <a:sym typeface="Noto Sans"/>
            </a:endParaRPr>
          </a:p>
        </p:txBody>
      </p:sp>
      <p:sp>
        <p:nvSpPr>
          <p:cNvPr id="319" name="Google Shape;319;p9"/>
          <p:cNvSpPr/>
          <p:nvPr/>
        </p:nvSpPr>
        <p:spPr>
          <a:xfrm>
            <a:off x="1024125" y="4534424"/>
            <a:ext cx="1518000" cy="467100"/>
          </a:xfrm>
          <a:prstGeom prst="roundRect">
            <a:avLst>
              <a:gd fmla="val 14583" name="adj"/>
            </a:avLst>
          </a:prstGeom>
          <a:solidFill>
            <a:srgbClr val="EEF2F6"/>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Ch04</a:t>
            </a:r>
            <a:endParaRPr b="0" i="0" sz="1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344054"/>
              </a:buClr>
              <a:buSzPts val="880"/>
              <a:buFont typeface="Noto Sans"/>
              <a:buNone/>
            </a:pPr>
            <a:r>
              <a:rPr b="1" i="0" lang="en-US" sz="1200" u="none" cap="none" strike="noStrike">
                <a:solidFill>
                  <a:srgbClr val="344054"/>
                </a:solidFill>
                <a:latin typeface="Noto Sans"/>
                <a:ea typeface="Noto Sans"/>
                <a:cs typeface="Noto Sans"/>
                <a:sym typeface="Noto Sans"/>
              </a:rPr>
              <a:t>val bg</a:t>
            </a:r>
            <a:endParaRPr b="0" i="0" sz="1200" u="none" cap="none" strike="noStrike">
              <a:solidFill>
                <a:schemeClr val="dk1"/>
              </a:solidFill>
              <a:latin typeface="Noto Sans"/>
              <a:ea typeface="Noto Sans"/>
              <a:cs typeface="Noto Sans"/>
              <a:sym typeface="Noto Sans"/>
            </a:endParaRPr>
          </a:p>
        </p:txBody>
      </p:sp>
      <p:sp>
        <p:nvSpPr>
          <p:cNvPr id="320" name="Google Shape;320;p9"/>
          <p:cNvSpPr/>
          <p:nvPr/>
        </p:nvSpPr>
        <p:spPr>
          <a:xfrm>
            <a:off x="3375463" y="3048313"/>
            <a:ext cx="955200" cy="1182000"/>
          </a:xfrm>
          <a:prstGeom prst="roundRect">
            <a:avLst>
              <a:gd fmla="val 7778" name="adj"/>
            </a:avLst>
          </a:prstGeom>
          <a:solidFill>
            <a:srgbClr val="EAF2FA"/>
          </a:solidFill>
          <a:ln cap="flat" cmpd="sng" w="10675">
            <a:solidFill>
              <a:srgbClr val="E4E7EC"/>
            </a:solidFill>
            <a:prstDash val="solid"/>
            <a:round/>
            <a:headEnd len="sm" w="sm" type="none"/>
            <a:tailEnd len="sm" w="sm" type="none"/>
          </a:ln>
        </p:spPr>
        <p:txBody>
          <a:bodyPr anchorCtr="0" anchor="ctr" bIns="850" lIns="850" spcFirstLastPara="1" rIns="850" wrap="square" tIns="850">
            <a:normAutofit/>
          </a:bodyPr>
          <a:lstStyle/>
          <a:p>
            <a:pPr indent="0" lvl="0" marL="0" marR="0" rtl="0" algn="ctr">
              <a:spcBef>
                <a:spcPts val="0"/>
              </a:spcBef>
              <a:spcAft>
                <a:spcPts val="0"/>
              </a:spcAft>
              <a:buClr>
                <a:srgbClr val="1D2939"/>
              </a:buClr>
              <a:buSzPts val="1008"/>
              <a:buFont typeface="Noto Sans"/>
              <a:buNone/>
            </a:pPr>
            <a:r>
              <a:rPr b="1" i="0" lang="en-US" sz="1208" u="none" cap="none" strike="noStrike">
                <a:solidFill>
                  <a:srgbClr val="1D2939"/>
                </a:solidFill>
                <a:latin typeface="Noto Sans"/>
                <a:ea typeface="Noto Sans"/>
                <a:cs typeface="Noto Sans"/>
                <a:sym typeface="Noto Sans"/>
              </a:rPr>
              <a:t>Frame</a:t>
            </a:r>
            <a:endParaRPr b="0" i="0" sz="1208"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08"/>
              <a:buFont typeface="Noto Sans"/>
              <a:buNone/>
            </a:pPr>
            <a:r>
              <a:rPr b="1" i="0" lang="en-US" sz="1208" u="none" cap="none" strike="noStrike">
                <a:solidFill>
                  <a:srgbClr val="1D2939"/>
                </a:solidFill>
                <a:latin typeface="Noto Sans"/>
                <a:ea typeface="Noto Sans"/>
                <a:cs typeface="Noto Sans"/>
                <a:sym typeface="Noto Sans"/>
              </a:rPr>
              <a:t>sampling</a:t>
            </a:r>
            <a:endParaRPr b="0" i="0" sz="1208" u="none" cap="none" strike="noStrike">
              <a:solidFill>
                <a:schemeClr val="dk1"/>
              </a:solidFill>
              <a:latin typeface="Noto Sans"/>
              <a:ea typeface="Noto Sans"/>
              <a:cs typeface="Noto Sans"/>
              <a:sym typeface="Noto Sans"/>
            </a:endParaRPr>
          </a:p>
        </p:txBody>
      </p:sp>
      <p:sp>
        <p:nvSpPr>
          <p:cNvPr id="321" name="Google Shape;321;p9"/>
          <p:cNvSpPr/>
          <p:nvPr/>
        </p:nvSpPr>
        <p:spPr>
          <a:xfrm>
            <a:off x="4447566" y="3048313"/>
            <a:ext cx="955200" cy="1182000"/>
          </a:xfrm>
          <a:prstGeom prst="roundRect">
            <a:avLst>
              <a:gd fmla="val 7778" name="adj"/>
            </a:avLst>
          </a:prstGeom>
          <a:solidFill>
            <a:srgbClr val="EAF2FA"/>
          </a:solidFill>
          <a:ln cap="flat" cmpd="sng" w="10675">
            <a:solidFill>
              <a:srgbClr val="E4E7EC"/>
            </a:solidFill>
            <a:prstDash val="solid"/>
            <a:round/>
            <a:headEnd len="sm" w="sm" type="none"/>
            <a:tailEnd len="sm" w="sm" type="none"/>
          </a:ln>
        </p:spPr>
        <p:txBody>
          <a:bodyPr anchorCtr="0" anchor="ctr" bIns="850" lIns="850" spcFirstLastPara="1" rIns="850" wrap="square" tIns="850">
            <a:normAutofit/>
          </a:bodyPr>
          <a:lstStyle/>
          <a:p>
            <a:pPr indent="0" lvl="0" marL="0" marR="0" rtl="0" algn="ctr">
              <a:spcBef>
                <a:spcPts val="0"/>
              </a:spcBef>
              <a:spcAft>
                <a:spcPts val="0"/>
              </a:spcAft>
              <a:buClr>
                <a:srgbClr val="1D2939"/>
              </a:buClr>
              <a:buSzPts val="1008"/>
              <a:buFont typeface="Noto Sans"/>
              <a:buNone/>
            </a:pPr>
            <a:r>
              <a:rPr b="1" i="0" lang="en-US" sz="1208" u="none" cap="none" strike="noStrike">
                <a:solidFill>
                  <a:srgbClr val="1D2939"/>
                </a:solidFill>
                <a:latin typeface="Noto Sans"/>
                <a:ea typeface="Noto Sans"/>
                <a:cs typeface="Noto Sans"/>
                <a:sym typeface="Noto Sans"/>
              </a:rPr>
              <a:t>Cheap filter</a:t>
            </a:r>
            <a:endParaRPr b="0" i="0" sz="1208"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008"/>
              <a:buFont typeface="Noto Sans"/>
              <a:buNone/>
            </a:pPr>
            <a:r>
              <a:rPr b="1" i="0" lang="en-US" sz="1208" u="none" cap="none" strike="noStrike">
                <a:solidFill>
                  <a:srgbClr val="1D2939"/>
                </a:solidFill>
                <a:latin typeface="Noto Sans"/>
                <a:ea typeface="Noto Sans"/>
                <a:cs typeface="Noto Sans"/>
                <a:sym typeface="Noto Sans"/>
              </a:rPr>
              <a:t>/ periodic</a:t>
            </a:r>
            <a:endParaRPr b="0" i="0" sz="1208" u="none" cap="none" strike="noStrike">
              <a:solidFill>
                <a:schemeClr val="dk1"/>
              </a:solidFill>
              <a:latin typeface="Noto Sans"/>
              <a:ea typeface="Noto Sans"/>
              <a:cs typeface="Noto Sans"/>
              <a:sym typeface="Noto Sans"/>
            </a:endParaRPr>
          </a:p>
        </p:txBody>
      </p:sp>
      <p:sp>
        <p:nvSpPr>
          <p:cNvPr id="322" name="Google Shape;322;p9"/>
          <p:cNvSpPr/>
          <p:nvPr/>
        </p:nvSpPr>
        <p:spPr>
          <a:xfrm>
            <a:off x="6089825" y="2999250"/>
            <a:ext cx="1228200" cy="1208700"/>
          </a:xfrm>
          <a:prstGeom prst="roundRect">
            <a:avLst>
              <a:gd fmla="val 5691" name="adj"/>
            </a:avLst>
          </a:prstGeom>
          <a:solidFill>
            <a:srgbClr val="EAF2FA"/>
          </a:solidFill>
          <a:ln cap="flat" cmpd="sng" w="10225">
            <a:solidFill>
              <a:srgbClr val="496E94"/>
            </a:solidFill>
            <a:prstDash val="solid"/>
            <a:round/>
            <a:headEnd len="sm" w="sm" type="none"/>
            <a:tailEnd len="sm" w="sm" type="none"/>
          </a:ln>
        </p:spPr>
        <p:txBody>
          <a:bodyPr anchorCtr="0" anchor="ctr" bIns="800" lIns="800" spcFirstLastPara="1" rIns="800" wrap="square" tIns="800">
            <a:normAutofit/>
          </a:bodyPr>
          <a:lstStyle/>
          <a:p>
            <a:pPr indent="0" lvl="0" marL="0" marR="0" rtl="0" algn="ctr">
              <a:spcBef>
                <a:spcPts val="0"/>
              </a:spcBef>
              <a:spcAft>
                <a:spcPts val="0"/>
              </a:spcAft>
              <a:buClr>
                <a:srgbClr val="0B1F33"/>
              </a:buClr>
              <a:buSzPts val="1021"/>
              <a:buFont typeface="Noto Sans"/>
              <a:buNone/>
            </a:pPr>
            <a:r>
              <a:rPr b="1" i="0" lang="en-US" sz="1200" u="none" cap="none" strike="noStrike">
                <a:solidFill>
                  <a:srgbClr val="0B1F33"/>
                </a:solidFill>
                <a:latin typeface="Noto Sans"/>
                <a:ea typeface="Noto Sans"/>
                <a:cs typeface="Noto Sans"/>
                <a:sym typeface="Noto Sans"/>
              </a:rPr>
              <a:t>Fire/smoke</a:t>
            </a:r>
            <a:endParaRPr b="0" i="0" sz="1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21"/>
              <a:buFont typeface="Noto Sans"/>
              <a:buNone/>
            </a:pPr>
            <a:r>
              <a:rPr b="1" i="0" lang="en-US" sz="1200" u="none" cap="none" strike="noStrike">
                <a:solidFill>
                  <a:srgbClr val="0B1F33"/>
                </a:solidFill>
                <a:latin typeface="Noto Sans"/>
                <a:ea typeface="Noto Sans"/>
                <a:cs typeface="Noto Sans"/>
                <a:sym typeface="Noto Sans"/>
              </a:rPr>
              <a:t>2-class detector</a:t>
            </a:r>
            <a:endParaRPr b="0" i="0" sz="1200" u="none" cap="none" strike="noStrike">
              <a:solidFill>
                <a:schemeClr val="dk1"/>
              </a:solidFill>
              <a:latin typeface="Noto Sans"/>
              <a:ea typeface="Noto Sans"/>
              <a:cs typeface="Noto Sans"/>
              <a:sym typeface="Noto Sans"/>
            </a:endParaRPr>
          </a:p>
        </p:txBody>
      </p:sp>
      <p:sp>
        <p:nvSpPr>
          <p:cNvPr id="323" name="Google Shape;323;p9"/>
          <p:cNvSpPr/>
          <p:nvPr/>
        </p:nvSpPr>
        <p:spPr>
          <a:xfrm>
            <a:off x="7563695" y="2999250"/>
            <a:ext cx="1031700" cy="1208700"/>
          </a:xfrm>
          <a:prstGeom prst="roundRect">
            <a:avLst>
              <a:gd fmla="val 6667" name="adj"/>
            </a:avLst>
          </a:prstGeom>
          <a:solidFill>
            <a:srgbClr val="FFFFFF"/>
          </a:solidFill>
          <a:ln cap="flat" cmpd="sng" w="10225">
            <a:solidFill>
              <a:srgbClr val="496E94"/>
            </a:solidFill>
            <a:prstDash val="solid"/>
            <a:round/>
            <a:headEnd len="sm" w="sm" type="none"/>
            <a:tailEnd len="sm" w="sm" type="none"/>
          </a:ln>
        </p:spPr>
        <p:txBody>
          <a:bodyPr anchorCtr="0" anchor="ctr" bIns="800" lIns="800" spcFirstLastPara="1" rIns="800" wrap="square" tIns="800">
            <a:normAutofit/>
          </a:bodyPr>
          <a:lstStyle/>
          <a:p>
            <a:pPr indent="0" lvl="0" marL="0" marR="0" rtl="0" algn="ctr">
              <a:spcBef>
                <a:spcPts val="0"/>
              </a:spcBef>
              <a:spcAft>
                <a:spcPts val="0"/>
              </a:spcAft>
              <a:buClr>
                <a:srgbClr val="0B1F33"/>
              </a:buClr>
              <a:buSzPts val="1021"/>
              <a:buFont typeface="Noto Sans"/>
              <a:buNone/>
            </a:pPr>
            <a:r>
              <a:rPr b="1" i="0" lang="en-US" sz="1200" u="none" cap="none" strike="noStrike">
                <a:solidFill>
                  <a:srgbClr val="0B1F33"/>
                </a:solidFill>
                <a:latin typeface="Noto Sans"/>
                <a:ea typeface="Noto Sans"/>
                <a:cs typeface="Noto Sans"/>
                <a:sym typeface="Noto Sans"/>
              </a:rPr>
              <a:t>Temporal</a:t>
            </a:r>
            <a:endParaRPr b="0" i="0" sz="1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021"/>
              <a:buFont typeface="Noto Sans"/>
              <a:buNone/>
            </a:pPr>
            <a:r>
              <a:rPr b="1" i="0" lang="en-US" sz="1200" u="none" cap="none" strike="noStrike">
                <a:solidFill>
                  <a:srgbClr val="0B1F33"/>
                </a:solidFill>
                <a:latin typeface="Noto Sans"/>
                <a:ea typeface="Noto Sans"/>
                <a:cs typeface="Noto Sans"/>
                <a:sym typeface="Noto Sans"/>
              </a:rPr>
              <a:t>verifier</a:t>
            </a:r>
            <a:endParaRPr b="0" i="0" sz="1200" u="none" cap="none" strike="noStrike">
              <a:solidFill>
                <a:schemeClr val="dk1"/>
              </a:solidFill>
              <a:latin typeface="Noto Sans"/>
              <a:ea typeface="Noto Sans"/>
              <a:cs typeface="Noto Sans"/>
              <a:sym typeface="Noto Sans"/>
            </a:endParaRPr>
          </a:p>
        </p:txBody>
      </p:sp>
      <p:cxnSp>
        <p:nvCxnSpPr>
          <p:cNvPr id="324" name="Google Shape;324;p9"/>
          <p:cNvCxnSpPr/>
          <p:nvPr/>
        </p:nvCxnSpPr>
        <p:spPr>
          <a:xfrm>
            <a:off x="7347527" y="3608450"/>
            <a:ext cx="186600" cy="0"/>
          </a:xfrm>
          <a:prstGeom prst="straightConnector1">
            <a:avLst/>
          </a:prstGeom>
          <a:noFill/>
          <a:ln cap="flat" cmpd="sng" w="15000">
            <a:solidFill>
              <a:srgbClr val="496E94"/>
            </a:solidFill>
            <a:prstDash val="solid"/>
            <a:round/>
            <a:headEnd len="sm" w="sm" type="none"/>
            <a:tailEnd len="med" w="med" type="triangle"/>
          </a:ln>
        </p:spPr>
      </p:cxnSp>
      <p:sp>
        <p:nvSpPr>
          <p:cNvPr id="325" name="Google Shape;325;p9"/>
          <p:cNvSpPr/>
          <p:nvPr/>
        </p:nvSpPr>
        <p:spPr>
          <a:xfrm>
            <a:off x="9555480" y="2487168"/>
            <a:ext cx="1920240" cy="411480"/>
          </a:xfrm>
          <a:prstGeom prst="roundRect">
            <a:avLst>
              <a:gd fmla="val 15556"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00"/>
              <a:buFont typeface="Noto Sans"/>
              <a:buNone/>
            </a:pPr>
            <a:r>
              <a:rPr b="1" i="0" lang="en-US" sz="1200" u="none" cap="none" strike="noStrike">
                <a:solidFill>
                  <a:srgbClr val="344054"/>
                </a:solidFill>
                <a:latin typeface="Noto Sans"/>
                <a:ea typeface="Noto Sans"/>
                <a:cs typeface="Noto Sans"/>
                <a:sym typeface="Noto Sans"/>
              </a:rPr>
              <a:t>Suspect event</a:t>
            </a:r>
            <a:endParaRPr b="0" i="0" sz="1200" u="none" cap="none" strike="noStrike">
              <a:solidFill>
                <a:schemeClr val="dk1"/>
              </a:solidFill>
              <a:latin typeface="Noto Sans"/>
              <a:ea typeface="Noto Sans"/>
              <a:cs typeface="Noto Sans"/>
              <a:sym typeface="Noto Sans"/>
            </a:endParaRPr>
          </a:p>
        </p:txBody>
      </p:sp>
      <p:sp>
        <p:nvSpPr>
          <p:cNvPr id="326" name="Google Shape;326;p9"/>
          <p:cNvSpPr/>
          <p:nvPr/>
        </p:nvSpPr>
        <p:spPr>
          <a:xfrm>
            <a:off x="9555480" y="3145536"/>
            <a:ext cx="1920240" cy="411480"/>
          </a:xfrm>
          <a:prstGeom prst="roundRect">
            <a:avLst>
              <a:gd fmla="val 15556"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00"/>
              <a:buFont typeface="Noto Sans"/>
              <a:buNone/>
            </a:pPr>
            <a:r>
              <a:rPr b="1" i="0" lang="en-US" sz="1200" u="none" cap="none" strike="noStrike">
                <a:solidFill>
                  <a:srgbClr val="344054"/>
                </a:solidFill>
                <a:latin typeface="Noto Sans"/>
                <a:ea typeface="Noto Sans"/>
                <a:cs typeface="Noto Sans"/>
                <a:sym typeface="Noto Sans"/>
              </a:rPr>
              <a:t>Alarm event</a:t>
            </a:r>
            <a:endParaRPr b="0" i="0" sz="1200" u="none" cap="none" strike="noStrike">
              <a:solidFill>
                <a:schemeClr val="dk1"/>
              </a:solidFill>
              <a:latin typeface="Noto Sans"/>
              <a:ea typeface="Noto Sans"/>
              <a:cs typeface="Noto Sans"/>
              <a:sym typeface="Noto Sans"/>
            </a:endParaRPr>
          </a:p>
        </p:txBody>
      </p:sp>
      <p:sp>
        <p:nvSpPr>
          <p:cNvPr id="327" name="Google Shape;327;p9"/>
          <p:cNvSpPr/>
          <p:nvPr/>
        </p:nvSpPr>
        <p:spPr>
          <a:xfrm>
            <a:off x="9555480" y="3803904"/>
            <a:ext cx="1920240" cy="411480"/>
          </a:xfrm>
          <a:prstGeom prst="roundRect">
            <a:avLst>
              <a:gd fmla="val 15556"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00"/>
              <a:buFont typeface="Noto Sans"/>
              <a:buNone/>
            </a:pPr>
            <a:r>
              <a:rPr b="1" i="0" lang="en-US" sz="1200" u="none" cap="none" strike="noStrike">
                <a:solidFill>
                  <a:srgbClr val="344054"/>
                </a:solidFill>
                <a:latin typeface="Noto Sans"/>
                <a:ea typeface="Noto Sans"/>
                <a:cs typeface="Noto Sans"/>
                <a:sym typeface="Noto Sans"/>
              </a:rPr>
              <a:t>Snapshot evidence</a:t>
            </a:r>
            <a:endParaRPr b="0" i="0" sz="1200" u="none" cap="none" strike="noStrike">
              <a:solidFill>
                <a:schemeClr val="dk1"/>
              </a:solidFill>
              <a:latin typeface="Noto Sans"/>
              <a:ea typeface="Noto Sans"/>
              <a:cs typeface="Noto Sans"/>
              <a:sym typeface="Noto Sans"/>
            </a:endParaRPr>
          </a:p>
        </p:txBody>
      </p:sp>
      <p:sp>
        <p:nvSpPr>
          <p:cNvPr id="328" name="Google Shape;328;p9"/>
          <p:cNvSpPr/>
          <p:nvPr/>
        </p:nvSpPr>
        <p:spPr>
          <a:xfrm>
            <a:off x="9555480" y="4462272"/>
            <a:ext cx="1920240" cy="411480"/>
          </a:xfrm>
          <a:prstGeom prst="roundRect">
            <a:avLst>
              <a:gd fmla="val 15556"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344054"/>
              </a:buClr>
              <a:buSzPts val="900"/>
              <a:buFont typeface="Noto Sans"/>
              <a:buNone/>
            </a:pPr>
            <a:r>
              <a:rPr b="1" i="0" lang="en-US" sz="1200" u="none" cap="none" strike="noStrike">
                <a:solidFill>
                  <a:srgbClr val="344054"/>
                </a:solidFill>
                <a:latin typeface="Noto Sans"/>
                <a:ea typeface="Noto Sans"/>
                <a:cs typeface="Noto Sans"/>
                <a:sym typeface="Noto Sans"/>
              </a:rPr>
              <a:t>Metrics / logs</a:t>
            </a:r>
            <a:endParaRPr b="0" i="0" sz="1200" u="none" cap="none" strike="noStrike">
              <a:solidFill>
                <a:schemeClr val="dk1"/>
              </a:solidFill>
              <a:latin typeface="Noto Sans"/>
              <a:ea typeface="Noto Sans"/>
              <a:cs typeface="Noto Sans"/>
              <a:sym typeface="Noto Sans"/>
            </a:endParaRPr>
          </a:p>
        </p:txBody>
      </p:sp>
      <p:sp>
        <p:nvSpPr>
          <p:cNvPr id="329" name="Google Shape;329;p9"/>
          <p:cNvSpPr/>
          <p:nvPr/>
        </p:nvSpPr>
        <p:spPr>
          <a:xfrm>
            <a:off x="3505501" y="5538925"/>
            <a:ext cx="5180700" cy="402300"/>
          </a:xfrm>
          <a:prstGeom prst="roundRect">
            <a:avLst>
              <a:gd fmla="val 13636" name="adj"/>
            </a:avLst>
          </a:prstGeom>
          <a:solidFill>
            <a:srgbClr val="F9FAFB"/>
          </a:solidFill>
          <a:ln cap="flat" cmpd="sng" w="9525">
            <a:solidFill>
              <a:srgbClr val="E4E7EC"/>
            </a:solidFill>
            <a:prstDash val="solid"/>
            <a:round/>
            <a:headEnd len="sm" w="sm" type="none"/>
            <a:tailEnd len="sm" w="sm" type="none"/>
          </a:ln>
        </p:spPr>
        <p:txBody>
          <a:bodyPr anchorCtr="0" anchor="ctr" bIns="1000" lIns="1000" spcFirstLastPara="1" rIns="1000" wrap="square" tIns="1000">
            <a:normAutofit/>
          </a:bodyPr>
          <a:lstStyle/>
          <a:p>
            <a:pPr indent="0" lvl="0" marL="0" marR="0" rtl="0" algn="ctr">
              <a:spcBef>
                <a:spcPts val="0"/>
              </a:spcBef>
              <a:spcAft>
                <a:spcPts val="0"/>
              </a:spcAft>
              <a:buClr>
                <a:srgbClr val="344054"/>
              </a:buClr>
              <a:buSzPts val="1050"/>
              <a:buFont typeface="Noto Sans"/>
              <a:buNone/>
            </a:pPr>
            <a:r>
              <a:rPr b="1" i="0" lang="en-US" sz="1200" u="none" cap="none" strike="noStrike">
                <a:solidFill>
                  <a:srgbClr val="344054"/>
                </a:solidFill>
                <a:latin typeface="Noto Sans"/>
                <a:ea typeface="Noto Sans"/>
                <a:cs typeface="Noto Sans"/>
                <a:sym typeface="Noto Sans"/>
              </a:rPr>
              <a:t>Deployment direction: CPU-only ONNX Runtime inference wrapper</a:t>
            </a:r>
            <a:endParaRPr b="0" i="0" sz="1200" u="none" cap="none" strike="noStrike">
              <a:solidFill>
                <a:schemeClr val="dk1"/>
              </a:solidFill>
              <a:latin typeface="Noto Sans"/>
              <a:ea typeface="Noto Sans"/>
              <a:cs typeface="Noto Sans"/>
              <a:sym typeface="Noto Sans"/>
            </a:endParaRPr>
          </a:p>
        </p:txBody>
      </p:sp>
      <p:cxnSp>
        <p:nvCxnSpPr>
          <p:cNvPr id="330" name="Google Shape;330;p9"/>
          <p:cNvCxnSpPr/>
          <p:nvPr/>
        </p:nvCxnSpPr>
        <p:spPr>
          <a:xfrm>
            <a:off x="8897068" y="3657600"/>
            <a:ext cx="259500" cy="0"/>
          </a:xfrm>
          <a:prstGeom prst="straightConnector1">
            <a:avLst/>
          </a:prstGeom>
          <a:noFill/>
          <a:ln cap="flat" cmpd="sng" w="16500">
            <a:solidFill>
              <a:srgbClr val="496E94"/>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35" name="Shape 335"/>
        <p:cNvGrpSpPr/>
        <p:nvPr/>
      </p:nvGrpSpPr>
      <p:grpSpPr>
        <a:xfrm>
          <a:off x="0" y="0"/>
          <a:ext cx="0" cy="0"/>
          <a:chOff x="0" y="0"/>
          <a:chExt cx="0" cy="0"/>
        </a:xfrm>
      </p:grpSpPr>
      <p:sp>
        <p:nvSpPr>
          <p:cNvPr id="336" name="Google Shape;336;p10"/>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05 / System design</a:t>
            </a:r>
            <a:endParaRPr b="0" i="0" sz="850" u="none" cap="none" strike="noStrike">
              <a:solidFill>
                <a:schemeClr val="dk1"/>
              </a:solidFill>
              <a:latin typeface="Noto Sans"/>
              <a:ea typeface="Noto Sans"/>
              <a:cs typeface="Noto Sans"/>
              <a:sym typeface="Noto Sans"/>
            </a:endParaRPr>
          </a:p>
        </p:txBody>
      </p:sp>
      <p:sp>
        <p:nvSpPr>
          <p:cNvPr id="337" name="Google Shape;337;p10"/>
          <p:cNvSpPr/>
          <p:nvPr/>
        </p:nvSpPr>
        <p:spPr>
          <a:xfrm>
            <a:off x="512076" y="475500"/>
            <a:ext cx="11167500" cy="384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Temporal verifier: single-frame prediction</a:t>
            </a:r>
            <a:r>
              <a:rPr b="1" lang="en-US" sz="2450">
                <a:solidFill>
                  <a:srgbClr val="0B1F33"/>
                </a:solidFill>
                <a:latin typeface="Noto Sans"/>
                <a:ea typeface="Noto Sans"/>
                <a:cs typeface="Noto Sans"/>
                <a:sym typeface="Noto Sans"/>
              </a:rPr>
              <a:t> →</a:t>
            </a:r>
            <a:r>
              <a:rPr b="1" i="0" lang="en-US" sz="2450" u="none" cap="none" strike="noStrike">
                <a:solidFill>
                  <a:srgbClr val="0B1F33"/>
                </a:solidFill>
                <a:latin typeface="Noto Sans"/>
                <a:ea typeface="Noto Sans"/>
                <a:cs typeface="Noto Sans"/>
                <a:sym typeface="Noto Sans"/>
              </a:rPr>
              <a:t> event-level alarm</a:t>
            </a:r>
            <a:endParaRPr b="0" i="0" sz="2450" u="none" cap="none" strike="noStrike">
              <a:solidFill>
                <a:schemeClr val="dk1"/>
              </a:solidFill>
              <a:latin typeface="Noto Sans"/>
              <a:ea typeface="Noto Sans"/>
              <a:cs typeface="Noto Sans"/>
              <a:sym typeface="Noto Sans"/>
            </a:endParaRPr>
          </a:p>
        </p:txBody>
      </p:sp>
      <p:sp>
        <p:nvSpPr>
          <p:cNvPr id="338" name="Google Shape;338;p10"/>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10</a:t>
            </a:r>
            <a:endParaRPr b="0" i="0" sz="800" u="none" cap="none" strike="noStrike">
              <a:solidFill>
                <a:schemeClr val="dk1"/>
              </a:solidFill>
              <a:latin typeface="Noto Sans"/>
              <a:ea typeface="Noto Sans"/>
              <a:cs typeface="Noto Sans"/>
              <a:sym typeface="Noto Sans"/>
            </a:endParaRPr>
          </a:p>
        </p:txBody>
      </p:sp>
      <p:cxnSp>
        <p:nvCxnSpPr>
          <p:cNvPr id="339" name="Google Shape;339;p10"/>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340" name="Google Shape;340;p10"/>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341" name="Google Shape;341;p10"/>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342" name="Google Shape;342;p10"/>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10</a:t>
            </a:r>
            <a:endParaRPr b="0" i="0" sz="720" u="none" cap="none" strike="noStrike">
              <a:solidFill>
                <a:schemeClr val="dk1"/>
              </a:solidFill>
              <a:latin typeface="Noto Sans"/>
              <a:ea typeface="Noto Sans"/>
              <a:cs typeface="Noto Sans"/>
              <a:sym typeface="Noto Sans"/>
            </a:endParaRPr>
          </a:p>
        </p:txBody>
      </p:sp>
      <p:sp>
        <p:nvSpPr>
          <p:cNvPr id="343" name="Google Shape;343;p10"/>
          <p:cNvSpPr/>
          <p:nvPr/>
        </p:nvSpPr>
        <p:spPr>
          <a:xfrm>
            <a:off x="512064" y="1069848"/>
            <a:ext cx="1088136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80"/>
              <a:buFont typeface="Noto Sans"/>
              <a:buNone/>
            </a:pPr>
            <a:r>
              <a:rPr i="0" lang="en-US" sz="1580" u="none" cap="none" strike="noStrike">
                <a:solidFill>
                  <a:srgbClr val="0B1F33"/>
                </a:solidFill>
                <a:latin typeface="Noto Sans"/>
                <a:ea typeface="Noto Sans"/>
                <a:cs typeface="Noto Sans"/>
                <a:sym typeface="Noto Sans"/>
              </a:rPr>
              <a:t>낮은 detector threshold로 민감도를 확보하되, 5초 window 안의 반복 관측을 요구해 단발성 false positive를 완화</a:t>
            </a:r>
            <a:endParaRPr i="0" sz="1580" u="none" cap="none" strike="noStrike">
              <a:solidFill>
                <a:schemeClr val="dk1"/>
              </a:solidFill>
              <a:latin typeface="Noto Sans"/>
              <a:ea typeface="Noto Sans"/>
              <a:cs typeface="Noto Sans"/>
              <a:sym typeface="Noto Sans"/>
            </a:endParaRPr>
          </a:p>
        </p:txBody>
      </p:sp>
      <p:cxnSp>
        <p:nvCxnSpPr>
          <p:cNvPr id="344" name="Google Shape;344;p10"/>
          <p:cNvCxnSpPr/>
          <p:nvPr/>
        </p:nvCxnSpPr>
        <p:spPr>
          <a:xfrm>
            <a:off x="2697480" y="2910840"/>
            <a:ext cx="1234500" cy="0"/>
          </a:xfrm>
          <a:prstGeom prst="straightConnector1">
            <a:avLst/>
          </a:prstGeom>
          <a:noFill/>
          <a:ln cap="flat" cmpd="sng" w="17775">
            <a:solidFill>
              <a:srgbClr val="496E94"/>
            </a:solidFill>
            <a:prstDash val="solid"/>
            <a:round/>
            <a:headEnd len="sm" w="sm" type="none"/>
            <a:tailEnd len="med" w="med" type="triangle"/>
          </a:ln>
        </p:spPr>
      </p:cxnSp>
      <p:cxnSp>
        <p:nvCxnSpPr>
          <p:cNvPr id="345" name="Google Shape;345;p10"/>
          <p:cNvCxnSpPr/>
          <p:nvPr/>
        </p:nvCxnSpPr>
        <p:spPr>
          <a:xfrm>
            <a:off x="5852160" y="2910840"/>
            <a:ext cx="1234500" cy="0"/>
          </a:xfrm>
          <a:prstGeom prst="straightConnector1">
            <a:avLst/>
          </a:prstGeom>
          <a:noFill/>
          <a:ln cap="flat" cmpd="sng" w="17775">
            <a:solidFill>
              <a:srgbClr val="496E94"/>
            </a:solidFill>
            <a:prstDash val="solid"/>
            <a:round/>
            <a:headEnd len="sm" w="sm" type="none"/>
            <a:tailEnd len="med" w="med" type="triangle"/>
          </a:ln>
        </p:spPr>
      </p:cxnSp>
      <p:sp>
        <p:nvSpPr>
          <p:cNvPr id="346" name="Google Shape;346;p10"/>
          <p:cNvSpPr/>
          <p:nvPr/>
        </p:nvSpPr>
        <p:spPr>
          <a:xfrm>
            <a:off x="914400" y="2362200"/>
            <a:ext cx="1508700" cy="1051500"/>
          </a:xfrm>
          <a:prstGeom prst="roundRect">
            <a:avLst>
              <a:gd fmla="val 6087"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200"/>
              <a:buFont typeface="Noto Sans"/>
              <a:buNone/>
            </a:pPr>
            <a:r>
              <a:rPr b="1" i="0" lang="en-US" u="none" cap="none" strike="noStrike">
                <a:solidFill>
                  <a:srgbClr val="1D2939"/>
                </a:solidFill>
                <a:latin typeface="Noto Sans"/>
                <a:ea typeface="Noto Sans"/>
                <a:cs typeface="Noto Sans"/>
                <a:sym typeface="Noto Sans"/>
              </a:rPr>
              <a:t>NORMAL</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200"/>
              <a:buFont typeface="Noto Sans"/>
              <a:buNone/>
            </a:pPr>
            <a:r>
              <a:rPr b="1" i="0" lang="en-US" u="none" cap="none" strike="noStrike">
                <a:solidFill>
                  <a:srgbClr val="1D2939"/>
                </a:solidFill>
                <a:latin typeface="Noto Sans"/>
                <a:ea typeface="Noto Sans"/>
                <a:cs typeface="Noto Sans"/>
                <a:sym typeface="Noto Sans"/>
              </a:rPr>
              <a:t>no suspect</a:t>
            </a:r>
            <a:endParaRPr b="0" i="0" u="none" cap="none" strike="noStrike">
              <a:solidFill>
                <a:schemeClr val="dk1"/>
              </a:solidFill>
              <a:latin typeface="Noto Sans"/>
              <a:ea typeface="Noto Sans"/>
              <a:cs typeface="Noto Sans"/>
              <a:sym typeface="Noto Sans"/>
            </a:endParaRPr>
          </a:p>
        </p:txBody>
      </p:sp>
      <p:sp>
        <p:nvSpPr>
          <p:cNvPr id="347" name="Google Shape;347;p10"/>
          <p:cNvSpPr/>
          <p:nvPr/>
        </p:nvSpPr>
        <p:spPr>
          <a:xfrm>
            <a:off x="4069080" y="2362200"/>
            <a:ext cx="1508700" cy="1051500"/>
          </a:xfrm>
          <a:prstGeom prst="roundRect">
            <a:avLst>
              <a:gd fmla="val 6087" name="adj"/>
            </a:avLst>
          </a:prstGeom>
          <a:solidFill>
            <a:srgbClr val="EAF2FA"/>
          </a:solidFill>
          <a:ln cap="flat" cmpd="sng" w="9525">
            <a:solidFill>
              <a:srgbClr val="496E94"/>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0B1F33"/>
              </a:buClr>
              <a:buSzPts val="1200"/>
              <a:buFont typeface="Noto Sans"/>
              <a:buNone/>
            </a:pPr>
            <a:r>
              <a:rPr b="1" i="0" lang="en-US" u="none" cap="none" strike="noStrike">
                <a:solidFill>
                  <a:srgbClr val="0B1F33"/>
                </a:solidFill>
                <a:latin typeface="Noto Sans"/>
                <a:ea typeface="Noto Sans"/>
                <a:cs typeface="Noto Sans"/>
                <a:sym typeface="Noto Sans"/>
              </a:rPr>
              <a:t>SUSPECT</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200"/>
              <a:buFont typeface="Noto Sans"/>
              <a:buNone/>
            </a:pPr>
            <a:r>
              <a:rPr b="1" i="0" lang="en-US" u="none" cap="none" strike="noStrike">
                <a:solidFill>
                  <a:srgbClr val="0B1F33"/>
                </a:solidFill>
                <a:latin typeface="Noto Sans"/>
                <a:ea typeface="Noto Sans"/>
                <a:cs typeface="Noto Sans"/>
                <a:sym typeface="Noto Sans"/>
              </a:rPr>
              <a:t>conf ≥ 0.25</a:t>
            </a:r>
            <a:endParaRPr b="0" i="0" u="none" cap="none" strike="noStrike">
              <a:solidFill>
                <a:schemeClr val="dk1"/>
              </a:solidFill>
              <a:latin typeface="Noto Sans"/>
              <a:ea typeface="Noto Sans"/>
              <a:cs typeface="Noto Sans"/>
              <a:sym typeface="Noto Sans"/>
            </a:endParaRPr>
          </a:p>
        </p:txBody>
      </p:sp>
      <p:sp>
        <p:nvSpPr>
          <p:cNvPr id="348" name="Google Shape;348;p10"/>
          <p:cNvSpPr/>
          <p:nvPr/>
        </p:nvSpPr>
        <p:spPr>
          <a:xfrm>
            <a:off x="7223760" y="2362200"/>
            <a:ext cx="1508700" cy="1051500"/>
          </a:xfrm>
          <a:prstGeom prst="roundRect">
            <a:avLst>
              <a:gd fmla="val 6087" name="adj"/>
            </a:avLst>
          </a:prstGeom>
          <a:solidFill>
            <a:srgbClr val="FFFFFF"/>
          </a:solidFill>
          <a:ln cap="flat" cmpd="sng" w="9525">
            <a:solidFill>
              <a:srgbClr val="0B1F33"/>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0B1F33"/>
              </a:buClr>
              <a:buSzPts val="1200"/>
              <a:buFont typeface="Noto Sans"/>
              <a:buNone/>
            </a:pPr>
            <a:r>
              <a:rPr b="1" i="0" lang="en-US" u="none" cap="none" strike="noStrike">
                <a:solidFill>
                  <a:srgbClr val="0B1F33"/>
                </a:solidFill>
                <a:latin typeface="Noto Sans"/>
                <a:ea typeface="Noto Sans"/>
                <a:cs typeface="Noto Sans"/>
                <a:sym typeface="Noto Sans"/>
              </a:rPr>
              <a:t>ALARM</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0B1F33"/>
              </a:buClr>
              <a:buSzPts val="1200"/>
              <a:buFont typeface="Noto Sans"/>
              <a:buNone/>
            </a:pPr>
            <a:r>
              <a:rPr b="1" i="0" lang="en-US" u="none" cap="none" strike="noStrike">
                <a:solidFill>
                  <a:srgbClr val="0B1F33"/>
                </a:solidFill>
                <a:latin typeface="Noto Sans"/>
                <a:ea typeface="Noto Sans"/>
                <a:cs typeface="Noto Sans"/>
                <a:sym typeface="Noto Sans"/>
              </a:rPr>
              <a:t>k ≥ 2 / 5s</a:t>
            </a:r>
            <a:endParaRPr b="0" i="0" u="none" cap="none" strike="noStrike">
              <a:solidFill>
                <a:schemeClr val="dk1"/>
              </a:solidFill>
              <a:latin typeface="Noto Sans"/>
              <a:ea typeface="Noto Sans"/>
              <a:cs typeface="Noto Sans"/>
              <a:sym typeface="Noto Sans"/>
            </a:endParaRPr>
          </a:p>
        </p:txBody>
      </p:sp>
      <p:sp>
        <p:nvSpPr>
          <p:cNvPr id="349" name="Google Shape;349;p10"/>
          <p:cNvSpPr/>
          <p:nvPr/>
        </p:nvSpPr>
        <p:spPr>
          <a:xfrm>
            <a:off x="9738360" y="2362200"/>
            <a:ext cx="1508700" cy="1051500"/>
          </a:xfrm>
          <a:prstGeom prst="roundRect">
            <a:avLst>
              <a:gd fmla="val 6087"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200"/>
              <a:buFont typeface="Noto Sans"/>
              <a:buNone/>
            </a:pPr>
            <a:r>
              <a:rPr b="1" i="0" lang="en-US" u="none" cap="none" strike="noStrike">
                <a:solidFill>
                  <a:srgbClr val="1D2939"/>
                </a:solidFill>
                <a:latin typeface="Noto Sans"/>
                <a:ea typeface="Noto Sans"/>
                <a:cs typeface="Noto Sans"/>
                <a:sym typeface="Noto Sans"/>
              </a:rPr>
              <a:t>Evidence</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200"/>
              <a:buFont typeface="Noto Sans"/>
              <a:buNone/>
            </a:pPr>
            <a:r>
              <a:rPr b="1" i="0" lang="en-US" u="none" cap="none" strike="noStrike">
                <a:solidFill>
                  <a:srgbClr val="1D2939"/>
                </a:solidFill>
                <a:latin typeface="Noto Sans"/>
                <a:ea typeface="Noto Sans"/>
                <a:cs typeface="Noto Sans"/>
                <a:sym typeface="Noto Sans"/>
              </a:rPr>
              <a:t>snapshot + log</a:t>
            </a:r>
            <a:endParaRPr b="0" i="0" u="none" cap="none" strike="noStrike">
              <a:solidFill>
                <a:schemeClr val="dk1"/>
              </a:solidFill>
              <a:latin typeface="Noto Sans"/>
              <a:ea typeface="Noto Sans"/>
              <a:cs typeface="Noto Sans"/>
              <a:sym typeface="Noto Sans"/>
            </a:endParaRPr>
          </a:p>
        </p:txBody>
      </p:sp>
      <p:cxnSp>
        <p:nvCxnSpPr>
          <p:cNvPr id="350" name="Google Shape;350;p10"/>
          <p:cNvCxnSpPr/>
          <p:nvPr/>
        </p:nvCxnSpPr>
        <p:spPr>
          <a:xfrm>
            <a:off x="8805672" y="2910840"/>
            <a:ext cx="841200" cy="0"/>
          </a:xfrm>
          <a:prstGeom prst="straightConnector1">
            <a:avLst/>
          </a:prstGeom>
          <a:noFill/>
          <a:ln cap="flat" cmpd="sng" w="17775">
            <a:solidFill>
              <a:srgbClr val="496E94"/>
            </a:solidFill>
            <a:prstDash val="solid"/>
            <a:round/>
            <a:headEnd len="sm" w="sm" type="none"/>
            <a:tailEnd len="med" w="med" type="triangle"/>
          </a:ln>
        </p:spPr>
      </p:cxnSp>
      <p:sp>
        <p:nvSpPr>
          <p:cNvPr id="351" name="Google Shape;351;p10"/>
          <p:cNvSpPr/>
          <p:nvPr/>
        </p:nvSpPr>
        <p:spPr>
          <a:xfrm>
            <a:off x="1051560" y="4175760"/>
            <a:ext cx="10012800" cy="1143000"/>
          </a:xfrm>
          <a:prstGeom prst="roundRect">
            <a:avLst>
              <a:gd fmla="val 64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0"/>
          <p:cNvSpPr/>
          <p:nvPr/>
        </p:nvSpPr>
        <p:spPr>
          <a:xfrm>
            <a:off x="1323655" y="4341772"/>
            <a:ext cx="2469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054"/>
              </a:buClr>
              <a:buSzPts val="1150"/>
              <a:buFont typeface="Noto Sans"/>
              <a:buNone/>
            </a:pPr>
            <a:r>
              <a:rPr b="1" i="0" lang="en-US" u="none" cap="none" strike="noStrike">
                <a:solidFill>
                  <a:srgbClr val="344054"/>
                </a:solidFill>
                <a:latin typeface="Noto Sans"/>
                <a:ea typeface="Noto Sans"/>
                <a:cs typeface="Noto Sans"/>
                <a:sym typeface="Noto Sans"/>
              </a:rPr>
              <a:t>5-second sliding window</a:t>
            </a:r>
            <a:endParaRPr b="0" i="0" u="none" cap="none" strike="noStrike">
              <a:solidFill>
                <a:schemeClr val="dk1"/>
              </a:solidFill>
              <a:latin typeface="Noto Sans"/>
              <a:ea typeface="Noto Sans"/>
              <a:cs typeface="Noto Sans"/>
              <a:sym typeface="Noto Sans"/>
            </a:endParaRPr>
          </a:p>
        </p:txBody>
      </p:sp>
      <p:sp>
        <p:nvSpPr>
          <p:cNvPr id="353" name="Google Shape;353;p10"/>
          <p:cNvSpPr/>
          <p:nvPr/>
        </p:nvSpPr>
        <p:spPr>
          <a:xfrm>
            <a:off x="3041936" y="4729752"/>
            <a:ext cx="250200" cy="250200"/>
          </a:xfrm>
          <a:prstGeom prst="rect">
            <a:avLst/>
          </a:prstGeom>
          <a:solidFill>
            <a:srgbClr val="EEF2F6"/>
          </a:solidFill>
          <a:ln cap="flat" cmpd="sng" w="15800">
            <a:solidFill>
              <a:srgbClr val="EEF2F6">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54" name="Google Shape;354;p10"/>
          <p:cNvSpPr/>
          <p:nvPr/>
        </p:nvSpPr>
        <p:spPr>
          <a:xfrm>
            <a:off x="3542449" y="4729752"/>
            <a:ext cx="250200" cy="250200"/>
          </a:xfrm>
          <a:prstGeom prst="rect">
            <a:avLst/>
          </a:prstGeom>
          <a:solidFill>
            <a:srgbClr val="EEF2F6"/>
          </a:solidFill>
          <a:ln cap="flat" cmpd="sng" w="15800">
            <a:solidFill>
              <a:srgbClr val="EEF2F6">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55" name="Google Shape;355;p10"/>
          <p:cNvSpPr/>
          <p:nvPr/>
        </p:nvSpPr>
        <p:spPr>
          <a:xfrm>
            <a:off x="4042962" y="4729752"/>
            <a:ext cx="250200" cy="250200"/>
          </a:xfrm>
          <a:prstGeom prst="rect">
            <a:avLst/>
          </a:prstGeom>
          <a:solidFill>
            <a:srgbClr val="496E94"/>
          </a:solidFill>
          <a:ln cap="flat" cmpd="sng" w="15800">
            <a:solidFill>
              <a:srgbClr val="496E94">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56" name="Google Shape;356;p10"/>
          <p:cNvSpPr/>
          <p:nvPr/>
        </p:nvSpPr>
        <p:spPr>
          <a:xfrm>
            <a:off x="4543475" y="4729752"/>
            <a:ext cx="250200" cy="250200"/>
          </a:xfrm>
          <a:prstGeom prst="rect">
            <a:avLst/>
          </a:prstGeom>
          <a:solidFill>
            <a:srgbClr val="EEF2F6"/>
          </a:solidFill>
          <a:ln cap="flat" cmpd="sng" w="15800">
            <a:solidFill>
              <a:srgbClr val="EEF2F6">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57" name="Google Shape;357;p10"/>
          <p:cNvSpPr/>
          <p:nvPr/>
        </p:nvSpPr>
        <p:spPr>
          <a:xfrm>
            <a:off x="5043988" y="4729752"/>
            <a:ext cx="250200" cy="250200"/>
          </a:xfrm>
          <a:prstGeom prst="rect">
            <a:avLst/>
          </a:prstGeom>
          <a:solidFill>
            <a:srgbClr val="EEF2F6"/>
          </a:solidFill>
          <a:ln cap="flat" cmpd="sng" w="15800">
            <a:solidFill>
              <a:srgbClr val="EEF2F6">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58" name="Google Shape;358;p10"/>
          <p:cNvSpPr/>
          <p:nvPr/>
        </p:nvSpPr>
        <p:spPr>
          <a:xfrm>
            <a:off x="5544502" y="4729752"/>
            <a:ext cx="250200" cy="250200"/>
          </a:xfrm>
          <a:prstGeom prst="rect">
            <a:avLst/>
          </a:prstGeom>
          <a:solidFill>
            <a:srgbClr val="EEF2F6"/>
          </a:solidFill>
          <a:ln cap="flat" cmpd="sng" w="15800">
            <a:solidFill>
              <a:srgbClr val="EEF2F6">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59" name="Google Shape;359;p10"/>
          <p:cNvSpPr/>
          <p:nvPr/>
        </p:nvSpPr>
        <p:spPr>
          <a:xfrm>
            <a:off x="6045015" y="4729752"/>
            <a:ext cx="250200" cy="250200"/>
          </a:xfrm>
          <a:prstGeom prst="rect">
            <a:avLst/>
          </a:prstGeom>
          <a:solidFill>
            <a:srgbClr val="EEF2F6"/>
          </a:solidFill>
          <a:ln cap="flat" cmpd="sng" w="15800">
            <a:solidFill>
              <a:srgbClr val="EEF2F6">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60" name="Google Shape;360;p10"/>
          <p:cNvSpPr/>
          <p:nvPr/>
        </p:nvSpPr>
        <p:spPr>
          <a:xfrm>
            <a:off x="6545528" y="4729752"/>
            <a:ext cx="250200" cy="250200"/>
          </a:xfrm>
          <a:prstGeom prst="rect">
            <a:avLst/>
          </a:prstGeom>
          <a:solidFill>
            <a:srgbClr val="496E94"/>
          </a:solidFill>
          <a:ln cap="flat" cmpd="sng" w="15800">
            <a:solidFill>
              <a:srgbClr val="496E94">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61" name="Google Shape;361;p10"/>
          <p:cNvSpPr/>
          <p:nvPr/>
        </p:nvSpPr>
        <p:spPr>
          <a:xfrm>
            <a:off x="7546554" y="4729752"/>
            <a:ext cx="250200" cy="250200"/>
          </a:xfrm>
          <a:prstGeom prst="rect">
            <a:avLst/>
          </a:prstGeom>
          <a:solidFill>
            <a:srgbClr val="EEF2F6"/>
          </a:solidFill>
          <a:ln cap="flat" cmpd="sng" w="15800">
            <a:solidFill>
              <a:srgbClr val="EEF2F6">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a:p>
        </p:txBody>
      </p:sp>
      <p:sp>
        <p:nvSpPr>
          <p:cNvPr id="362" name="Google Shape;362;p10"/>
          <p:cNvSpPr/>
          <p:nvPr/>
        </p:nvSpPr>
        <p:spPr>
          <a:xfrm>
            <a:off x="4930243" y="4672825"/>
            <a:ext cx="2495400" cy="398100"/>
          </a:xfrm>
          <a:prstGeom prst="bracketPair">
            <a:avLst/>
          </a:prstGeom>
          <a:solidFill>
            <a:srgbClr val="FFFFFF">
              <a:alpha val="0"/>
            </a:srgbClr>
          </a:solidFill>
          <a:ln cap="flat" cmpd="sng" w="14225">
            <a:solidFill>
              <a:srgbClr val="496E94"/>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sz="1742"/>
          </a:p>
        </p:txBody>
      </p:sp>
      <p:sp>
        <p:nvSpPr>
          <p:cNvPr id="363" name="Google Shape;363;p10"/>
          <p:cNvSpPr/>
          <p:nvPr/>
        </p:nvSpPr>
        <p:spPr>
          <a:xfrm>
            <a:off x="7993850" y="4654325"/>
            <a:ext cx="2971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1120"/>
              <a:buFont typeface="Noto Sans"/>
              <a:buNone/>
            </a:pPr>
            <a:r>
              <a:rPr b="1" i="0" lang="en-US" u="none" cap="none" strike="noStrike">
                <a:solidFill>
                  <a:srgbClr val="2F5D8C"/>
                </a:solidFill>
                <a:latin typeface="Noto Sans"/>
                <a:ea typeface="Noto Sans"/>
                <a:cs typeface="Noto Sans"/>
                <a:sym typeface="Noto Sans"/>
              </a:rPr>
              <a:t>2 suspect observations ⇒ ALARM</a:t>
            </a:r>
            <a:endParaRPr b="0" i="0" u="none" cap="none" strike="noStrike">
              <a:solidFill>
                <a:schemeClr val="dk1"/>
              </a:solidFill>
              <a:latin typeface="Noto Sans"/>
              <a:ea typeface="Noto Sans"/>
              <a:cs typeface="Noto Sans"/>
              <a:sym typeface="Noto Sans"/>
            </a:endParaRPr>
          </a:p>
        </p:txBody>
      </p:sp>
      <p:sp>
        <p:nvSpPr>
          <p:cNvPr id="364" name="Google Shape;364;p10"/>
          <p:cNvSpPr/>
          <p:nvPr/>
        </p:nvSpPr>
        <p:spPr>
          <a:xfrm>
            <a:off x="7045965" y="4729674"/>
            <a:ext cx="250500" cy="250500"/>
          </a:xfrm>
          <a:prstGeom prst="rect">
            <a:avLst/>
          </a:prstGeom>
          <a:solidFill>
            <a:srgbClr val="496E94"/>
          </a:solidFill>
          <a:ln cap="flat" cmpd="sng" w="15800">
            <a:solidFill>
              <a:srgbClr val="496E94">
                <a:alpha val="0"/>
              </a:srgbClr>
            </a:solidFill>
            <a:prstDash val="solid"/>
            <a:round/>
            <a:headEnd len="sm" w="sm" type="none"/>
            <a:tailEnd len="sm" w="sm" type="none"/>
          </a:ln>
        </p:spPr>
        <p:txBody>
          <a:bodyPr anchorCtr="0" anchor="ctr" bIns="113725" lIns="113725" spcFirstLastPara="1" rIns="113725" wrap="square" tIns="113725">
            <a:noAutofit/>
          </a:bodyPr>
          <a:lstStyle/>
          <a:p>
            <a:pPr indent="0" lvl="0" marL="0" rtl="0" algn="l">
              <a:spcBef>
                <a:spcPts val="0"/>
              </a:spcBef>
              <a:spcAft>
                <a:spcPts val="0"/>
              </a:spcAft>
              <a:buNone/>
            </a:pPr>
            <a:r>
              <a:t/>
            </a:r>
            <a:endParaRPr sz="1742"/>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9" name="Shape 369"/>
        <p:cNvGrpSpPr/>
        <p:nvPr/>
      </p:nvGrpSpPr>
      <p:grpSpPr>
        <a:xfrm>
          <a:off x="0" y="0"/>
          <a:ext cx="0" cy="0"/>
          <a:chOff x="0" y="0"/>
          <a:chExt cx="0" cy="0"/>
        </a:xfrm>
      </p:grpSpPr>
      <p:sp>
        <p:nvSpPr>
          <p:cNvPr id="370" name="Google Shape;370;p11"/>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06 / Preliminary evidence</a:t>
            </a:r>
            <a:endParaRPr b="0" i="0" sz="850" u="none" cap="none" strike="noStrike">
              <a:solidFill>
                <a:schemeClr val="dk1"/>
              </a:solidFill>
              <a:latin typeface="Noto Sans"/>
              <a:ea typeface="Noto Sans"/>
              <a:cs typeface="Noto Sans"/>
              <a:sym typeface="Noto Sans"/>
            </a:endParaRPr>
          </a:p>
        </p:txBody>
      </p:sp>
      <p:sp>
        <p:nvSpPr>
          <p:cNvPr id="371" name="Google Shape;371;p11"/>
          <p:cNvSpPr/>
          <p:nvPr/>
        </p:nvSpPr>
        <p:spPr>
          <a:xfrm>
            <a:off x="512076" y="475500"/>
            <a:ext cx="10693800" cy="384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Fast detector preliminary result</a:t>
            </a:r>
            <a:endParaRPr b="0" i="0" sz="2450" u="none" cap="none" strike="noStrike">
              <a:solidFill>
                <a:schemeClr val="dk1"/>
              </a:solidFill>
              <a:latin typeface="Noto Sans"/>
              <a:ea typeface="Noto Sans"/>
              <a:cs typeface="Noto Sans"/>
              <a:sym typeface="Noto Sans"/>
            </a:endParaRPr>
          </a:p>
        </p:txBody>
      </p:sp>
      <p:sp>
        <p:nvSpPr>
          <p:cNvPr id="372" name="Google Shape;372;p11"/>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11</a:t>
            </a:r>
            <a:endParaRPr b="0" i="0" sz="800" u="none" cap="none" strike="noStrike">
              <a:solidFill>
                <a:schemeClr val="dk1"/>
              </a:solidFill>
              <a:latin typeface="Noto Sans"/>
              <a:ea typeface="Noto Sans"/>
              <a:cs typeface="Noto Sans"/>
              <a:sym typeface="Noto Sans"/>
            </a:endParaRPr>
          </a:p>
        </p:txBody>
      </p:sp>
      <p:cxnSp>
        <p:nvCxnSpPr>
          <p:cNvPr id="373" name="Google Shape;373;p11"/>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374" name="Google Shape;374;p11"/>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375" name="Google Shape;375;p11"/>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376" name="Google Shape;376;p11"/>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11</a:t>
            </a:r>
            <a:endParaRPr b="0" i="0" sz="720" u="none" cap="none" strike="noStrike">
              <a:solidFill>
                <a:schemeClr val="dk1"/>
              </a:solidFill>
              <a:latin typeface="Noto Sans"/>
              <a:ea typeface="Noto Sans"/>
              <a:cs typeface="Noto Sans"/>
              <a:sym typeface="Noto Sans"/>
            </a:endParaRPr>
          </a:p>
        </p:txBody>
      </p:sp>
      <p:sp>
        <p:nvSpPr>
          <p:cNvPr id="377" name="Google Shape;377;p11"/>
          <p:cNvSpPr/>
          <p:nvPr/>
        </p:nvSpPr>
        <p:spPr>
          <a:xfrm>
            <a:off x="512075" y="1069850"/>
            <a:ext cx="10881300" cy="567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40"/>
              <a:buFont typeface="Noto Sans"/>
              <a:buNone/>
            </a:pPr>
            <a:r>
              <a:rPr i="0" lang="en-US" sz="1540" u="none" cap="none" strike="noStrike">
                <a:solidFill>
                  <a:srgbClr val="0B1F33"/>
                </a:solidFill>
                <a:latin typeface="Noto Sans"/>
                <a:ea typeface="Noto Sans"/>
                <a:cs typeface="Noto Sans"/>
                <a:sym typeface="Noto Sans"/>
              </a:rPr>
              <a:t>단일 fast baseline 결과는 </a:t>
            </a:r>
            <a:r>
              <a:rPr b="1" i="0" lang="en-US" sz="1540" u="none" cap="none" strike="noStrike">
                <a:solidFill>
                  <a:srgbClr val="0B1F33"/>
                </a:solidFill>
                <a:latin typeface="Noto Sans"/>
                <a:ea typeface="Noto Sans"/>
                <a:cs typeface="Noto Sans"/>
                <a:sym typeface="Noto Sans"/>
              </a:rPr>
              <a:t>“pipeline sanity-check”</a:t>
            </a:r>
            <a:r>
              <a:rPr lang="en-US" sz="1540">
                <a:solidFill>
                  <a:srgbClr val="0B1F33"/>
                </a:solidFill>
                <a:latin typeface="Noto Sans"/>
                <a:ea typeface="Noto Sans"/>
                <a:cs typeface="Noto Sans"/>
                <a:sym typeface="Noto Sans"/>
              </a:rPr>
              <a:t> 목적</a:t>
            </a:r>
            <a:endParaRPr sz="1540">
              <a:solidFill>
                <a:srgbClr val="0B1F33"/>
              </a:solidFill>
              <a:latin typeface="Noto Sans"/>
              <a:ea typeface="Noto Sans"/>
              <a:cs typeface="Noto Sans"/>
              <a:sym typeface="Noto Sans"/>
            </a:endParaRPr>
          </a:p>
          <a:p>
            <a:pPr indent="0" lvl="0" marL="0" marR="0" rtl="0" algn="l">
              <a:spcBef>
                <a:spcPts val="0"/>
              </a:spcBef>
              <a:spcAft>
                <a:spcPts val="0"/>
              </a:spcAft>
              <a:buClr>
                <a:srgbClr val="0B1F33"/>
              </a:buClr>
              <a:buSzPts val="1540"/>
              <a:buFont typeface="Noto Sans"/>
              <a:buNone/>
            </a:pPr>
            <a:r>
              <a:rPr lang="en-US" sz="1540">
                <a:solidFill>
                  <a:srgbClr val="0B1F33"/>
                </a:solidFill>
                <a:latin typeface="Noto Sans"/>
                <a:ea typeface="Noto Sans"/>
                <a:cs typeface="Noto Sans"/>
                <a:sym typeface="Noto Sans"/>
              </a:rPr>
              <a:t>→</a:t>
            </a:r>
            <a:r>
              <a:rPr i="0" lang="en-US" sz="1540" u="none" cap="none" strike="noStrike">
                <a:solidFill>
                  <a:srgbClr val="0B1F33"/>
                </a:solidFill>
                <a:latin typeface="Noto Sans"/>
                <a:ea typeface="Noto Sans"/>
                <a:cs typeface="Noto Sans"/>
                <a:sym typeface="Noto Sans"/>
              </a:rPr>
              <a:t> localization benchmark 또는 deployment-ready 성능</a:t>
            </a:r>
            <a:r>
              <a:rPr lang="en-US" sz="1540">
                <a:solidFill>
                  <a:srgbClr val="0B1F33"/>
                </a:solidFill>
                <a:latin typeface="Noto Sans"/>
                <a:ea typeface="Noto Sans"/>
                <a:cs typeface="Noto Sans"/>
                <a:sym typeface="Noto Sans"/>
              </a:rPr>
              <a:t>으로 해석 X</a:t>
            </a:r>
            <a:endParaRPr i="0" sz="1540" u="none" cap="none" strike="noStrike">
              <a:solidFill>
                <a:schemeClr val="dk1"/>
              </a:solidFill>
              <a:latin typeface="Noto Sans"/>
              <a:ea typeface="Noto Sans"/>
              <a:cs typeface="Noto Sans"/>
              <a:sym typeface="Noto Sans"/>
            </a:endParaRPr>
          </a:p>
        </p:txBody>
      </p:sp>
      <p:sp>
        <p:nvSpPr>
          <p:cNvPr id="378" name="Google Shape;378;p11"/>
          <p:cNvSpPr/>
          <p:nvPr/>
        </p:nvSpPr>
        <p:spPr>
          <a:xfrm>
            <a:off x="749800" y="1859275"/>
            <a:ext cx="2326800" cy="1292700"/>
          </a:xfrm>
          <a:prstGeom prst="roundRect">
            <a:avLst>
              <a:gd fmla="val 6400" name="adj"/>
            </a:avLst>
          </a:prstGeom>
          <a:solidFill>
            <a:srgbClr val="FFFFFF"/>
          </a:solidFill>
          <a:ln cap="flat" cmpd="sng" w="10775">
            <a:solidFill>
              <a:srgbClr val="E4E7EC"/>
            </a:solidFill>
            <a:prstDash val="solid"/>
            <a:round/>
            <a:headEnd len="sm" w="sm" type="none"/>
            <a:tailEnd len="sm" w="sm" type="none"/>
          </a:ln>
        </p:spPr>
        <p:txBody>
          <a:bodyPr anchorCtr="0" anchor="ctr" bIns="103375" lIns="103375" spcFirstLastPara="1" rIns="103375" wrap="square" tIns="103375">
            <a:noAutofit/>
          </a:bodyPr>
          <a:lstStyle/>
          <a:p>
            <a:pPr indent="0" lvl="0" marL="0" rtl="0" algn="l">
              <a:spcBef>
                <a:spcPts val="0"/>
              </a:spcBef>
              <a:spcAft>
                <a:spcPts val="0"/>
              </a:spcAft>
              <a:buNone/>
            </a:pPr>
            <a:r>
              <a:t/>
            </a:r>
            <a:endParaRPr/>
          </a:p>
        </p:txBody>
      </p:sp>
      <p:sp>
        <p:nvSpPr>
          <p:cNvPr id="379" name="Google Shape;379;p11"/>
          <p:cNvSpPr/>
          <p:nvPr/>
        </p:nvSpPr>
        <p:spPr>
          <a:xfrm>
            <a:off x="935924" y="2014378"/>
            <a:ext cx="1954500" cy="434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F5D8C"/>
              </a:buClr>
              <a:buSzPts val="2940"/>
              <a:buFont typeface="Noto Sans"/>
              <a:buNone/>
            </a:pPr>
            <a:r>
              <a:rPr b="1" i="0" lang="en-US" sz="2368" u="none" cap="none" strike="noStrike">
                <a:solidFill>
                  <a:srgbClr val="2F5D8C"/>
                </a:solidFill>
                <a:latin typeface="Noto Sans"/>
                <a:ea typeface="Noto Sans"/>
                <a:cs typeface="Noto Sans"/>
                <a:sym typeface="Noto Sans"/>
              </a:rPr>
              <a:t>58.82%</a:t>
            </a:r>
            <a:endParaRPr b="0" i="0" sz="2368" u="none" cap="none" strike="noStrike">
              <a:solidFill>
                <a:schemeClr val="dk1"/>
              </a:solidFill>
              <a:latin typeface="Noto Sans"/>
              <a:ea typeface="Noto Sans"/>
              <a:cs typeface="Noto Sans"/>
              <a:sym typeface="Noto Sans"/>
            </a:endParaRPr>
          </a:p>
        </p:txBody>
      </p:sp>
      <p:sp>
        <p:nvSpPr>
          <p:cNvPr id="380" name="Google Shape;380;p11"/>
          <p:cNvSpPr/>
          <p:nvPr/>
        </p:nvSpPr>
        <p:spPr>
          <a:xfrm>
            <a:off x="935921" y="2510855"/>
            <a:ext cx="2140500" cy="248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1187"/>
              <a:buFont typeface="Noto Sans"/>
              <a:buNone/>
            </a:pPr>
            <a:r>
              <a:rPr b="1" i="0" lang="en-US" sz="1282" u="none" cap="none" strike="noStrike">
                <a:solidFill>
                  <a:srgbClr val="344054"/>
                </a:solidFill>
                <a:latin typeface="Noto Sans"/>
                <a:ea typeface="Noto Sans"/>
                <a:cs typeface="Noto Sans"/>
                <a:sym typeface="Noto Sans"/>
              </a:rPr>
              <a:t>synthetic proxy hit-rate</a:t>
            </a:r>
            <a:endParaRPr b="0" i="0" sz="1282" u="none" cap="none" strike="noStrike">
              <a:solidFill>
                <a:schemeClr val="dk1"/>
              </a:solidFill>
              <a:latin typeface="Noto Sans"/>
              <a:ea typeface="Noto Sans"/>
              <a:cs typeface="Noto Sans"/>
              <a:sym typeface="Noto Sans"/>
            </a:endParaRPr>
          </a:p>
        </p:txBody>
      </p:sp>
      <p:sp>
        <p:nvSpPr>
          <p:cNvPr id="381" name="Google Shape;381;p11"/>
          <p:cNvSpPr/>
          <p:nvPr/>
        </p:nvSpPr>
        <p:spPr>
          <a:xfrm>
            <a:off x="935924" y="2831254"/>
            <a:ext cx="1954500" cy="186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49"/>
              <a:buFont typeface="Noto Sans"/>
              <a:buNone/>
            </a:pPr>
            <a:r>
              <a:rPr b="0" i="0" lang="en-US" sz="1085" u="none" cap="none" strike="noStrike">
                <a:solidFill>
                  <a:srgbClr val="667085"/>
                </a:solidFill>
                <a:latin typeface="Noto Sans"/>
                <a:ea typeface="Noto Sans"/>
                <a:cs typeface="Noto Sans"/>
                <a:sym typeface="Noto Sans"/>
              </a:rPr>
              <a:t>34장 중 20 hit</a:t>
            </a:r>
            <a:endParaRPr b="0" i="0" sz="1085" u="none" cap="none" strike="noStrike">
              <a:solidFill>
                <a:schemeClr val="dk1"/>
              </a:solidFill>
              <a:latin typeface="Noto Sans"/>
              <a:ea typeface="Noto Sans"/>
              <a:cs typeface="Noto Sans"/>
              <a:sym typeface="Noto Sans"/>
            </a:endParaRPr>
          </a:p>
        </p:txBody>
      </p:sp>
      <p:sp>
        <p:nvSpPr>
          <p:cNvPr id="382" name="Google Shape;382;p11"/>
          <p:cNvSpPr/>
          <p:nvPr/>
        </p:nvSpPr>
        <p:spPr>
          <a:xfrm>
            <a:off x="3365873" y="1859275"/>
            <a:ext cx="2326800" cy="1292700"/>
          </a:xfrm>
          <a:prstGeom prst="roundRect">
            <a:avLst>
              <a:gd fmla="val 6400" name="adj"/>
            </a:avLst>
          </a:prstGeom>
          <a:solidFill>
            <a:srgbClr val="FFFFFF"/>
          </a:solidFill>
          <a:ln cap="flat" cmpd="sng" w="10775">
            <a:solidFill>
              <a:srgbClr val="E4E7EC"/>
            </a:solidFill>
            <a:prstDash val="solid"/>
            <a:round/>
            <a:headEnd len="sm" w="sm" type="none"/>
            <a:tailEnd len="sm" w="sm" type="none"/>
          </a:ln>
        </p:spPr>
        <p:txBody>
          <a:bodyPr anchorCtr="0" anchor="ctr" bIns="103375" lIns="103375" spcFirstLastPara="1" rIns="103375" wrap="square" tIns="103375">
            <a:noAutofit/>
          </a:bodyPr>
          <a:lstStyle/>
          <a:p>
            <a:pPr indent="0" lvl="0" marL="0" rtl="0" algn="l">
              <a:spcBef>
                <a:spcPts val="0"/>
              </a:spcBef>
              <a:spcAft>
                <a:spcPts val="0"/>
              </a:spcAft>
              <a:buNone/>
            </a:pPr>
            <a:r>
              <a:t/>
            </a:r>
            <a:endParaRPr/>
          </a:p>
        </p:txBody>
      </p:sp>
      <p:sp>
        <p:nvSpPr>
          <p:cNvPr id="383" name="Google Shape;383;p11"/>
          <p:cNvSpPr/>
          <p:nvPr/>
        </p:nvSpPr>
        <p:spPr>
          <a:xfrm>
            <a:off x="3551997" y="2014378"/>
            <a:ext cx="1954500" cy="434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F5D8C"/>
              </a:buClr>
              <a:buSzPts val="2940"/>
              <a:buFont typeface="Noto Sans"/>
              <a:buNone/>
            </a:pPr>
            <a:r>
              <a:rPr b="1" i="0" lang="en-US" sz="2368" u="none" cap="none" strike="noStrike">
                <a:solidFill>
                  <a:srgbClr val="2F5D8C"/>
                </a:solidFill>
                <a:latin typeface="Noto Sans"/>
                <a:ea typeface="Noto Sans"/>
                <a:cs typeface="Noto Sans"/>
                <a:sym typeface="Noto Sans"/>
              </a:rPr>
              <a:t>76.47%</a:t>
            </a:r>
            <a:endParaRPr b="0" i="0" sz="2368" u="none" cap="none" strike="noStrike">
              <a:solidFill>
                <a:schemeClr val="dk1"/>
              </a:solidFill>
              <a:latin typeface="Noto Sans"/>
              <a:ea typeface="Noto Sans"/>
              <a:cs typeface="Noto Sans"/>
              <a:sym typeface="Noto Sans"/>
            </a:endParaRPr>
          </a:p>
        </p:txBody>
      </p:sp>
      <p:sp>
        <p:nvSpPr>
          <p:cNvPr id="384" name="Google Shape;384;p11"/>
          <p:cNvSpPr/>
          <p:nvPr/>
        </p:nvSpPr>
        <p:spPr>
          <a:xfrm>
            <a:off x="3551997" y="2510863"/>
            <a:ext cx="1954500" cy="248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1187"/>
              <a:buFont typeface="Noto Sans"/>
              <a:buNone/>
            </a:pPr>
            <a:r>
              <a:rPr b="1" i="0" lang="en-US" sz="1381" u="none" cap="none" strike="noStrike">
                <a:solidFill>
                  <a:srgbClr val="344054"/>
                </a:solidFill>
                <a:latin typeface="Noto Sans"/>
                <a:ea typeface="Noto Sans"/>
                <a:cs typeface="Noto Sans"/>
                <a:sym typeface="Noto Sans"/>
              </a:rPr>
              <a:t>fire hit-rate</a:t>
            </a:r>
            <a:endParaRPr b="0" i="0" sz="1381" u="none" cap="none" strike="noStrike">
              <a:solidFill>
                <a:schemeClr val="dk1"/>
              </a:solidFill>
              <a:latin typeface="Noto Sans"/>
              <a:ea typeface="Noto Sans"/>
              <a:cs typeface="Noto Sans"/>
              <a:sym typeface="Noto Sans"/>
            </a:endParaRPr>
          </a:p>
        </p:txBody>
      </p:sp>
      <p:sp>
        <p:nvSpPr>
          <p:cNvPr id="385" name="Google Shape;385;p11"/>
          <p:cNvSpPr/>
          <p:nvPr/>
        </p:nvSpPr>
        <p:spPr>
          <a:xfrm>
            <a:off x="3551997" y="2831254"/>
            <a:ext cx="1954500" cy="186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49"/>
              <a:buFont typeface="Noto Sans"/>
              <a:buNone/>
            </a:pPr>
            <a:r>
              <a:rPr b="0" i="0" lang="en-US" sz="1085" u="none" cap="none" strike="noStrike">
                <a:solidFill>
                  <a:srgbClr val="667085"/>
                </a:solidFill>
                <a:latin typeface="Noto Sans"/>
                <a:ea typeface="Noto Sans"/>
                <a:cs typeface="Noto Sans"/>
                <a:sym typeface="Noto Sans"/>
              </a:rPr>
              <a:t>17장 중 13 hit</a:t>
            </a:r>
            <a:endParaRPr b="0" i="0" sz="1085" u="none" cap="none" strike="noStrike">
              <a:solidFill>
                <a:schemeClr val="dk1"/>
              </a:solidFill>
              <a:latin typeface="Noto Sans"/>
              <a:ea typeface="Noto Sans"/>
              <a:cs typeface="Noto Sans"/>
              <a:sym typeface="Noto Sans"/>
            </a:endParaRPr>
          </a:p>
        </p:txBody>
      </p:sp>
      <p:sp>
        <p:nvSpPr>
          <p:cNvPr id="386" name="Google Shape;386;p11"/>
          <p:cNvSpPr/>
          <p:nvPr/>
        </p:nvSpPr>
        <p:spPr>
          <a:xfrm>
            <a:off x="5981947" y="1859275"/>
            <a:ext cx="2326800" cy="1292700"/>
          </a:xfrm>
          <a:prstGeom prst="roundRect">
            <a:avLst>
              <a:gd fmla="val 6400" name="adj"/>
            </a:avLst>
          </a:prstGeom>
          <a:solidFill>
            <a:srgbClr val="FFFFFF"/>
          </a:solidFill>
          <a:ln cap="flat" cmpd="sng" w="10775">
            <a:solidFill>
              <a:srgbClr val="E4E7EC"/>
            </a:solidFill>
            <a:prstDash val="solid"/>
            <a:round/>
            <a:headEnd len="sm" w="sm" type="none"/>
            <a:tailEnd len="sm" w="sm" type="none"/>
          </a:ln>
        </p:spPr>
        <p:txBody>
          <a:bodyPr anchorCtr="0" anchor="ctr" bIns="103375" lIns="103375" spcFirstLastPara="1" rIns="103375" wrap="square" tIns="103375">
            <a:noAutofit/>
          </a:bodyPr>
          <a:lstStyle/>
          <a:p>
            <a:pPr indent="0" lvl="0" marL="0" rtl="0" algn="l">
              <a:spcBef>
                <a:spcPts val="0"/>
              </a:spcBef>
              <a:spcAft>
                <a:spcPts val="0"/>
              </a:spcAft>
              <a:buNone/>
            </a:pPr>
            <a:r>
              <a:t/>
            </a:r>
            <a:endParaRPr/>
          </a:p>
        </p:txBody>
      </p:sp>
      <p:sp>
        <p:nvSpPr>
          <p:cNvPr id="387" name="Google Shape;387;p11"/>
          <p:cNvSpPr/>
          <p:nvPr/>
        </p:nvSpPr>
        <p:spPr>
          <a:xfrm>
            <a:off x="6168071" y="2014378"/>
            <a:ext cx="1954500" cy="434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7918"/>
              </a:buClr>
              <a:buSzPts val="2940"/>
              <a:buFont typeface="Noto Sans"/>
              <a:buNone/>
            </a:pPr>
            <a:r>
              <a:rPr b="1" i="0" lang="en-US" sz="2368" u="none" cap="none" strike="noStrike">
                <a:solidFill>
                  <a:srgbClr val="A77918"/>
                </a:solidFill>
                <a:latin typeface="Noto Sans"/>
                <a:ea typeface="Noto Sans"/>
                <a:cs typeface="Noto Sans"/>
                <a:sym typeface="Noto Sans"/>
              </a:rPr>
              <a:t>41.18%</a:t>
            </a:r>
            <a:endParaRPr b="0" i="0" sz="2368" u="none" cap="none" strike="noStrike">
              <a:solidFill>
                <a:schemeClr val="dk1"/>
              </a:solidFill>
              <a:latin typeface="Noto Sans"/>
              <a:ea typeface="Noto Sans"/>
              <a:cs typeface="Noto Sans"/>
              <a:sym typeface="Noto Sans"/>
            </a:endParaRPr>
          </a:p>
        </p:txBody>
      </p:sp>
      <p:sp>
        <p:nvSpPr>
          <p:cNvPr id="388" name="Google Shape;388;p11"/>
          <p:cNvSpPr/>
          <p:nvPr/>
        </p:nvSpPr>
        <p:spPr>
          <a:xfrm>
            <a:off x="6168071" y="2510863"/>
            <a:ext cx="1954500" cy="248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1187"/>
              <a:buFont typeface="Noto Sans"/>
              <a:buNone/>
            </a:pPr>
            <a:r>
              <a:rPr b="1" i="0" lang="en-US" sz="1381" u="none" cap="none" strike="noStrike">
                <a:solidFill>
                  <a:srgbClr val="344054"/>
                </a:solidFill>
                <a:latin typeface="Noto Sans"/>
                <a:ea typeface="Noto Sans"/>
                <a:cs typeface="Noto Sans"/>
                <a:sym typeface="Noto Sans"/>
              </a:rPr>
              <a:t>smoke hit-rate</a:t>
            </a:r>
            <a:endParaRPr b="0" i="0" sz="1381" u="none" cap="none" strike="noStrike">
              <a:solidFill>
                <a:schemeClr val="dk1"/>
              </a:solidFill>
              <a:latin typeface="Noto Sans"/>
              <a:ea typeface="Noto Sans"/>
              <a:cs typeface="Noto Sans"/>
              <a:sym typeface="Noto Sans"/>
            </a:endParaRPr>
          </a:p>
        </p:txBody>
      </p:sp>
      <p:sp>
        <p:nvSpPr>
          <p:cNvPr id="389" name="Google Shape;389;p11"/>
          <p:cNvSpPr/>
          <p:nvPr/>
        </p:nvSpPr>
        <p:spPr>
          <a:xfrm>
            <a:off x="6168071" y="2831254"/>
            <a:ext cx="1954500" cy="186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49"/>
              <a:buFont typeface="Noto Sans"/>
              <a:buNone/>
            </a:pPr>
            <a:r>
              <a:rPr b="0" i="0" lang="en-US" sz="1085" u="none" cap="none" strike="noStrike">
                <a:solidFill>
                  <a:srgbClr val="667085"/>
                </a:solidFill>
                <a:latin typeface="Noto Sans"/>
                <a:ea typeface="Noto Sans"/>
                <a:cs typeface="Noto Sans"/>
                <a:sym typeface="Noto Sans"/>
              </a:rPr>
              <a:t>17장 중 7 hit</a:t>
            </a:r>
            <a:endParaRPr b="0" i="0" sz="1085" u="none" cap="none" strike="noStrike">
              <a:solidFill>
                <a:schemeClr val="dk1"/>
              </a:solidFill>
              <a:latin typeface="Noto Sans"/>
              <a:ea typeface="Noto Sans"/>
              <a:cs typeface="Noto Sans"/>
              <a:sym typeface="Noto Sans"/>
            </a:endParaRPr>
          </a:p>
        </p:txBody>
      </p:sp>
      <p:sp>
        <p:nvSpPr>
          <p:cNvPr id="390" name="Google Shape;390;p11"/>
          <p:cNvSpPr/>
          <p:nvPr/>
        </p:nvSpPr>
        <p:spPr>
          <a:xfrm>
            <a:off x="8598000" y="1859275"/>
            <a:ext cx="2557800" cy="1292700"/>
          </a:xfrm>
          <a:prstGeom prst="roundRect">
            <a:avLst>
              <a:gd fmla="val 6400" name="adj"/>
            </a:avLst>
          </a:prstGeom>
          <a:solidFill>
            <a:srgbClr val="FFFFFF"/>
          </a:solidFill>
          <a:ln cap="flat" cmpd="sng" w="10775">
            <a:solidFill>
              <a:srgbClr val="E4E7EC"/>
            </a:solidFill>
            <a:prstDash val="solid"/>
            <a:round/>
            <a:headEnd len="sm" w="sm" type="none"/>
            <a:tailEnd len="sm" w="sm" type="none"/>
          </a:ln>
        </p:spPr>
        <p:txBody>
          <a:bodyPr anchorCtr="0" anchor="ctr" bIns="103375" lIns="103375" spcFirstLastPara="1" rIns="103375" wrap="square" tIns="103375">
            <a:noAutofit/>
          </a:bodyPr>
          <a:lstStyle/>
          <a:p>
            <a:pPr indent="0" lvl="0" marL="0" rtl="0" algn="l">
              <a:spcBef>
                <a:spcPts val="0"/>
              </a:spcBef>
              <a:spcAft>
                <a:spcPts val="0"/>
              </a:spcAft>
              <a:buNone/>
            </a:pPr>
            <a:r>
              <a:t/>
            </a:r>
            <a:endParaRPr sz="1381"/>
          </a:p>
        </p:txBody>
      </p:sp>
      <p:sp>
        <p:nvSpPr>
          <p:cNvPr id="391" name="Google Shape;391;p11"/>
          <p:cNvSpPr/>
          <p:nvPr/>
        </p:nvSpPr>
        <p:spPr>
          <a:xfrm>
            <a:off x="8784144" y="2014378"/>
            <a:ext cx="1954500" cy="434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7918"/>
              </a:buClr>
              <a:buSzPts val="2827"/>
              <a:buFont typeface="Noto Sans"/>
              <a:buNone/>
            </a:pPr>
            <a:r>
              <a:rPr b="1" i="0" lang="en-US" sz="2368" u="none" cap="none" strike="noStrike">
                <a:solidFill>
                  <a:srgbClr val="A77918"/>
                </a:solidFill>
                <a:latin typeface="Noto Sans"/>
                <a:ea typeface="Noto Sans"/>
                <a:cs typeface="Noto Sans"/>
                <a:sym typeface="Noto Sans"/>
              </a:rPr>
              <a:t>66.93%</a:t>
            </a:r>
            <a:endParaRPr b="0" i="0" sz="2368" u="none" cap="none" strike="noStrike">
              <a:solidFill>
                <a:schemeClr val="dk1"/>
              </a:solidFill>
              <a:latin typeface="Noto Sans"/>
              <a:ea typeface="Noto Sans"/>
              <a:cs typeface="Noto Sans"/>
              <a:sym typeface="Noto Sans"/>
            </a:endParaRPr>
          </a:p>
        </p:txBody>
      </p:sp>
      <p:sp>
        <p:nvSpPr>
          <p:cNvPr id="392" name="Google Shape;392;p11"/>
          <p:cNvSpPr/>
          <p:nvPr/>
        </p:nvSpPr>
        <p:spPr>
          <a:xfrm>
            <a:off x="8784153" y="2510855"/>
            <a:ext cx="2280300" cy="2484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1187"/>
              <a:buFont typeface="Noto Sans"/>
              <a:buNone/>
            </a:pPr>
            <a:r>
              <a:rPr b="1" i="0" lang="en-US" sz="1282" u="none" cap="none" strike="noStrike">
                <a:solidFill>
                  <a:srgbClr val="344054"/>
                </a:solidFill>
                <a:latin typeface="Noto Sans"/>
                <a:ea typeface="Noto Sans"/>
                <a:cs typeface="Noto Sans"/>
                <a:sym typeface="Noto Sans"/>
              </a:rPr>
              <a:t>hard-negative false alarm</a:t>
            </a:r>
            <a:endParaRPr b="0" i="0" sz="1282" u="none" cap="none" strike="noStrike">
              <a:solidFill>
                <a:schemeClr val="dk1"/>
              </a:solidFill>
              <a:latin typeface="Noto Sans"/>
              <a:ea typeface="Noto Sans"/>
              <a:cs typeface="Noto Sans"/>
              <a:sym typeface="Noto Sans"/>
            </a:endParaRPr>
          </a:p>
        </p:txBody>
      </p:sp>
      <p:sp>
        <p:nvSpPr>
          <p:cNvPr id="393" name="Google Shape;393;p11"/>
          <p:cNvSpPr/>
          <p:nvPr/>
        </p:nvSpPr>
        <p:spPr>
          <a:xfrm>
            <a:off x="8784144" y="2831254"/>
            <a:ext cx="1954500" cy="186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49"/>
              <a:buFont typeface="Noto Sans"/>
              <a:buNone/>
            </a:pPr>
            <a:r>
              <a:rPr b="0" i="0" lang="en-US" sz="1085" u="none" cap="none" strike="noStrike">
                <a:solidFill>
                  <a:srgbClr val="667085"/>
                </a:solidFill>
                <a:latin typeface="Noto Sans"/>
                <a:ea typeface="Noto Sans"/>
                <a:cs typeface="Noto Sans"/>
                <a:sym typeface="Noto Sans"/>
              </a:rPr>
              <a:t>127장 중 85 frames · 145 boxes</a:t>
            </a:r>
            <a:endParaRPr b="0" i="0" sz="1085" u="none" cap="none" strike="noStrike">
              <a:solidFill>
                <a:schemeClr val="dk1"/>
              </a:solidFill>
              <a:latin typeface="Noto Sans"/>
              <a:ea typeface="Noto Sans"/>
              <a:cs typeface="Noto Sans"/>
              <a:sym typeface="Noto Sans"/>
            </a:endParaRPr>
          </a:p>
        </p:txBody>
      </p:sp>
      <p:sp>
        <p:nvSpPr>
          <p:cNvPr id="394" name="Google Shape;394;p11"/>
          <p:cNvSpPr/>
          <p:nvPr/>
        </p:nvSpPr>
        <p:spPr>
          <a:xfrm>
            <a:off x="822960" y="3703320"/>
            <a:ext cx="4892040" cy="1481328"/>
          </a:xfrm>
          <a:prstGeom prst="roundRect">
            <a:avLst>
              <a:gd fmla="val 4938"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395" name="Google Shape;395;p11"/>
          <p:cNvSpPr/>
          <p:nvPr/>
        </p:nvSpPr>
        <p:spPr>
          <a:xfrm>
            <a:off x="1097280" y="3913632"/>
            <a:ext cx="43891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20"/>
              <a:buFont typeface="Noto Sans"/>
              <a:buNone/>
            </a:pPr>
            <a:r>
              <a:rPr b="1" i="0" lang="en-US" sz="1620" u="none" cap="none" strike="noStrike">
                <a:solidFill>
                  <a:srgbClr val="0B1F33"/>
                </a:solidFill>
                <a:latin typeface="Noto Sans"/>
                <a:ea typeface="Noto Sans"/>
                <a:cs typeface="Noto Sans"/>
                <a:sym typeface="Noto Sans"/>
              </a:rPr>
              <a:t>Positive proxy 결과</a:t>
            </a:r>
            <a:endParaRPr b="0" i="0" sz="1620" u="none" cap="none" strike="noStrike">
              <a:solidFill>
                <a:schemeClr val="dk1"/>
              </a:solidFill>
              <a:latin typeface="Noto Sans"/>
              <a:ea typeface="Noto Sans"/>
              <a:cs typeface="Noto Sans"/>
              <a:sym typeface="Noto Sans"/>
            </a:endParaRPr>
          </a:p>
        </p:txBody>
      </p:sp>
      <p:sp>
        <p:nvSpPr>
          <p:cNvPr id="396" name="Google Shape;396;p11"/>
          <p:cNvSpPr/>
          <p:nvPr/>
        </p:nvSpPr>
        <p:spPr>
          <a:xfrm>
            <a:off x="1143000" y="4279400"/>
            <a:ext cx="4394400" cy="6585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344054"/>
              </a:buClr>
              <a:buSzPts val="960"/>
              <a:buFont typeface="Noto Sans"/>
              <a:buNone/>
            </a:pPr>
            <a:r>
              <a:rPr b="0" i="0" lang="en-US" u="none" cap="none" strike="noStrike">
                <a:solidFill>
                  <a:srgbClr val="344054"/>
                </a:solidFill>
                <a:latin typeface="Noto Sans"/>
                <a:ea typeface="Noto Sans"/>
                <a:cs typeface="Noto Sans"/>
                <a:sym typeface="Noto Sans"/>
              </a:rPr>
              <a:t>• 합성 fire/smoke proxy 일부는 detector가 반응</a:t>
            </a:r>
            <a:endParaRPr b="0" i="0" u="none" cap="none" strike="noStrike">
              <a:solidFill>
                <a:schemeClr val="dk1"/>
              </a:solidFill>
              <a:latin typeface="Noto Sans"/>
              <a:ea typeface="Noto Sans"/>
              <a:cs typeface="Noto Sans"/>
              <a:sym typeface="Noto Sans"/>
            </a:endParaRPr>
          </a:p>
          <a:p>
            <a:pPr indent="0" lvl="0" marL="0" marR="0" rtl="0" algn="l">
              <a:lnSpc>
                <a:spcPct val="115000"/>
              </a:lnSpc>
              <a:spcBef>
                <a:spcPts val="0"/>
              </a:spcBef>
              <a:spcAft>
                <a:spcPts val="0"/>
              </a:spcAft>
              <a:buClr>
                <a:srgbClr val="344054"/>
              </a:buClr>
              <a:buSzPts val="960"/>
              <a:buFont typeface="Noto Sans"/>
              <a:buNone/>
            </a:pPr>
            <a:r>
              <a:rPr b="0" i="0" lang="en-US" u="none" cap="none" strike="noStrike">
                <a:solidFill>
                  <a:srgbClr val="344054"/>
                </a:solidFill>
                <a:latin typeface="Noto Sans"/>
                <a:ea typeface="Noto Sans"/>
                <a:cs typeface="Noto Sans"/>
                <a:sym typeface="Noto Sans"/>
              </a:rPr>
              <a:t>• fire는 상대적으로 탐지 가능성이 보이나 smoke는 낮음</a:t>
            </a:r>
            <a:endParaRPr b="0" i="0" u="none" cap="none" strike="noStrike">
              <a:solidFill>
                <a:schemeClr val="dk1"/>
              </a:solidFill>
              <a:latin typeface="Noto Sans"/>
              <a:ea typeface="Noto Sans"/>
              <a:cs typeface="Noto Sans"/>
              <a:sym typeface="Noto Sans"/>
            </a:endParaRPr>
          </a:p>
          <a:p>
            <a:pPr indent="0" lvl="0" marL="0" marR="0" rtl="0" algn="l">
              <a:lnSpc>
                <a:spcPct val="115000"/>
              </a:lnSpc>
              <a:spcBef>
                <a:spcPts val="0"/>
              </a:spcBef>
              <a:spcAft>
                <a:spcPts val="0"/>
              </a:spcAft>
              <a:buClr>
                <a:srgbClr val="344054"/>
              </a:buClr>
              <a:buSzPts val="960"/>
              <a:buFont typeface="Noto Sans"/>
              <a:buNone/>
            </a:pPr>
            <a:r>
              <a:rPr b="0" i="0" lang="en-US" u="none" cap="none" strike="noStrike">
                <a:solidFill>
                  <a:srgbClr val="344054"/>
                </a:solidFill>
                <a:latin typeface="Noto Sans"/>
                <a:ea typeface="Noto Sans"/>
                <a:cs typeface="Noto Sans"/>
                <a:sym typeface="Noto Sans"/>
              </a:rPr>
              <a:t>• 이는 “positive cue 주입 시 반응” 확인 수준</a:t>
            </a:r>
            <a:endParaRPr b="0" i="0" u="none" cap="none" strike="noStrike">
              <a:solidFill>
                <a:schemeClr val="dk1"/>
              </a:solidFill>
              <a:latin typeface="Noto Sans"/>
              <a:ea typeface="Noto Sans"/>
              <a:cs typeface="Noto Sans"/>
              <a:sym typeface="Noto Sans"/>
            </a:endParaRPr>
          </a:p>
        </p:txBody>
      </p:sp>
      <p:sp>
        <p:nvSpPr>
          <p:cNvPr id="397" name="Google Shape;397;p11"/>
          <p:cNvSpPr/>
          <p:nvPr/>
        </p:nvSpPr>
        <p:spPr>
          <a:xfrm>
            <a:off x="6263650" y="3703325"/>
            <a:ext cx="4892100" cy="1481400"/>
          </a:xfrm>
          <a:prstGeom prst="roundRect">
            <a:avLst>
              <a:gd fmla="val 4938" name="adj"/>
            </a:avLst>
          </a:prstGeom>
          <a:solidFill>
            <a:srgbClr val="F9FAFB"/>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398" name="Google Shape;398;p11"/>
          <p:cNvSpPr/>
          <p:nvPr/>
        </p:nvSpPr>
        <p:spPr>
          <a:xfrm>
            <a:off x="6537960" y="3913632"/>
            <a:ext cx="42062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7918"/>
              </a:buClr>
              <a:buSzPts val="1320"/>
              <a:buFont typeface="Noto Sans"/>
              <a:buNone/>
            </a:pPr>
            <a:r>
              <a:rPr b="1" i="0" lang="en-US" sz="1620" u="none" cap="none" strike="noStrike">
                <a:solidFill>
                  <a:srgbClr val="A77918"/>
                </a:solidFill>
                <a:latin typeface="Noto Sans"/>
                <a:ea typeface="Noto Sans"/>
                <a:cs typeface="Noto Sans"/>
                <a:sym typeface="Noto Sans"/>
              </a:rPr>
              <a:t>Hard-negative 결과</a:t>
            </a:r>
            <a:endParaRPr b="0" i="0" sz="1620" u="none" cap="none" strike="noStrike">
              <a:solidFill>
                <a:schemeClr val="dk1"/>
              </a:solidFill>
              <a:latin typeface="Noto Sans"/>
              <a:ea typeface="Noto Sans"/>
              <a:cs typeface="Noto Sans"/>
              <a:sym typeface="Noto Sans"/>
            </a:endParaRPr>
          </a:p>
        </p:txBody>
      </p:sp>
      <p:sp>
        <p:nvSpPr>
          <p:cNvPr id="399" name="Google Shape;399;p11"/>
          <p:cNvSpPr/>
          <p:nvPr/>
        </p:nvSpPr>
        <p:spPr>
          <a:xfrm>
            <a:off x="6705917" y="4279400"/>
            <a:ext cx="4254000" cy="658500"/>
          </a:xfrm>
          <a:prstGeom prst="rect">
            <a:avLst/>
          </a:prstGeom>
          <a:noFill/>
          <a:ln>
            <a:noFill/>
          </a:ln>
        </p:spPr>
        <p:txBody>
          <a:bodyPr anchorCtr="0" anchor="ctr" bIns="0" lIns="0" spcFirstLastPara="1" rIns="0" wrap="square" tIns="0">
            <a:normAutofit/>
          </a:bodyPr>
          <a:lstStyle/>
          <a:p>
            <a:pPr indent="0" lvl="0" marL="0" marR="0" rtl="0" algn="l">
              <a:lnSpc>
                <a:spcPct val="115000"/>
              </a:lnSpc>
              <a:spcBef>
                <a:spcPts val="0"/>
              </a:spcBef>
              <a:spcAft>
                <a:spcPts val="0"/>
              </a:spcAft>
              <a:buClr>
                <a:srgbClr val="344054"/>
              </a:buClr>
              <a:buSzPts val="960"/>
              <a:buFont typeface="Noto Sans"/>
              <a:buNone/>
            </a:pPr>
            <a:r>
              <a:rPr b="0" i="0" lang="en-US" u="none" cap="none" strike="noStrike">
                <a:solidFill>
                  <a:srgbClr val="344054"/>
                </a:solidFill>
                <a:latin typeface="Noto Sans"/>
                <a:ea typeface="Noto Sans"/>
                <a:cs typeface="Noto Sans"/>
                <a:sym typeface="Noto Sans"/>
              </a:rPr>
              <a:t>• non-fire ship-like confuser에서 높은 오탐</a:t>
            </a:r>
            <a:endParaRPr b="0" i="0" u="none" cap="none" strike="noStrike">
              <a:solidFill>
                <a:schemeClr val="dk1"/>
              </a:solidFill>
              <a:latin typeface="Noto Sans"/>
              <a:ea typeface="Noto Sans"/>
              <a:cs typeface="Noto Sans"/>
              <a:sym typeface="Noto Sans"/>
            </a:endParaRPr>
          </a:p>
          <a:p>
            <a:pPr indent="0" lvl="0" marL="0" marR="0" rtl="0" algn="l">
              <a:lnSpc>
                <a:spcPct val="115000"/>
              </a:lnSpc>
              <a:spcBef>
                <a:spcPts val="0"/>
              </a:spcBef>
              <a:spcAft>
                <a:spcPts val="0"/>
              </a:spcAft>
              <a:buClr>
                <a:srgbClr val="344054"/>
              </a:buClr>
              <a:buSzPts val="960"/>
              <a:buFont typeface="Noto Sans"/>
              <a:buNone/>
            </a:pPr>
            <a:r>
              <a:rPr b="0" i="0" lang="en-US" u="none" cap="none" strike="noStrike">
                <a:solidFill>
                  <a:srgbClr val="344054"/>
                </a:solidFill>
                <a:latin typeface="Noto Sans"/>
                <a:ea typeface="Noto Sans"/>
                <a:cs typeface="Noto Sans"/>
                <a:sym typeface="Noto Sans"/>
              </a:rPr>
              <a:t>• 배치 가능한 false alarm suppression 아님</a:t>
            </a:r>
            <a:endParaRPr b="0" i="0" u="none" cap="none" strike="noStrike">
              <a:solidFill>
                <a:schemeClr val="dk1"/>
              </a:solidFill>
              <a:latin typeface="Noto Sans"/>
              <a:ea typeface="Noto Sans"/>
              <a:cs typeface="Noto Sans"/>
              <a:sym typeface="Noto Sans"/>
            </a:endParaRPr>
          </a:p>
          <a:p>
            <a:pPr indent="0" lvl="0" marL="0" marR="0" rtl="0" algn="l">
              <a:lnSpc>
                <a:spcPct val="115000"/>
              </a:lnSpc>
              <a:spcBef>
                <a:spcPts val="0"/>
              </a:spcBef>
              <a:spcAft>
                <a:spcPts val="0"/>
              </a:spcAft>
              <a:buClr>
                <a:srgbClr val="344054"/>
              </a:buClr>
              <a:buSzPts val="960"/>
              <a:buFont typeface="Noto Sans"/>
              <a:buNone/>
            </a:pPr>
            <a:r>
              <a:rPr b="0" i="0" lang="en-US" u="none" cap="none" strike="noStrike">
                <a:solidFill>
                  <a:srgbClr val="344054"/>
                </a:solidFill>
                <a:latin typeface="Noto Sans"/>
                <a:ea typeface="Noto Sans"/>
                <a:cs typeface="Noto Sans"/>
                <a:sym typeface="Noto Sans"/>
              </a:rPr>
              <a:t>• threshold calibration과 hard-negative mining 필요</a:t>
            </a:r>
            <a:endParaRPr b="0" i="0" u="none" cap="none" strike="noStrike">
              <a:solidFill>
                <a:schemeClr val="dk1"/>
              </a:solidFill>
              <a:latin typeface="Noto Sans"/>
              <a:ea typeface="Noto Sans"/>
              <a:cs typeface="Noto Sans"/>
              <a:sym typeface="Noto Sans"/>
            </a:endParaRPr>
          </a:p>
        </p:txBody>
      </p:sp>
      <p:sp>
        <p:nvSpPr>
          <p:cNvPr id="400" name="Google Shape;400;p11"/>
          <p:cNvSpPr/>
          <p:nvPr/>
        </p:nvSpPr>
        <p:spPr>
          <a:xfrm>
            <a:off x="822950" y="5459050"/>
            <a:ext cx="10241400" cy="438900"/>
          </a:xfrm>
          <a:prstGeom prst="roundRect">
            <a:avLst>
              <a:gd fmla="val 12500" name="adj"/>
            </a:avLst>
          </a:prstGeom>
          <a:noFill/>
          <a:ln>
            <a:noFill/>
          </a:ln>
        </p:spPr>
        <p:txBody>
          <a:bodyPr anchorCtr="0" anchor="ctr" bIns="1000" lIns="1000" spcFirstLastPara="1" rIns="1000" wrap="square" tIns="1000">
            <a:normAutofit/>
          </a:bodyPr>
          <a:lstStyle/>
          <a:p>
            <a:pPr indent="0" lvl="0" marL="0" marR="0" rtl="0" algn="ctr">
              <a:spcBef>
                <a:spcPts val="0"/>
              </a:spcBef>
              <a:spcAft>
                <a:spcPts val="0"/>
              </a:spcAft>
              <a:buClr>
                <a:srgbClr val="A77918"/>
              </a:buClr>
              <a:buSzPts val="1060"/>
              <a:buFont typeface="Noto Sans"/>
              <a:buNone/>
            </a:pPr>
            <a:r>
              <a:rPr b="1" i="0" lang="en-US" u="none" cap="none" strike="noStrike">
                <a:solidFill>
                  <a:schemeClr val="dk1"/>
                </a:solidFill>
                <a:latin typeface="Noto Sans"/>
                <a:ea typeface="Noto Sans"/>
                <a:cs typeface="Noto Sans"/>
                <a:sym typeface="Noto Sans"/>
              </a:rPr>
              <a:t>prototype flow 동작</a:t>
            </a:r>
            <a:r>
              <a:rPr b="1" lang="en-US">
                <a:solidFill>
                  <a:schemeClr val="dk1"/>
                </a:solidFill>
                <a:latin typeface="Noto Sans"/>
                <a:ea typeface="Noto Sans"/>
                <a:cs typeface="Noto Sans"/>
                <a:sym typeface="Noto Sans"/>
              </a:rPr>
              <a:t> 확인 성공</a:t>
            </a:r>
            <a:r>
              <a:rPr b="1" i="0" lang="en-US" u="none" cap="none" strike="noStrike">
                <a:solidFill>
                  <a:schemeClr val="dk1"/>
                </a:solidFill>
                <a:latin typeface="Noto Sans"/>
                <a:ea typeface="Noto Sans"/>
                <a:cs typeface="Noto Sans"/>
                <a:sym typeface="Noto Sans"/>
              </a:rPr>
              <a:t>, </a:t>
            </a:r>
            <a:r>
              <a:rPr b="1" lang="en-US">
                <a:solidFill>
                  <a:schemeClr val="dk1"/>
                </a:solidFill>
                <a:latin typeface="Noto Sans"/>
                <a:ea typeface="Noto Sans"/>
                <a:cs typeface="Noto Sans"/>
                <a:sym typeface="Noto Sans"/>
              </a:rPr>
              <a:t>공개데이터만 이용한 </a:t>
            </a:r>
            <a:r>
              <a:rPr b="1" i="0" lang="en-US" u="none" cap="none" strike="noStrike">
                <a:solidFill>
                  <a:schemeClr val="dk1"/>
                </a:solidFill>
                <a:latin typeface="Noto Sans"/>
                <a:ea typeface="Noto Sans"/>
                <a:cs typeface="Noto Sans"/>
                <a:sym typeface="Noto Sans"/>
              </a:rPr>
              <a:t>detector는 ship-like confuser에서 운용 수준 신뢰성을 보이지 못함</a:t>
            </a:r>
            <a:endParaRPr b="0" i="0" u="none" cap="none" strike="noStrike">
              <a:solidFill>
                <a:schemeClr val="dk1"/>
              </a:solidFill>
              <a:latin typeface="Noto Sans"/>
              <a:ea typeface="Noto Sans"/>
              <a:cs typeface="Noto Sans"/>
              <a:sym typeface="No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5" name="Shape 405"/>
        <p:cNvGrpSpPr/>
        <p:nvPr/>
      </p:nvGrpSpPr>
      <p:grpSpPr>
        <a:xfrm>
          <a:off x="0" y="0"/>
          <a:ext cx="0" cy="0"/>
          <a:chOff x="0" y="0"/>
          <a:chExt cx="0" cy="0"/>
        </a:xfrm>
      </p:grpSpPr>
      <p:sp>
        <p:nvSpPr>
          <p:cNvPr id="406" name="Google Shape;406;p12"/>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06 / Preliminary evidence</a:t>
            </a:r>
            <a:endParaRPr b="0" i="0" sz="850" u="none" cap="none" strike="noStrike">
              <a:solidFill>
                <a:schemeClr val="dk1"/>
              </a:solidFill>
              <a:latin typeface="Noto Sans"/>
              <a:ea typeface="Noto Sans"/>
              <a:cs typeface="Noto Sans"/>
              <a:sym typeface="Noto Sans"/>
            </a:endParaRPr>
          </a:p>
        </p:txBody>
      </p:sp>
      <p:sp>
        <p:nvSpPr>
          <p:cNvPr id="407" name="Google Shape;407;p12"/>
          <p:cNvSpPr/>
          <p:nvPr/>
        </p:nvSpPr>
        <p:spPr>
          <a:xfrm>
            <a:off x="512075" y="475500"/>
            <a:ext cx="11167500" cy="384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4-stream runtime emulator: end-to-end 처리 가능성 확인</a:t>
            </a:r>
            <a:endParaRPr b="0" i="0" sz="2450" u="none" cap="none" strike="noStrike">
              <a:solidFill>
                <a:schemeClr val="dk1"/>
              </a:solidFill>
              <a:latin typeface="Noto Sans"/>
              <a:ea typeface="Noto Sans"/>
              <a:cs typeface="Noto Sans"/>
              <a:sym typeface="Noto Sans"/>
            </a:endParaRPr>
          </a:p>
        </p:txBody>
      </p:sp>
      <p:sp>
        <p:nvSpPr>
          <p:cNvPr id="408" name="Google Shape;408;p12"/>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12</a:t>
            </a:r>
            <a:endParaRPr b="0" i="0" sz="800" u="none" cap="none" strike="noStrike">
              <a:solidFill>
                <a:schemeClr val="dk1"/>
              </a:solidFill>
              <a:latin typeface="Noto Sans"/>
              <a:ea typeface="Noto Sans"/>
              <a:cs typeface="Noto Sans"/>
              <a:sym typeface="Noto Sans"/>
            </a:endParaRPr>
          </a:p>
        </p:txBody>
      </p:sp>
      <p:cxnSp>
        <p:nvCxnSpPr>
          <p:cNvPr id="409" name="Google Shape;409;p12"/>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410" name="Google Shape;410;p12"/>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411" name="Google Shape;411;p12"/>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412" name="Google Shape;412;p12"/>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12</a:t>
            </a:r>
            <a:endParaRPr b="0" i="0" sz="720" u="none" cap="none" strike="noStrike">
              <a:solidFill>
                <a:schemeClr val="dk1"/>
              </a:solidFill>
              <a:latin typeface="Noto Sans"/>
              <a:ea typeface="Noto Sans"/>
              <a:cs typeface="Noto Sans"/>
              <a:sym typeface="Noto Sans"/>
            </a:endParaRPr>
          </a:p>
        </p:txBody>
      </p:sp>
      <p:sp>
        <p:nvSpPr>
          <p:cNvPr id="413" name="Google Shape;413;p12"/>
          <p:cNvSpPr/>
          <p:nvPr/>
        </p:nvSpPr>
        <p:spPr>
          <a:xfrm>
            <a:off x="512064" y="1069848"/>
            <a:ext cx="1088136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40"/>
              <a:buFont typeface="Noto Sans"/>
              <a:buNone/>
            </a:pPr>
            <a:r>
              <a:rPr i="0" lang="en-US" sz="1540" u="none" cap="none" strike="noStrike">
                <a:solidFill>
                  <a:srgbClr val="0B1F33"/>
                </a:solidFill>
                <a:latin typeface="Noto Sans"/>
                <a:ea typeface="Noto Sans"/>
                <a:cs typeface="Noto Sans"/>
                <a:sym typeface="Noto Sans"/>
              </a:rPr>
              <a:t>4개 local MP4 channel에서 sampled analysis workload는 처리했지만, hard-negative/validation channel alarm 발생</a:t>
            </a:r>
            <a:endParaRPr i="0" sz="1540" u="none" cap="none" strike="noStrike">
              <a:solidFill>
                <a:schemeClr val="dk1"/>
              </a:solidFill>
              <a:latin typeface="Noto Sans"/>
              <a:ea typeface="Noto Sans"/>
              <a:cs typeface="Noto Sans"/>
              <a:sym typeface="Noto Sans"/>
            </a:endParaRPr>
          </a:p>
        </p:txBody>
      </p:sp>
      <p:sp>
        <p:nvSpPr>
          <p:cNvPr id="414" name="Google Shape;414;p12"/>
          <p:cNvSpPr/>
          <p:nvPr/>
        </p:nvSpPr>
        <p:spPr>
          <a:xfrm>
            <a:off x="512075" y="1755650"/>
            <a:ext cx="2023800" cy="1068600"/>
          </a:xfrm>
          <a:prstGeom prst="roundRect">
            <a:avLst>
              <a:gd fmla="val 8000" name="adj"/>
            </a:avLst>
          </a:prstGeom>
          <a:solidFill>
            <a:srgbClr val="FFFFFF"/>
          </a:solidFill>
          <a:ln cap="flat" cmpd="sng" w="10300">
            <a:solidFill>
              <a:srgbClr val="E4E7EC"/>
            </a:solidFill>
            <a:prstDash val="solid"/>
            <a:round/>
            <a:headEnd len="sm" w="sm" type="none"/>
            <a:tailEnd len="sm" w="sm" type="none"/>
          </a:ln>
        </p:spPr>
        <p:txBody>
          <a:bodyPr anchorCtr="0" anchor="ctr" bIns="98875" lIns="98875" spcFirstLastPara="1" rIns="98875" wrap="square" tIns="98875">
            <a:noAutofit/>
          </a:bodyPr>
          <a:lstStyle/>
          <a:p>
            <a:pPr indent="0" lvl="0" marL="0" rtl="0" algn="l">
              <a:spcBef>
                <a:spcPts val="0"/>
              </a:spcBef>
              <a:spcAft>
                <a:spcPts val="0"/>
              </a:spcAft>
              <a:buNone/>
            </a:pPr>
            <a:r>
              <a:t/>
            </a:r>
            <a:endParaRPr/>
          </a:p>
        </p:txBody>
      </p:sp>
      <p:sp>
        <p:nvSpPr>
          <p:cNvPr id="415" name="Google Shape;415;p12"/>
          <p:cNvSpPr/>
          <p:nvPr/>
        </p:nvSpPr>
        <p:spPr>
          <a:xfrm>
            <a:off x="710776" y="1857206"/>
            <a:ext cx="1534500" cy="363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379"/>
              <a:buFont typeface="Noto Sans"/>
              <a:buNone/>
            </a:pPr>
            <a:r>
              <a:rPr b="1" i="0" lang="en-US" sz="2200" u="none" cap="none" strike="noStrike">
                <a:solidFill>
                  <a:srgbClr val="0B1F33"/>
                </a:solidFill>
                <a:latin typeface="Noto Sans"/>
                <a:ea typeface="Noto Sans"/>
                <a:cs typeface="Noto Sans"/>
                <a:sym typeface="Noto Sans"/>
              </a:rPr>
              <a:t>240</a:t>
            </a:r>
            <a:endParaRPr b="0" i="0" sz="2200" u="none" cap="none" strike="noStrike">
              <a:solidFill>
                <a:schemeClr val="dk1"/>
              </a:solidFill>
              <a:latin typeface="Noto Sans"/>
              <a:ea typeface="Noto Sans"/>
              <a:cs typeface="Noto Sans"/>
              <a:sym typeface="Noto Sans"/>
            </a:endParaRPr>
          </a:p>
        </p:txBody>
      </p:sp>
      <p:sp>
        <p:nvSpPr>
          <p:cNvPr id="416" name="Google Shape;416;p12"/>
          <p:cNvSpPr/>
          <p:nvPr/>
        </p:nvSpPr>
        <p:spPr>
          <a:xfrm>
            <a:off x="720249" y="2289947"/>
            <a:ext cx="1607700" cy="213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36"/>
              <a:buFont typeface="Noto Sans"/>
              <a:buNone/>
            </a:pPr>
            <a:r>
              <a:rPr b="1" i="0" lang="en-US" u="none" cap="none" strike="noStrike">
                <a:solidFill>
                  <a:srgbClr val="344054"/>
                </a:solidFill>
                <a:latin typeface="Noto Sans"/>
                <a:ea typeface="Noto Sans"/>
                <a:cs typeface="Noto Sans"/>
                <a:sym typeface="Noto Sans"/>
              </a:rPr>
              <a:t>processed frames</a:t>
            </a:r>
            <a:endParaRPr b="0" i="0" u="none" cap="none" strike="noStrike">
              <a:solidFill>
                <a:schemeClr val="dk1"/>
              </a:solidFill>
              <a:latin typeface="Noto Sans"/>
              <a:ea typeface="Noto Sans"/>
              <a:cs typeface="Noto Sans"/>
              <a:sym typeface="Noto Sans"/>
            </a:endParaRPr>
          </a:p>
        </p:txBody>
      </p:sp>
      <p:sp>
        <p:nvSpPr>
          <p:cNvPr id="417" name="Google Shape;417;p12"/>
          <p:cNvSpPr/>
          <p:nvPr/>
        </p:nvSpPr>
        <p:spPr>
          <a:xfrm>
            <a:off x="720249" y="2573021"/>
            <a:ext cx="1607700" cy="149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07"/>
              <a:buFont typeface="Noto Sans"/>
              <a:buNone/>
            </a:pPr>
            <a:r>
              <a:rPr b="0" i="0" lang="en-US" sz="1100" u="none" cap="none" strike="noStrike">
                <a:solidFill>
                  <a:srgbClr val="667085"/>
                </a:solidFill>
                <a:latin typeface="Noto Sans"/>
                <a:ea typeface="Noto Sans"/>
                <a:cs typeface="Noto Sans"/>
                <a:sym typeface="Noto Sans"/>
              </a:rPr>
              <a:t>4 streams × 60 frames</a:t>
            </a:r>
            <a:endParaRPr b="0" i="0" sz="1100" u="none" cap="none" strike="noStrike">
              <a:solidFill>
                <a:schemeClr val="dk1"/>
              </a:solidFill>
              <a:latin typeface="Noto Sans"/>
              <a:ea typeface="Noto Sans"/>
              <a:cs typeface="Noto Sans"/>
              <a:sym typeface="Noto Sans"/>
            </a:endParaRPr>
          </a:p>
        </p:txBody>
      </p:sp>
      <p:sp>
        <p:nvSpPr>
          <p:cNvPr id="418" name="Google Shape;418;p12"/>
          <p:cNvSpPr/>
          <p:nvPr/>
        </p:nvSpPr>
        <p:spPr>
          <a:xfrm>
            <a:off x="512075" y="2962920"/>
            <a:ext cx="2023800" cy="1068600"/>
          </a:xfrm>
          <a:prstGeom prst="roundRect">
            <a:avLst>
              <a:gd fmla="val 8000" name="adj"/>
            </a:avLst>
          </a:prstGeom>
          <a:solidFill>
            <a:srgbClr val="FFFFFF"/>
          </a:solidFill>
          <a:ln cap="flat" cmpd="sng" w="10300">
            <a:solidFill>
              <a:srgbClr val="E4E7EC"/>
            </a:solidFill>
            <a:prstDash val="solid"/>
            <a:round/>
            <a:headEnd len="sm" w="sm" type="none"/>
            <a:tailEnd len="sm" w="sm" type="none"/>
          </a:ln>
        </p:spPr>
        <p:txBody>
          <a:bodyPr anchorCtr="0" anchor="ctr" bIns="98875" lIns="98875" spcFirstLastPara="1" rIns="98875" wrap="square" tIns="98875">
            <a:noAutofit/>
          </a:bodyPr>
          <a:lstStyle/>
          <a:p>
            <a:pPr indent="0" lvl="0" marL="0" rtl="0" algn="l">
              <a:spcBef>
                <a:spcPts val="0"/>
              </a:spcBef>
              <a:spcAft>
                <a:spcPts val="0"/>
              </a:spcAft>
              <a:buNone/>
            </a:pPr>
            <a:r>
              <a:t/>
            </a:r>
            <a:endParaRPr/>
          </a:p>
        </p:txBody>
      </p:sp>
      <p:sp>
        <p:nvSpPr>
          <p:cNvPr id="419" name="Google Shape;419;p12"/>
          <p:cNvSpPr/>
          <p:nvPr/>
        </p:nvSpPr>
        <p:spPr>
          <a:xfrm>
            <a:off x="720249" y="3064476"/>
            <a:ext cx="1607700" cy="363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F5D8C"/>
              </a:buClr>
              <a:buSzPts val="2379"/>
              <a:buFont typeface="Noto Sans"/>
              <a:buNone/>
            </a:pPr>
            <a:r>
              <a:rPr b="1" i="0" lang="en-US" sz="2200" u="none" cap="none" strike="noStrike">
                <a:solidFill>
                  <a:srgbClr val="2F5D8C"/>
                </a:solidFill>
                <a:latin typeface="Noto Sans"/>
                <a:ea typeface="Noto Sans"/>
                <a:cs typeface="Noto Sans"/>
                <a:sym typeface="Noto Sans"/>
              </a:rPr>
              <a:t>27.80</a:t>
            </a:r>
            <a:endParaRPr b="0" i="0" sz="2200" u="none" cap="none" strike="noStrike">
              <a:solidFill>
                <a:schemeClr val="dk1"/>
              </a:solidFill>
              <a:latin typeface="Noto Sans"/>
              <a:ea typeface="Noto Sans"/>
              <a:cs typeface="Noto Sans"/>
              <a:sym typeface="Noto Sans"/>
            </a:endParaRPr>
          </a:p>
        </p:txBody>
      </p:sp>
      <p:sp>
        <p:nvSpPr>
          <p:cNvPr id="420" name="Google Shape;420;p12"/>
          <p:cNvSpPr/>
          <p:nvPr/>
        </p:nvSpPr>
        <p:spPr>
          <a:xfrm>
            <a:off x="720249" y="3497217"/>
            <a:ext cx="1607700" cy="213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36"/>
              <a:buFont typeface="Noto Sans"/>
              <a:buNone/>
            </a:pPr>
            <a:r>
              <a:rPr b="1" i="0" lang="en-US" u="none" cap="none" strike="noStrike">
                <a:solidFill>
                  <a:srgbClr val="344054"/>
                </a:solidFill>
                <a:latin typeface="Noto Sans"/>
                <a:ea typeface="Noto Sans"/>
                <a:cs typeface="Noto Sans"/>
                <a:sym typeface="Noto Sans"/>
              </a:rPr>
              <a:t>analyzed FPS</a:t>
            </a:r>
            <a:endParaRPr b="0" i="0" u="none" cap="none" strike="noStrike">
              <a:solidFill>
                <a:schemeClr val="dk1"/>
              </a:solidFill>
              <a:latin typeface="Noto Sans"/>
              <a:ea typeface="Noto Sans"/>
              <a:cs typeface="Noto Sans"/>
              <a:sym typeface="Noto Sans"/>
            </a:endParaRPr>
          </a:p>
        </p:txBody>
      </p:sp>
      <p:sp>
        <p:nvSpPr>
          <p:cNvPr id="421" name="Google Shape;421;p12"/>
          <p:cNvSpPr/>
          <p:nvPr/>
        </p:nvSpPr>
        <p:spPr>
          <a:xfrm>
            <a:off x="720249" y="3780290"/>
            <a:ext cx="1607700" cy="149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07"/>
              <a:buFont typeface="Noto Sans"/>
              <a:buNone/>
            </a:pPr>
            <a:r>
              <a:rPr b="0" i="0" lang="en-US" sz="1100" u="none" cap="none" strike="noStrike">
                <a:solidFill>
                  <a:srgbClr val="667085"/>
                </a:solidFill>
                <a:latin typeface="Noto Sans"/>
                <a:ea typeface="Noto Sans"/>
                <a:cs typeface="Noto Sans"/>
                <a:sym typeface="Noto Sans"/>
              </a:rPr>
              <a:t>aggregate runtime</a:t>
            </a:r>
            <a:endParaRPr b="0" i="0" sz="1100" u="none" cap="none" strike="noStrike">
              <a:solidFill>
                <a:schemeClr val="dk1"/>
              </a:solidFill>
              <a:latin typeface="Noto Sans"/>
              <a:ea typeface="Noto Sans"/>
              <a:cs typeface="Noto Sans"/>
              <a:sym typeface="Noto Sans"/>
            </a:endParaRPr>
          </a:p>
        </p:txBody>
      </p:sp>
      <p:sp>
        <p:nvSpPr>
          <p:cNvPr id="422" name="Google Shape;422;p12"/>
          <p:cNvSpPr/>
          <p:nvPr/>
        </p:nvSpPr>
        <p:spPr>
          <a:xfrm>
            <a:off x="512075" y="4170190"/>
            <a:ext cx="2023800" cy="1068600"/>
          </a:xfrm>
          <a:prstGeom prst="roundRect">
            <a:avLst>
              <a:gd fmla="val 8000" name="adj"/>
            </a:avLst>
          </a:prstGeom>
          <a:solidFill>
            <a:srgbClr val="FFFFFF"/>
          </a:solidFill>
          <a:ln cap="flat" cmpd="sng" w="10300">
            <a:solidFill>
              <a:srgbClr val="E4E7EC"/>
            </a:solidFill>
            <a:prstDash val="solid"/>
            <a:round/>
            <a:headEnd len="sm" w="sm" type="none"/>
            <a:tailEnd len="sm" w="sm" type="none"/>
          </a:ln>
        </p:spPr>
        <p:txBody>
          <a:bodyPr anchorCtr="0" anchor="ctr" bIns="98875" lIns="98875" spcFirstLastPara="1" rIns="98875" wrap="square" tIns="98875">
            <a:noAutofit/>
          </a:bodyPr>
          <a:lstStyle/>
          <a:p>
            <a:pPr indent="0" lvl="0" marL="0" rtl="0" algn="l">
              <a:spcBef>
                <a:spcPts val="0"/>
              </a:spcBef>
              <a:spcAft>
                <a:spcPts val="0"/>
              </a:spcAft>
              <a:buNone/>
            </a:pPr>
            <a:r>
              <a:t/>
            </a:r>
            <a:endParaRPr/>
          </a:p>
        </p:txBody>
      </p:sp>
      <p:sp>
        <p:nvSpPr>
          <p:cNvPr id="423" name="Google Shape;423;p12"/>
          <p:cNvSpPr/>
          <p:nvPr/>
        </p:nvSpPr>
        <p:spPr>
          <a:xfrm>
            <a:off x="720249" y="4271745"/>
            <a:ext cx="1607700" cy="363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7918"/>
              </a:buClr>
              <a:buSzPts val="2379"/>
              <a:buFont typeface="Noto Sans"/>
              <a:buNone/>
            </a:pPr>
            <a:r>
              <a:rPr b="1" i="0" lang="en-US" sz="2200" u="none" cap="none" strike="noStrike">
                <a:solidFill>
                  <a:srgbClr val="A77918"/>
                </a:solidFill>
                <a:latin typeface="Noto Sans"/>
                <a:ea typeface="Noto Sans"/>
                <a:cs typeface="Noto Sans"/>
                <a:sym typeface="Noto Sans"/>
              </a:rPr>
              <a:t>5</a:t>
            </a:r>
            <a:endParaRPr b="0" i="0" sz="2200" u="none" cap="none" strike="noStrike">
              <a:solidFill>
                <a:schemeClr val="dk1"/>
              </a:solidFill>
              <a:latin typeface="Noto Sans"/>
              <a:ea typeface="Noto Sans"/>
              <a:cs typeface="Noto Sans"/>
              <a:sym typeface="Noto Sans"/>
            </a:endParaRPr>
          </a:p>
        </p:txBody>
      </p:sp>
      <p:sp>
        <p:nvSpPr>
          <p:cNvPr id="424" name="Google Shape;424;p12"/>
          <p:cNvSpPr/>
          <p:nvPr/>
        </p:nvSpPr>
        <p:spPr>
          <a:xfrm>
            <a:off x="720249" y="4704487"/>
            <a:ext cx="1607700" cy="213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136"/>
              <a:buFont typeface="Noto Sans"/>
              <a:buNone/>
            </a:pPr>
            <a:r>
              <a:rPr b="1" i="0" lang="en-US" u="none" cap="none" strike="noStrike">
                <a:solidFill>
                  <a:srgbClr val="344054"/>
                </a:solidFill>
                <a:latin typeface="Noto Sans"/>
                <a:ea typeface="Noto Sans"/>
                <a:cs typeface="Noto Sans"/>
                <a:sym typeface="Noto Sans"/>
              </a:rPr>
              <a:t>alarm events</a:t>
            </a:r>
            <a:endParaRPr b="0" i="0" u="none" cap="none" strike="noStrike">
              <a:solidFill>
                <a:schemeClr val="dk1"/>
              </a:solidFill>
              <a:latin typeface="Noto Sans"/>
              <a:ea typeface="Noto Sans"/>
              <a:cs typeface="Noto Sans"/>
              <a:sym typeface="Noto Sans"/>
            </a:endParaRPr>
          </a:p>
        </p:txBody>
      </p:sp>
      <p:sp>
        <p:nvSpPr>
          <p:cNvPr id="425" name="Google Shape;425;p12"/>
          <p:cNvSpPr/>
          <p:nvPr/>
        </p:nvSpPr>
        <p:spPr>
          <a:xfrm>
            <a:off x="720249" y="4987560"/>
            <a:ext cx="1607700" cy="149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907"/>
              <a:buFont typeface="Noto Sans"/>
              <a:buNone/>
            </a:pPr>
            <a:r>
              <a:rPr b="0" i="0" lang="en-US" sz="1100" u="none" cap="none" strike="noStrike">
                <a:solidFill>
                  <a:srgbClr val="667085"/>
                </a:solidFill>
                <a:latin typeface="Noto Sans"/>
                <a:ea typeface="Noto Sans"/>
                <a:cs typeface="Noto Sans"/>
                <a:sym typeface="Noto Sans"/>
              </a:rPr>
              <a:t>1 synth · 4 non-synth</a:t>
            </a:r>
            <a:endParaRPr b="0" i="0" sz="1100" u="none" cap="none" strike="noStrike">
              <a:solidFill>
                <a:schemeClr val="dk1"/>
              </a:solidFill>
              <a:latin typeface="Noto Sans"/>
              <a:ea typeface="Noto Sans"/>
              <a:cs typeface="Noto Sans"/>
              <a:sym typeface="Noto Sans"/>
            </a:endParaRPr>
          </a:p>
        </p:txBody>
      </p:sp>
      <p:sp>
        <p:nvSpPr>
          <p:cNvPr id="426" name="Google Shape;426;p12"/>
          <p:cNvSpPr/>
          <p:nvPr/>
        </p:nvSpPr>
        <p:spPr>
          <a:xfrm>
            <a:off x="2670050" y="1719075"/>
            <a:ext cx="8732400" cy="4559700"/>
          </a:xfrm>
          <a:prstGeom prst="roundRect">
            <a:avLst>
              <a:gd fmla="val 1758"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figure3_revised.png" id="427" name="Google Shape;427;p12"/>
          <p:cNvPicPr preferRelativeResize="0"/>
          <p:nvPr/>
        </p:nvPicPr>
        <p:blipFill rotWithShape="1">
          <a:blip r:embed="rId3">
            <a:alphaModFix/>
          </a:blip>
          <a:srcRect b="0" l="0" r="0" t="0"/>
          <a:stretch/>
        </p:blipFill>
        <p:spPr>
          <a:xfrm>
            <a:off x="3372212" y="1719075"/>
            <a:ext cx="7328079" cy="4559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32" name="Shape 432"/>
        <p:cNvGrpSpPr/>
        <p:nvPr/>
      </p:nvGrpSpPr>
      <p:grpSpPr>
        <a:xfrm>
          <a:off x="0" y="0"/>
          <a:ext cx="0" cy="0"/>
          <a:chOff x="0" y="0"/>
          <a:chExt cx="0" cy="0"/>
        </a:xfrm>
      </p:grpSpPr>
      <p:sp>
        <p:nvSpPr>
          <p:cNvPr id="433" name="Google Shape;433;p13"/>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06 / Preliminary evidence</a:t>
            </a:r>
            <a:endParaRPr b="0" i="0" sz="850" u="none" cap="none" strike="noStrike">
              <a:solidFill>
                <a:schemeClr val="dk1"/>
              </a:solidFill>
              <a:latin typeface="Noto Sans"/>
              <a:ea typeface="Noto Sans"/>
              <a:cs typeface="Noto Sans"/>
              <a:sym typeface="Noto Sans"/>
            </a:endParaRPr>
          </a:p>
        </p:txBody>
      </p:sp>
      <p:sp>
        <p:nvSpPr>
          <p:cNvPr id="434" name="Google Shape;434;p13"/>
          <p:cNvSpPr/>
          <p:nvPr/>
        </p:nvSpPr>
        <p:spPr>
          <a:xfrm>
            <a:off x="512064" y="475488"/>
            <a:ext cx="9875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Failure-mode interpretation: false alarm이 높은 이유</a:t>
            </a:r>
            <a:endParaRPr b="0" i="0" sz="2450" u="none" cap="none" strike="noStrike">
              <a:solidFill>
                <a:schemeClr val="dk1"/>
              </a:solidFill>
              <a:latin typeface="Noto Sans"/>
              <a:ea typeface="Noto Sans"/>
              <a:cs typeface="Noto Sans"/>
              <a:sym typeface="Noto Sans"/>
            </a:endParaRPr>
          </a:p>
        </p:txBody>
      </p:sp>
      <p:sp>
        <p:nvSpPr>
          <p:cNvPr id="435" name="Google Shape;435;p13"/>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13</a:t>
            </a:r>
            <a:endParaRPr b="0" i="0" sz="800" u="none" cap="none" strike="noStrike">
              <a:solidFill>
                <a:schemeClr val="dk1"/>
              </a:solidFill>
              <a:latin typeface="Noto Sans"/>
              <a:ea typeface="Noto Sans"/>
              <a:cs typeface="Noto Sans"/>
              <a:sym typeface="Noto Sans"/>
            </a:endParaRPr>
          </a:p>
        </p:txBody>
      </p:sp>
      <p:cxnSp>
        <p:nvCxnSpPr>
          <p:cNvPr id="436" name="Google Shape;436;p13"/>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437" name="Google Shape;437;p13"/>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438" name="Google Shape;438;p13"/>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439" name="Google Shape;439;p13"/>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13</a:t>
            </a:r>
            <a:endParaRPr b="0" i="0" sz="720" u="none" cap="none" strike="noStrike">
              <a:solidFill>
                <a:schemeClr val="dk1"/>
              </a:solidFill>
              <a:latin typeface="Noto Sans"/>
              <a:ea typeface="Noto Sans"/>
              <a:cs typeface="Noto Sans"/>
              <a:sym typeface="Noto Sans"/>
            </a:endParaRPr>
          </a:p>
        </p:txBody>
      </p:sp>
      <p:sp>
        <p:nvSpPr>
          <p:cNvPr id="440" name="Google Shape;440;p13"/>
          <p:cNvSpPr/>
          <p:nvPr/>
        </p:nvSpPr>
        <p:spPr>
          <a:xfrm>
            <a:off x="512064" y="1069848"/>
            <a:ext cx="1088136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40"/>
              <a:buFont typeface="Noto Sans"/>
              <a:buNone/>
            </a:pPr>
            <a:r>
              <a:rPr i="0" lang="en-US" sz="1540" u="none" cap="none" strike="noStrike">
                <a:solidFill>
                  <a:srgbClr val="0B1F33"/>
                </a:solidFill>
                <a:latin typeface="Noto Sans"/>
                <a:ea typeface="Noto Sans"/>
                <a:cs typeface="Noto Sans"/>
                <a:sym typeface="Noto Sans"/>
              </a:rPr>
              <a:t>모델이 “화재처럼 보이는 시각 cue”와 “함정형 confuser”를 충분히 분리하지 못</a:t>
            </a:r>
            <a:r>
              <a:rPr lang="en-US" sz="1540">
                <a:solidFill>
                  <a:srgbClr val="0B1F33"/>
                </a:solidFill>
                <a:latin typeface="Noto Sans"/>
                <a:ea typeface="Noto Sans"/>
                <a:cs typeface="Noto Sans"/>
                <a:sym typeface="Noto Sans"/>
              </a:rPr>
              <a:t>함</a:t>
            </a:r>
            <a:endParaRPr i="0" sz="1540" u="none" cap="none" strike="noStrike">
              <a:solidFill>
                <a:schemeClr val="dk1"/>
              </a:solidFill>
              <a:latin typeface="Noto Sans"/>
              <a:ea typeface="Noto Sans"/>
              <a:cs typeface="Noto Sans"/>
              <a:sym typeface="Noto Sans"/>
            </a:endParaRPr>
          </a:p>
        </p:txBody>
      </p:sp>
      <p:cxnSp>
        <p:nvCxnSpPr>
          <p:cNvPr id="441" name="Google Shape;441;p13"/>
          <p:cNvCxnSpPr/>
          <p:nvPr/>
        </p:nvCxnSpPr>
        <p:spPr>
          <a:xfrm>
            <a:off x="2788920" y="2647188"/>
            <a:ext cx="960000" cy="0"/>
          </a:xfrm>
          <a:prstGeom prst="straightConnector1">
            <a:avLst/>
          </a:prstGeom>
          <a:noFill/>
          <a:ln cap="flat" cmpd="sng" w="12700">
            <a:solidFill>
              <a:srgbClr val="D0D5DD"/>
            </a:solidFill>
            <a:prstDash val="solid"/>
            <a:round/>
            <a:headEnd len="sm" w="sm" type="none"/>
            <a:tailEnd len="med" w="med" type="triangle"/>
          </a:ln>
        </p:spPr>
      </p:cxnSp>
      <p:cxnSp>
        <p:nvCxnSpPr>
          <p:cNvPr id="442" name="Google Shape;442;p13"/>
          <p:cNvCxnSpPr/>
          <p:nvPr/>
        </p:nvCxnSpPr>
        <p:spPr>
          <a:xfrm>
            <a:off x="5897880" y="2647188"/>
            <a:ext cx="960000" cy="0"/>
          </a:xfrm>
          <a:prstGeom prst="straightConnector1">
            <a:avLst/>
          </a:prstGeom>
          <a:noFill/>
          <a:ln cap="flat" cmpd="sng" w="12700">
            <a:solidFill>
              <a:srgbClr val="D0D5DD"/>
            </a:solidFill>
            <a:prstDash val="solid"/>
            <a:round/>
            <a:headEnd len="sm" w="sm" type="none"/>
            <a:tailEnd len="med" w="med" type="triangle"/>
          </a:ln>
        </p:spPr>
      </p:cxnSp>
      <p:cxnSp>
        <p:nvCxnSpPr>
          <p:cNvPr id="443" name="Google Shape;443;p13"/>
          <p:cNvCxnSpPr/>
          <p:nvPr/>
        </p:nvCxnSpPr>
        <p:spPr>
          <a:xfrm>
            <a:off x="8961120" y="2647188"/>
            <a:ext cx="960000" cy="0"/>
          </a:xfrm>
          <a:prstGeom prst="straightConnector1">
            <a:avLst/>
          </a:prstGeom>
          <a:noFill/>
          <a:ln cap="flat" cmpd="sng" w="12700">
            <a:solidFill>
              <a:srgbClr val="D0D5DD"/>
            </a:solidFill>
            <a:prstDash val="solid"/>
            <a:round/>
            <a:headEnd len="sm" w="sm" type="none"/>
            <a:tailEnd len="med" w="med" type="triangle"/>
          </a:ln>
        </p:spPr>
      </p:cxnSp>
      <p:sp>
        <p:nvSpPr>
          <p:cNvPr id="444" name="Google Shape;444;p13"/>
          <p:cNvSpPr/>
          <p:nvPr/>
        </p:nvSpPr>
        <p:spPr>
          <a:xfrm>
            <a:off x="822960" y="2052828"/>
            <a:ext cx="1920300" cy="1188600"/>
          </a:xfrm>
          <a:prstGeom prst="roundRect">
            <a:avLst>
              <a:gd fmla="val 5385"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Synthetic-domain</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mismatch</a:t>
            </a:r>
            <a:endParaRPr b="0" i="0" u="none" cap="none" strike="noStrike">
              <a:solidFill>
                <a:schemeClr val="dk1"/>
              </a:solidFill>
              <a:latin typeface="Noto Sans"/>
              <a:ea typeface="Noto Sans"/>
              <a:cs typeface="Noto Sans"/>
              <a:sym typeface="Noto Sans"/>
            </a:endParaRPr>
          </a:p>
        </p:txBody>
      </p:sp>
      <p:sp>
        <p:nvSpPr>
          <p:cNvPr id="445" name="Google Shape;445;p13"/>
          <p:cNvSpPr/>
          <p:nvPr/>
        </p:nvSpPr>
        <p:spPr>
          <a:xfrm>
            <a:off x="3886200" y="2052828"/>
            <a:ext cx="1920300" cy="1188600"/>
          </a:xfrm>
          <a:prstGeom prst="roundRect">
            <a:avLst>
              <a:gd fmla="val 5385"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Confuser-rich</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ship-like scenes</a:t>
            </a:r>
            <a:endParaRPr b="0" i="0" u="none" cap="none" strike="noStrike">
              <a:solidFill>
                <a:schemeClr val="dk1"/>
              </a:solidFill>
              <a:latin typeface="Noto Sans"/>
              <a:ea typeface="Noto Sans"/>
              <a:cs typeface="Noto Sans"/>
              <a:sym typeface="Noto Sans"/>
            </a:endParaRPr>
          </a:p>
        </p:txBody>
      </p:sp>
      <p:sp>
        <p:nvSpPr>
          <p:cNvPr id="446" name="Google Shape;446;p13"/>
          <p:cNvSpPr/>
          <p:nvPr/>
        </p:nvSpPr>
        <p:spPr>
          <a:xfrm>
            <a:off x="6949440" y="2052828"/>
            <a:ext cx="1920300" cy="1188600"/>
          </a:xfrm>
          <a:prstGeom prst="roundRect">
            <a:avLst>
              <a:gd fmla="val 5385" name="adj"/>
            </a:avLst>
          </a:prstGeom>
          <a:solidFill>
            <a:srgbClr val="FFFFFF"/>
          </a:solidFill>
          <a:ln cap="flat" cmpd="sng" w="9525">
            <a:solidFill>
              <a:srgbClr val="E4E7EC"/>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Low detector</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threshold 0.25</a:t>
            </a:r>
            <a:endParaRPr b="0" i="0" u="none" cap="none" strike="noStrike">
              <a:solidFill>
                <a:schemeClr val="dk1"/>
              </a:solidFill>
              <a:latin typeface="Noto Sans"/>
              <a:ea typeface="Noto Sans"/>
              <a:cs typeface="Noto Sans"/>
              <a:sym typeface="Noto Sans"/>
            </a:endParaRPr>
          </a:p>
        </p:txBody>
      </p:sp>
      <p:sp>
        <p:nvSpPr>
          <p:cNvPr id="447" name="Google Shape;447;p13"/>
          <p:cNvSpPr/>
          <p:nvPr/>
        </p:nvSpPr>
        <p:spPr>
          <a:xfrm>
            <a:off x="10012680" y="2052828"/>
            <a:ext cx="1508700" cy="1188600"/>
          </a:xfrm>
          <a:prstGeom prst="roundRect">
            <a:avLst>
              <a:gd fmla="val 5385" name="adj"/>
            </a:avLst>
          </a:prstGeom>
          <a:solidFill>
            <a:srgbClr val="F4EEE1"/>
          </a:solidFill>
          <a:ln cap="flat" cmpd="sng" w="9525">
            <a:solidFill>
              <a:srgbClr val="A77918"/>
            </a:solidFill>
            <a:prstDash val="solid"/>
            <a:round/>
            <a:headEnd len="sm" w="sm" type="none"/>
            <a:tailEnd len="sm" w="sm" type="none"/>
          </a:ln>
        </p:spPr>
        <p:txBody>
          <a:bodyPr anchorCtr="0" anchor="ctr" bIns="750" lIns="750" spcFirstLastPara="1" rIns="750" wrap="square" tIns="750">
            <a:normAutofit/>
          </a:bodyPr>
          <a:lstStyle/>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Event-level</a:t>
            </a:r>
            <a:endParaRPr b="0" i="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D2939"/>
              </a:buClr>
              <a:buSzPts val="1100"/>
              <a:buFont typeface="Noto Sans"/>
              <a:buNone/>
            </a:pPr>
            <a:r>
              <a:rPr b="1" i="0" lang="en-US" u="none" cap="none" strike="noStrike">
                <a:solidFill>
                  <a:srgbClr val="1D2939"/>
                </a:solidFill>
                <a:latin typeface="Noto Sans"/>
                <a:ea typeface="Noto Sans"/>
                <a:cs typeface="Noto Sans"/>
                <a:sym typeface="Noto Sans"/>
              </a:rPr>
              <a:t>false alarm</a:t>
            </a:r>
            <a:endParaRPr b="0" i="0" u="none" cap="none" strike="noStrike">
              <a:solidFill>
                <a:schemeClr val="dk1"/>
              </a:solidFill>
              <a:latin typeface="Noto Sans"/>
              <a:ea typeface="Noto Sans"/>
              <a:cs typeface="Noto Sans"/>
              <a:sym typeface="Noto Sans"/>
            </a:endParaRPr>
          </a:p>
        </p:txBody>
      </p:sp>
      <p:sp>
        <p:nvSpPr>
          <p:cNvPr id="448" name="Google Shape;448;p13"/>
          <p:cNvSpPr/>
          <p:nvPr/>
        </p:nvSpPr>
        <p:spPr>
          <a:xfrm>
            <a:off x="822950" y="3561986"/>
            <a:ext cx="5140800" cy="811500"/>
          </a:xfrm>
          <a:prstGeom prst="roundRect">
            <a:avLst>
              <a:gd fmla="val 13793"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49" name="Google Shape;449;p13"/>
          <p:cNvSpPr/>
          <p:nvPr/>
        </p:nvSpPr>
        <p:spPr>
          <a:xfrm>
            <a:off x="1026714" y="3696150"/>
            <a:ext cx="4755000" cy="280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930"/>
              <a:buFont typeface="Noto Sans"/>
              <a:buNone/>
            </a:pPr>
            <a:r>
              <a:rPr b="1" i="0" lang="en-US" sz="1330" u="none" cap="none" strike="noStrike">
                <a:solidFill>
                  <a:srgbClr val="0B1F33"/>
                </a:solidFill>
                <a:latin typeface="Noto Sans"/>
                <a:ea typeface="Noto Sans"/>
                <a:cs typeface="Noto Sans"/>
                <a:sym typeface="Noto Sans"/>
              </a:rPr>
              <a:t>2D crop compositing</a:t>
            </a:r>
            <a:endParaRPr b="0" i="0" sz="1330" u="none" cap="none" strike="noStrike">
              <a:solidFill>
                <a:schemeClr val="dk1"/>
              </a:solidFill>
              <a:latin typeface="Noto Sans"/>
              <a:ea typeface="Noto Sans"/>
              <a:cs typeface="Noto Sans"/>
              <a:sym typeface="Noto Sans"/>
            </a:endParaRPr>
          </a:p>
        </p:txBody>
      </p:sp>
      <p:sp>
        <p:nvSpPr>
          <p:cNvPr id="450" name="Google Shape;450;p13"/>
          <p:cNvSpPr/>
          <p:nvPr/>
        </p:nvSpPr>
        <p:spPr>
          <a:xfrm>
            <a:off x="1026732" y="4013000"/>
            <a:ext cx="4755000" cy="307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830"/>
              <a:buFont typeface="Noto Sans"/>
              <a:buNone/>
            </a:pPr>
            <a:r>
              <a:rPr b="0" i="0" lang="en-US" sz="1230" u="none" cap="none" strike="noStrike">
                <a:solidFill>
                  <a:srgbClr val="344054"/>
                </a:solidFill>
                <a:latin typeface="Noto Sans"/>
                <a:ea typeface="Noto Sans"/>
                <a:cs typeface="Noto Sans"/>
                <a:sym typeface="Noto Sans"/>
              </a:rPr>
              <a:t>조명 상호작용·연기 확산·카메라 압축 특성이 반영되지 않음</a:t>
            </a:r>
            <a:endParaRPr b="0" i="0" sz="1230" u="none" cap="none" strike="noStrike">
              <a:solidFill>
                <a:schemeClr val="dk1"/>
              </a:solidFill>
              <a:latin typeface="Noto Sans"/>
              <a:ea typeface="Noto Sans"/>
              <a:cs typeface="Noto Sans"/>
              <a:sym typeface="Noto Sans"/>
            </a:endParaRPr>
          </a:p>
        </p:txBody>
      </p:sp>
      <p:sp>
        <p:nvSpPr>
          <p:cNvPr id="451" name="Google Shape;451;p13"/>
          <p:cNvSpPr/>
          <p:nvPr/>
        </p:nvSpPr>
        <p:spPr>
          <a:xfrm>
            <a:off x="6380628" y="3561986"/>
            <a:ext cx="5140800" cy="811500"/>
          </a:xfrm>
          <a:prstGeom prst="roundRect">
            <a:avLst>
              <a:gd fmla="val 13793"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52" name="Google Shape;452;p13"/>
          <p:cNvSpPr/>
          <p:nvPr/>
        </p:nvSpPr>
        <p:spPr>
          <a:xfrm>
            <a:off x="6584384" y="3696150"/>
            <a:ext cx="4755000" cy="280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7918"/>
              </a:buClr>
              <a:buSzPts val="930"/>
              <a:buFont typeface="Noto Sans"/>
              <a:buNone/>
            </a:pPr>
            <a:r>
              <a:rPr b="1" i="0" lang="en-US" sz="1330" u="none" cap="none" strike="noStrike">
                <a:solidFill>
                  <a:srgbClr val="A77918"/>
                </a:solidFill>
                <a:latin typeface="Noto Sans"/>
                <a:ea typeface="Noto Sans"/>
                <a:cs typeface="Noto Sans"/>
                <a:sym typeface="Noto Sans"/>
              </a:rPr>
              <a:t>Red objects / displays</a:t>
            </a:r>
            <a:endParaRPr b="0" i="0" sz="1330" u="none" cap="none" strike="noStrike">
              <a:solidFill>
                <a:schemeClr val="dk1"/>
              </a:solidFill>
              <a:latin typeface="Noto Sans"/>
              <a:ea typeface="Noto Sans"/>
              <a:cs typeface="Noto Sans"/>
              <a:sym typeface="Noto Sans"/>
            </a:endParaRPr>
          </a:p>
        </p:txBody>
      </p:sp>
      <p:sp>
        <p:nvSpPr>
          <p:cNvPr id="453" name="Google Shape;453;p13"/>
          <p:cNvSpPr/>
          <p:nvPr/>
        </p:nvSpPr>
        <p:spPr>
          <a:xfrm>
            <a:off x="6584405" y="4013000"/>
            <a:ext cx="4755000" cy="307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830"/>
              <a:buFont typeface="Noto Sans"/>
              <a:buNone/>
            </a:pPr>
            <a:r>
              <a:rPr b="0" i="0" lang="en-US" sz="1230" u="none" cap="none" strike="noStrike">
                <a:solidFill>
                  <a:srgbClr val="344054"/>
                </a:solidFill>
                <a:latin typeface="Noto Sans"/>
                <a:ea typeface="Noto Sans"/>
                <a:cs typeface="Noto Sans"/>
                <a:sym typeface="Noto Sans"/>
              </a:rPr>
              <a:t>red valve, red machine, red light, monitor 등이 fire cue와 혼동</a:t>
            </a:r>
            <a:endParaRPr b="0" i="0" sz="1230" u="none" cap="none" strike="noStrike">
              <a:solidFill>
                <a:schemeClr val="dk1"/>
              </a:solidFill>
              <a:latin typeface="Noto Sans"/>
              <a:ea typeface="Noto Sans"/>
              <a:cs typeface="Noto Sans"/>
              <a:sym typeface="Noto Sans"/>
            </a:endParaRPr>
          </a:p>
        </p:txBody>
      </p:sp>
      <p:sp>
        <p:nvSpPr>
          <p:cNvPr id="454" name="Google Shape;454;p13"/>
          <p:cNvSpPr/>
          <p:nvPr/>
        </p:nvSpPr>
        <p:spPr>
          <a:xfrm>
            <a:off x="822950" y="4611320"/>
            <a:ext cx="5140800" cy="811500"/>
          </a:xfrm>
          <a:prstGeom prst="roundRect">
            <a:avLst>
              <a:gd fmla="val 13793" name="adj"/>
            </a:avLst>
          </a:prstGeom>
          <a:solidFill>
            <a:srgbClr val="F9FAFB"/>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55" name="Google Shape;455;p13"/>
          <p:cNvSpPr/>
          <p:nvPr/>
        </p:nvSpPr>
        <p:spPr>
          <a:xfrm>
            <a:off x="1026714" y="4745497"/>
            <a:ext cx="4755000" cy="280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930"/>
              <a:buFont typeface="Noto Sans"/>
              <a:buNone/>
            </a:pPr>
            <a:r>
              <a:rPr b="1" i="0" lang="en-US" sz="1330" u="none" cap="none" strike="noStrike">
                <a:solidFill>
                  <a:srgbClr val="0B1F33"/>
                </a:solidFill>
                <a:latin typeface="Noto Sans"/>
                <a:ea typeface="Noto Sans"/>
                <a:cs typeface="Noto Sans"/>
                <a:sym typeface="Noto Sans"/>
              </a:rPr>
              <a:t>Smoke class ambiguity</a:t>
            </a:r>
            <a:endParaRPr b="0" i="0" sz="1330" u="none" cap="none" strike="noStrike">
              <a:solidFill>
                <a:schemeClr val="dk1"/>
              </a:solidFill>
              <a:latin typeface="Noto Sans"/>
              <a:ea typeface="Noto Sans"/>
              <a:cs typeface="Noto Sans"/>
              <a:sym typeface="Noto Sans"/>
            </a:endParaRPr>
          </a:p>
        </p:txBody>
      </p:sp>
      <p:sp>
        <p:nvSpPr>
          <p:cNvPr id="456" name="Google Shape;456;p13"/>
          <p:cNvSpPr/>
          <p:nvPr/>
        </p:nvSpPr>
        <p:spPr>
          <a:xfrm>
            <a:off x="1026732" y="5062346"/>
            <a:ext cx="4755000" cy="307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830"/>
              <a:buFont typeface="Noto Sans"/>
              <a:buNone/>
            </a:pPr>
            <a:r>
              <a:rPr b="0" i="0" lang="en-US" sz="1230" u="none" cap="none" strike="noStrike">
                <a:solidFill>
                  <a:srgbClr val="344054"/>
                </a:solidFill>
                <a:latin typeface="Noto Sans"/>
                <a:ea typeface="Noto Sans"/>
                <a:cs typeface="Noto Sans"/>
                <a:sym typeface="Noto Sans"/>
              </a:rPr>
              <a:t>연기는 edge/texture가 약해 낮은 recall과 높은 불확실성 발생</a:t>
            </a:r>
            <a:endParaRPr b="0" i="0" sz="1230" u="none" cap="none" strike="noStrike">
              <a:solidFill>
                <a:schemeClr val="dk1"/>
              </a:solidFill>
              <a:latin typeface="Noto Sans"/>
              <a:ea typeface="Noto Sans"/>
              <a:cs typeface="Noto Sans"/>
              <a:sym typeface="Noto Sans"/>
            </a:endParaRPr>
          </a:p>
        </p:txBody>
      </p:sp>
      <p:sp>
        <p:nvSpPr>
          <p:cNvPr id="457" name="Google Shape;457;p13"/>
          <p:cNvSpPr/>
          <p:nvPr/>
        </p:nvSpPr>
        <p:spPr>
          <a:xfrm>
            <a:off x="6380628" y="4611320"/>
            <a:ext cx="5140800" cy="811500"/>
          </a:xfrm>
          <a:prstGeom prst="roundRect">
            <a:avLst>
              <a:gd fmla="val 13793" name="adj"/>
            </a:avLst>
          </a:prstGeom>
          <a:solidFill>
            <a:srgbClr val="F9FAFB"/>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58" name="Google Shape;458;p13"/>
          <p:cNvSpPr/>
          <p:nvPr/>
        </p:nvSpPr>
        <p:spPr>
          <a:xfrm>
            <a:off x="6584384" y="4745497"/>
            <a:ext cx="4755000" cy="280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930"/>
              <a:buFont typeface="Noto Sans"/>
              <a:buNone/>
            </a:pPr>
            <a:r>
              <a:rPr b="1" i="0" lang="en-US" sz="1330" u="none" cap="none" strike="noStrike">
                <a:solidFill>
                  <a:srgbClr val="0B1F33"/>
                </a:solidFill>
                <a:latin typeface="Noto Sans"/>
                <a:ea typeface="Noto Sans"/>
                <a:cs typeface="Noto Sans"/>
                <a:sym typeface="Noto Sans"/>
              </a:rPr>
              <a:t>Proxy box training artifact</a:t>
            </a:r>
            <a:endParaRPr b="0" i="0" sz="1330" u="none" cap="none" strike="noStrike">
              <a:solidFill>
                <a:schemeClr val="dk1"/>
              </a:solidFill>
              <a:latin typeface="Noto Sans"/>
              <a:ea typeface="Noto Sans"/>
              <a:cs typeface="Noto Sans"/>
              <a:sym typeface="Noto Sans"/>
            </a:endParaRPr>
          </a:p>
        </p:txBody>
      </p:sp>
      <p:sp>
        <p:nvSpPr>
          <p:cNvPr id="459" name="Google Shape;459;p13"/>
          <p:cNvSpPr/>
          <p:nvPr/>
        </p:nvSpPr>
        <p:spPr>
          <a:xfrm>
            <a:off x="6584405" y="5062346"/>
            <a:ext cx="4755000" cy="307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44054"/>
              </a:buClr>
              <a:buSzPts val="830"/>
              <a:buFont typeface="Noto Sans"/>
              <a:buNone/>
            </a:pPr>
            <a:r>
              <a:rPr b="0" i="0" lang="en-US" sz="1130" u="none" cap="none" strike="noStrike">
                <a:solidFill>
                  <a:srgbClr val="344054"/>
                </a:solidFill>
                <a:latin typeface="Noto Sans"/>
                <a:ea typeface="Noto Sans"/>
                <a:cs typeface="Noto Sans"/>
                <a:sym typeface="Noto Sans"/>
              </a:rPr>
              <a:t>donor crop positive를 full-image proxy box로 변환해 localization 해석 제한</a:t>
            </a:r>
            <a:endParaRPr b="0" i="0" sz="1130" u="none" cap="none" strike="noStrike">
              <a:solidFill>
                <a:schemeClr val="dk1"/>
              </a:solidFill>
              <a:latin typeface="Noto Sans"/>
              <a:ea typeface="Noto Sans"/>
              <a:cs typeface="Noto Sans"/>
              <a:sym typeface="Noto Sans"/>
            </a:endParaRPr>
          </a:p>
        </p:txBody>
      </p:sp>
      <p:sp>
        <p:nvSpPr>
          <p:cNvPr id="460" name="Google Shape;460;p13"/>
          <p:cNvSpPr/>
          <p:nvPr/>
        </p:nvSpPr>
        <p:spPr>
          <a:xfrm>
            <a:off x="3445200" y="5714900"/>
            <a:ext cx="5301300" cy="347400"/>
          </a:xfrm>
          <a:prstGeom prst="roundRect">
            <a:avLst>
              <a:gd fmla="val 15789" name="adj"/>
            </a:avLst>
          </a:prstGeom>
          <a:solidFill>
            <a:srgbClr val="EAF2FA"/>
          </a:solidFill>
          <a:ln cap="flat" cmpd="sng" w="9525">
            <a:solidFill>
              <a:srgbClr val="EAF2FA"/>
            </a:solidFill>
            <a:prstDash val="solid"/>
            <a:round/>
            <a:headEnd len="sm" w="sm" type="none"/>
            <a:tailEnd len="sm" w="sm" type="none"/>
          </a:ln>
        </p:spPr>
        <p:txBody>
          <a:bodyPr anchorCtr="0" anchor="ctr" bIns="1000" lIns="1000" spcFirstLastPara="1" rIns="1000" wrap="square" tIns="1000">
            <a:normAutofit/>
          </a:bodyPr>
          <a:lstStyle/>
          <a:p>
            <a:pPr indent="0" lvl="0" marL="0" marR="0" rtl="0" algn="ctr">
              <a:spcBef>
                <a:spcPts val="0"/>
              </a:spcBef>
              <a:spcAft>
                <a:spcPts val="0"/>
              </a:spcAft>
              <a:buClr>
                <a:srgbClr val="2F5D8C"/>
              </a:buClr>
              <a:buSzPts val="1030"/>
              <a:buFont typeface="Noto Sans"/>
              <a:buNone/>
            </a:pPr>
            <a:r>
              <a:rPr b="1" i="0" lang="en-US" sz="1030" u="none" cap="none" strike="noStrike">
                <a:solidFill>
                  <a:srgbClr val="2F5D8C"/>
                </a:solidFill>
                <a:latin typeface="Noto Sans"/>
                <a:ea typeface="Noto Sans"/>
                <a:cs typeface="Noto Sans"/>
                <a:sym typeface="Noto Sans"/>
              </a:rPr>
              <a:t>후속 연구의 핵심은</a:t>
            </a:r>
            <a:r>
              <a:rPr b="1" lang="en-US" sz="1030">
                <a:solidFill>
                  <a:srgbClr val="2F5D8C"/>
                </a:solidFill>
                <a:latin typeface="Noto Sans"/>
                <a:ea typeface="Noto Sans"/>
                <a:cs typeface="Noto Sans"/>
                <a:sym typeface="Noto Sans"/>
              </a:rPr>
              <a:t> </a:t>
            </a:r>
            <a:r>
              <a:rPr b="1" i="0" lang="en-US" sz="1030" u="none" cap="none" strike="noStrike">
                <a:solidFill>
                  <a:srgbClr val="2F5D8C"/>
                </a:solidFill>
                <a:latin typeface="Noto Sans"/>
                <a:ea typeface="Noto Sans"/>
                <a:cs typeface="Noto Sans"/>
                <a:sym typeface="Noto Sans"/>
              </a:rPr>
              <a:t>calibration-aware sample valuation + hard-negative mining</a:t>
            </a:r>
            <a:endParaRPr b="0" i="0" sz="1030" u="none" cap="none" strike="noStrike">
              <a:solidFill>
                <a:schemeClr val="dk1"/>
              </a:solidFill>
              <a:latin typeface="Noto Sans"/>
              <a:ea typeface="Noto Sans"/>
              <a:cs typeface="Noto Sans"/>
              <a:sym typeface="No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5" name="Shape 465"/>
        <p:cNvGrpSpPr/>
        <p:nvPr/>
      </p:nvGrpSpPr>
      <p:grpSpPr>
        <a:xfrm>
          <a:off x="0" y="0"/>
          <a:ext cx="0" cy="0"/>
          <a:chOff x="0" y="0"/>
          <a:chExt cx="0" cy="0"/>
        </a:xfrm>
      </p:grpSpPr>
      <p:sp>
        <p:nvSpPr>
          <p:cNvPr id="466" name="Google Shape;466;p14"/>
          <p:cNvSpPr/>
          <p:nvPr/>
        </p:nvSpPr>
        <p:spPr>
          <a:xfrm>
            <a:off x="512064" y="164592"/>
            <a:ext cx="4754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850"/>
              <a:buFont typeface="Noto Sans"/>
              <a:buNone/>
            </a:pPr>
            <a:r>
              <a:rPr b="1" i="0" lang="en-US" sz="850" u="none" cap="none" strike="noStrike">
                <a:solidFill>
                  <a:srgbClr val="2F5D8C"/>
                </a:solidFill>
                <a:latin typeface="Noto Sans"/>
                <a:ea typeface="Noto Sans"/>
                <a:cs typeface="Noto Sans"/>
                <a:sym typeface="Noto Sans"/>
              </a:rPr>
              <a:t>07 / Takeaways</a:t>
            </a:r>
            <a:endParaRPr b="0" i="0" sz="850" u="none" cap="none" strike="noStrike">
              <a:solidFill>
                <a:schemeClr val="dk1"/>
              </a:solidFill>
              <a:latin typeface="Noto Sans"/>
              <a:ea typeface="Noto Sans"/>
              <a:cs typeface="Noto Sans"/>
              <a:sym typeface="Noto Sans"/>
            </a:endParaRPr>
          </a:p>
        </p:txBody>
      </p:sp>
      <p:sp>
        <p:nvSpPr>
          <p:cNvPr id="467" name="Google Shape;467;p14"/>
          <p:cNvSpPr/>
          <p:nvPr/>
        </p:nvSpPr>
        <p:spPr>
          <a:xfrm>
            <a:off x="512064" y="475488"/>
            <a:ext cx="9875520" cy="38404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450"/>
              <a:buFont typeface="Noto Sans"/>
              <a:buNone/>
            </a:pPr>
            <a:r>
              <a:rPr b="1" i="0" lang="en-US" sz="2450" u="none" cap="none" strike="noStrike">
                <a:solidFill>
                  <a:srgbClr val="0B1F33"/>
                </a:solidFill>
                <a:latin typeface="Noto Sans"/>
                <a:ea typeface="Noto Sans"/>
                <a:cs typeface="Noto Sans"/>
                <a:sym typeface="Noto Sans"/>
              </a:rPr>
              <a:t>Conclusion: feasibility</a:t>
            </a:r>
            <a:r>
              <a:rPr b="1" i="0" lang="en-US" sz="2450" u="none" cap="none" strike="noStrike">
                <a:solidFill>
                  <a:srgbClr val="0B1F33"/>
                </a:solidFill>
                <a:latin typeface="Noto Sans"/>
                <a:ea typeface="Noto Sans"/>
                <a:cs typeface="Noto Sans"/>
                <a:sym typeface="Noto Sans"/>
              </a:rPr>
              <a:t>는</a:t>
            </a:r>
            <a:r>
              <a:rPr b="1" i="0" lang="en-US" sz="2450" u="none" cap="none" strike="noStrike">
                <a:solidFill>
                  <a:srgbClr val="0B1F33"/>
                </a:solidFill>
                <a:latin typeface="Noto Sans"/>
                <a:ea typeface="Noto Sans"/>
                <a:cs typeface="Noto Sans"/>
                <a:sym typeface="Noto Sans"/>
              </a:rPr>
              <a:t> 확인</a:t>
            </a:r>
            <a:r>
              <a:rPr b="1" i="0" lang="en-US" sz="2450" u="none" cap="none" strike="noStrike">
                <a:solidFill>
                  <a:srgbClr val="0B1F33"/>
                </a:solidFill>
                <a:latin typeface="Noto Sans"/>
                <a:ea typeface="Noto Sans"/>
                <a:cs typeface="Noto Sans"/>
                <a:sym typeface="Noto Sans"/>
              </a:rPr>
              <a:t>했지만 deployment-ready는 아니다</a:t>
            </a:r>
            <a:endParaRPr b="0" i="0" sz="2450" u="none" cap="none" strike="noStrike">
              <a:solidFill>
                <a:schemeClr val="dk1"/>
              </a:solidFill>
              <a:latin typeface="Noto Sans"/>
              <a:ea typeface="Noto Sans"/>
              <a:cs typeface="Noto Sans"/>
              <a:sym typeface="Noto Sans"/>
            </a:endParaRPr>
          </a:p>
        </p:txBody>
      </p:sp>
      <p:sp>
        <p:nvSpPr>
          <p:cNvPr id="468" name="Google Shape;468;p14"/>
          <p:cNvSpPr/>
          <p:nvPr/>
        </p:nvSpPr>
        <p:spPr>
          <a:xfrm>
            <a:off x="11268151" y="393192"/>
            <a:ext cx="41148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800"/>
              <a:buFont typeface="Noto Sans"/>
              <a:buNone/>
            </a:pPr>
            <a:r>
              <a:rPr b="0" i="0" lang="en-US" sz="800" u="none" cap="none" strike="noStrike">
                <a:solidFill>
                  <a:srgbClr val="667085"/>
                </a:solidFill>
                <a:latin typeface="Noto Sans"/>
                <a:ea typeface="Noto Sans"/>
                <a:cs typeface="Noto Sans"/>
                <a:sym typeface="Noto Sans"/>
              </a:rPr>
              <a:t>14</a:t>
            </a:r>
            <a:endParaRPr b="0" i="0" sz="800" u="none" cap="none" strike="noStrike">
              <a:solidFill>
                <a:schemeClr val="dk1"/>
              </a:solidFill>
              <a:latin typeface="Noto Sans"/>
              <a:ea typeface="Noto Sans"/>
              <a:cs typeface="Noto Sans"/>
              <a:sym typeface="Noto Sans"/>
            </a:endParaRPr>
          </a:p>
        </p:txBody>
      </p:sp>
      <p:cxnSp>
        <p:nvCxnSpPr>
          <p:cNvPr id="469" name="Google Shape;469;p14"/>
          <p:cNvCxnSpPr/>
          <p:nvPr/>
        </p:nvCxnSpPr>
        <p:spPr>
          <a:xfrm>
            <a:off x="512064" y="978408"/>
            <a:ext cx="11167567" cy="0"/>
          </a:xfrm>
          <a:prstGeom prst="straightConnector1">
            <a:avLst/>
          </a:prstGeom>
          <a:noFill/>
          <a:ln cap="flat" cmpd="sng" w="9525">
            <a:solidFill>
              <a:srgbClr val="E4E7EC"/>
            </a:solidFill>
            <a:prstDash val="solid"/>
            <a:round/>
            <a:headEnd len="sm" w="sm" type="none"/>
            <a:tailEnd len="sm" w="sm" type="none"/>
          </a:ln>
        </p:spPr>
      </p:cxnSp>
      <p:cxnSp>
        <p:nvCxnSpPr>
          <p:cNvPr id="470" name="Google Shape;470;p14"/>
          <p:cNvCxnSpPr/>
          <p:nvPr/>
        </p:nvCxnSpPr>
        <p:spPr>
          <a:xfrm>
            <a:off x="512064" y="6419088"/>
            <a:ext cx="11167567" cy="0"/>
          </a:xfrm>
          <a:prstGeom prst="straightConnector1">
            <a:avLst/>
          </a:prstGeom>
          <a:noFill/>
          <a:ln cap="flat" cmpd="sng" w="9525">
            <a:solidFill>
              <a:srgbClr val="E4E7EC"/>
            </a:solidFill>
            <a:prstDash val="solid"/>
            <a:round/>
            <a:headEnd len="sm" w="sm" type="none"/>
            <a:tailEnd len="sm" w="sm" type="none"/>
          </a:ln>
        </p:spPr>
      </p:cxnSp>
      <p:sp>
        <p:nvSpPr>
          <p:cNvPr id="471" name="Google Shape;471;p14"/>
          <p:cNvSpPr/>
          <p:nvPr/>
        </p:nvSpPr>
        <p:spPr>
          <a:xfrm>
            <a:off x="512064" y="6510528"/>
            <a:ext cx="77724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해군 함정기술 무기체계 세미나 · 인공지능 적용 기반 함정 손상통제</a:t>
            </a:r>
            <a:endParaRPr b="0" i="0" sz="720" u="none" cap="none" strike="noStrike">
              <a:solidFill>
                <a:schemeClr val="dk1"/>
              </a:solidFill>
              <a:latin typeface="Noto Sans"/>
              <a:ea typeface="Noto Sans"/>
              <a:cs typeface="Noto Sans"/>
              <a:sym typeface="Noto Sans"/>
            </a:endParaRPr>
          </a:p>
        </p:txBody>
      </p:sp>
      <p:sp>
        <p:nvSpPr>
          <p:cNvPr id="472" name="Google Shape;472;p14"/>
          <p:cNvSpPr/>
          <p:nvPr/>
        </p:nvSpPr>
        <p:spPr>
          <a:xfrm>
            <a:off x="8433511" y="6510528"/>
            <a:ext cx="324612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67085"/>
              </a:buClr>
              <a:buSzPts val="720"/>
              <a:buFont typeface="Noto Sans"/>
              <a:buNone/>
            </a:pPr>
            <a:r>
              <a:rPr b="0" i="0" lang="en-US" sz="720" u="none" cap="none" strike="noStrike">
                <a:solidFill>
                  <a:srgbClr val="667085"/>
                </a:solidFill>
                <a:latin typeface="Noto Sans"/>
                <a:ea typeface="Noto Sans"/>
                <a:cs typeface="Noto Sans"/>
                <a:sym typeface="Noto Sans"/>
              </a:rPr>
              <a:t>Public-data-only ship-like proxy prototype · 14</a:t>
            </a:r>
            <a:endParaRPr b="0" i="0" sz="720" u="none" cap="none" strike="noStrike">
              <a:solidFill>
                <a:schemeClr val="dk1"/>
              </a:solidFill>
              <a:latin typeface="Noto Sans"/>
              <a:ea typeface="Noto Sans"/>
              <a:cs typeface="Noto Sans"/>
              <a:sym typeface="Noto Sans"/>
            </a:endParaRPr>
          </a:p>
        </p:txBody>
      </p:sp>
      <p:sp>
        <p:nvSpPr>
          <p:cNvPr id="473" name="Google Shape;473;p14"/>
          <p:cNvSpPr/>
          <p:nvPr/>
        </p:nvSpPr>
        <p:spPr>
          <a:xfrm>
            <a:off x="512064" y="1069848"/>
            <a:ext cx="1088136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1560"/>
              <a:buFont typeface="Noto Sans"/>
              <a:buNone/>
            </a:pPr>
            <a:r>
              <a:rPr i="0" lang="en-US" sz="1560" u="none" cap="none" strike="noStrike">
                <a:solidFill>
                  <a:srgbClr val="0B1F33"/>
                </a:solidFill>
                <a:latin typeface="Noto Sans"/>
                <a:ea typeface="Noto Sans"/>
                <a:cs typeface="Noto Sans"/>
                <a:sym typeface="Noto Sans"/>
              </a:rPr>
              <a:t>공개자료만으로 data → proxy → detector → verifier → evidence flow 구현 </a:t>
            </a:r>
            <a:r>
              <a:rPr lang="en-US" sz="1560">
                <a:solidFill>
                  <a:srgbClr val="0B1F33"/>
                </a:solidFill>
                <a:latin typeface="Noto Sans"/>
                <a:ea typeface="Noto Sans"/>
                <a:cs typeface="Noto Sans"/>
                <a:sym typeface="Noto Sans"/>
              </a:rPr>
              <a:t>및 테스트 성공</a:t>
            </a:r>
            <a:r>
              <a:rPr i="0" lang="en-US" sz="1560" u="none" cap="none" strike="noStrike">
                <a:solidFill>
                  <a:srgbClr val="0B1F33"/>
                </a:solidFill>
                <a:latin typeface="Noto Sans"/>
                <a:ea typeface="Noto Sans"/>
                <a:cs typeface="Noto Sans"/>
                <a:sym typeface="Noto Sans"/>
              </a:rPr>
              <a:t>,</a:t>
            </a:r>
            <a:endParaRPr i="0" sz="156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0B1F33"/>
              </a:buClr>
              <a:buSzPts val="1560"/>
              <a:buFont typeface="Noto Sans"/>
              <a:buNone/>
            </a:pPr>
            <a:r>
              <a:rPr lang="en-US" sz="1560">
                <a:solidFill>
                  <a:srgbClr val="0B1F33"/>
                </a:solidFill>
                <a:latin typeface="Noto Sans"/>
                <a:ea typeface="Noto Sans"/>
                <a:cs typeface="Noto Sans"/>
                <a:sym typeface="Noto Sans"/>
              </a:rPr>
              <a:t>실제 적용 시</a:t>
            </a:r>
            <a:r>
              <a:rPr i="0" lang="en-US" sz="1560" u="none" cap="none" strike="noStrike">
                <a:solidFill>
                  <a:srgbClr val="0B1F33"/>
                </a:solidFill>
                <a:latin typeface="Noto Sans"/>
                <a:ea typeface="Noto Sans"/>
                <a:cs typeface="Noto Sans"/>
                <a:sym typeface="Noto Sans"/>
              </a:rPr>
              <a:t> high false-alarm / low smoke hit-rate라는 핵심 기술 과제를 확인</a:t>
            </a:r>
            <a:endParaRPr i="0" sz="1560" u="none" cap="none" strike="noStrike">
              <a:solidFill>
                <a:schemeClr val="dk1"/>
              </a:solidFill>
              <a:latin typeface="Noto Sans"/>
              <a:ea typeface="Noto Sans"/>
              <a:cs typeface="Noto Sans"/>
              <a:sym typeface="Noto Sans"/>
            </a:endParaRPr>
          </a:p>
        </p:txBody>
      </p:sp>
      <p:sp>
        <p:nvSpPr>
          <p:cNvPr id="474" name="Google Shape;474;p14"/>
          <p:cNvSpPr/>
          <p:nvPr/>
        </p:nvSpPr>
        <p:spPr>
          <a:xfrm>
            <a:off x="731525" y="1874526"/>
            <a:ext cx="2469000" cy="1367400"/>
          </a:xfrm>
          <a:prstGeom prst="roundRect">
            <a:avLst>
              <a:gd fmla="val 64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896117" y="1962423"/>
            <a:ext cx="21396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F5D8C"/>
              </a:buClr>
              <a:buSzPts val="2300"/>
              <a:buFont typeface="Noto Sans"/>
              <a:buNone/>
            </a:pPr>
            <a:r>
              <a:rPr b="1" i="0" lang="en-US" sz="2000" u="none" cap="none" strike="noStrike">
                <a:solidFill>
                  <a:srgbClr val="2F5D8C"/>
                </a:solidFill>
                <a:latin typeface="Noto Sans"/>
                <a:ea typeface="Noto Sans"/>
                <a:cs typeface="Noto Sans"/>
                <a:sym typeface="Noto Sans"/>
              </a:rPr>
              <a:t>Built</a:t>
            </a:r>
            <a:endParaRPr b="0" i="0" sz="2000" u="none" cap="none" strike="noStrike">
              <a:solidFill>
                <a:schemeClr val="dk1"/>
              </a:solidFill>
              <a:latin typeface="Noto Sans"/>
              <a:ea typeface="Noto Sans"/>
              <a:cs typeface="Noto Sans"/>
              <a:sym typeface="Noto Sans"/>
            </a:endParaRPr>
          </a:p>
        </p:txBody>
      </p:sp>
      <p:sp>
        <p:nvSpPr>
          <p:cNvPr id="476" name="Google Shape;476;p14"/>
          <p:cNvSpPr/>
          <p:nvPr/>
        </p:nvSpPr>
        <p:spPr>
          <a:xfrm>
            <a:off x="896126" y="2422275"/>
            <a:ext cx="2304300" cy="262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u="none" cap="none" strike="noStrike">
                <a:solidFill>
                  <a:srgbClr val="344054"/>
                </a:solidFill>
                <a:latin typeface="Noto Sans"/>
                <a:ea typeface="Noto Sans"/>
                <a:cs typeface="Noto Sans"/>
                <a:sym typeface="Noto Sans"/>
              </a:rPr>
              <a:t>public-data-only scaffold</a:t>
            </a:r>
            <a:endParaRPr b="0" i="0" u="none" cap="none" strike="noStrike">
              <a:solidFill>
                <a:schemeClr val="dk1"/>
              </a:solidFill>
              <a:latin typeface="Noto Sans"/>
              <a:ea typeface="Noto Sans"/>
              <a:cs typeface="Noto Sans"/>
              <a:sym typeface="Noto Sans"/>
            </a:endParaRPr>
          </a:p>
        </p:txBody>
      </p:sp>
      <p:sp>
        <p:nvSpPr>
          <p:cNvPr id="477" name="Google Shape;477;p14"/>
          <p:cNvSpPr/>
          <p:nvPr/>
        </p:nvSpPr>
        <p:spPr>
          <a:xfrm>
            <a:off x="896117" y="2826667"/>
            <a:ext cx="2139600" cy="196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data construction + metadata validation</a:t>
            </a:r>
            <a:endParaRPr b="0" i="0" sz="1100" u="none" cap="none" strike="noStrike">
              <a:solidFill>
                <a:schemeClr val="dk1"/>
              </a:solidFill>
              <a:latin typeface="Noto Sans"/>
              <a:ea typeface="Noto Sans"/>
              <a:cs typeface="Noto Sans"/>
              <a:sym typeface="Noto Sans"/>
            </a:endParaRPr>
          </a:p>
        </p:txBody>
      </p:sp>
      <p:sp>
        <p:nvSpPr>
          <p:cNvPr id="478" name="Google Shape;478;p14"/>
          <p:cNvSpPr/>
          <p:nvPr/>
        </p:nvSpPr>
        <p:spPr>
          <a:xfrm>
            <a:off x="3520441" y="1874526"/>
            <a:ext cx="2469000" cy="1367400"/>
          </a:xfrm>
          <a:prstGeom prst="roundRect">
            <a:avLst>
              <a:gd fmla="val 64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3685033" y="1962423"/>
            <a:ext cx="21396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F5D8C"/>
              </a:buClr>
              <a:buSzPts val="2300"/>
              <a:buFont typeface="Noto Sans"/>
              <a:buNone/>
            </a:pPr>
            <a:r>
              <a:rPr b="1" i="0" lang="en-US" sz="2000" u="none" cap="none" strike="noStrike">
                <a:solidFill>
                  <a:srgbClr val="2F5D8C"/>
                </a:solidFill>
                <a:latin typeface="Noto Sans"/>
                <a:ea typeface="Noto Sans"/>
                <a:cs typeface="Noto Sans"/>
                <a:sym typeface="Noto Sans"/>
              </a:rPr>
              <a:t>Measured</a:t>
            </a:r>
            <a:endParaRPr b="0" i="0" sz="2000" u="none" cap="none" strike="noStrike">
              <a:solidFill>
                <a:schemeClr val="dk1"/>
              </a:solidFill>
              <a:latin typeface="Noto Sans"/>
              <a:ea typeface="Noto Sans"/>
              <a:cs typeface="Noto Sans"/>
              <a:sym typeface="Noto Sans"/>
            </a:endParaRPr>
          </a:p>
        </p:txBody>
      </p:sp>
      <p:sp>
        <p:nvSpPr>
          <p:cNvPr id="480" name="Google Shape;480;p14"/>
          <p:cNvSpPr/>
          <p:nvPr/>
        </p:nvSpPr>
        <p:spPr>
          <a:xfrm>
            <a:off x="3685033" y="2422273"/>
            <a:ext cx="2139600" cy="262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u="none" cap="none" strike="noStrike">
                <a:solidFill>
                  <a:srgbClr val="344054"/>
                </a:solidFill>
                <a:latin typeface="Noto Sans"/>
                <a:ea typeface="Noto Sans"/>
                <a:cs typeface="Noto Sans"/>
                <a:sym typeface="Noto Sans"/>
              </a:rPr>
              <a:t>preliminary evidence</a:t>
            </a:r>
            <a:endParaRPr b="0" i="0" u="none" cap="none" strike="noStrike">
              <a:solidFill>
                <a:schemeClr val="dk1"/>
              </a:solidFill>
              <a:latin typeface="Noto Sans"/>
              <a:ea typeface="Noto Sans"/>
              <a:cs typeface="Noto Sans"/>
              <a:sym typeface="Noto Sans"/>
            </a:endParaRPr>
          </a:p>
        </p:txBody>
      </p:sp>
      <p:sp>
        <p:nvSpPr>
          <p:cNvPr id="481" name="Google Shape;481;p14"/>
          <p:cNvSpPr/>
          <p:nvPr/>
        </p:nvSpPr>
        <p:spPr>
          <a:xfrm>
            <a:off x="3685033" y="2826667"/>
            <a:ext cx="2139600" cy="196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synthetic hit-rate + hard-negative false alarm</a:t>
            </a:r>
            <a:endParaRPr b="0" i="0" sz="1100" u="none" cap="none" strike="noStrike">
              <a:solidFill>
                <a:schemeClr val="dk1"/>
              </a:solidFill>
              <a:latin typeface="Noto Sans"/>
              <a:ea typeface="Noto Sans"/>
              <a:cs typeface="Noto Sans"/>
              <a:sym typeface="Noto Sans"/>
            </a:endParaRPr>
          </a:p>
        </p:txBody>
      </p:sp>
      <p:sp>
        <p:nvSpPr>
          <p:cNvPr id="482" name="Google Shape;482;p14"/>
          <p:cNvSpPr/>
          <p:nvPr/>
        </p:nvSpPr>
        <p:spPr>
          <a:xfrm>
            <a:off x="6309357" y="1874526"/>
            <a:ext cx="2469000" cy="1367400"/>
          </a:xfrm>
          <a:prstGeom prst="roundRect">
            <a:avLst>
              <a:gd fmla="val 64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4"/>
          <p:cNvSpPr/>
          <p:nvPr/>
        </p:nvSpPr>
        <p:spPr>
          <a:xfrm>
            <a:off x="6473949" y="1962423"/>
            <a:ext cx="21396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7918"/>
              </a:buClr>
              <a:buSzPts val="2300"/>
              <a:buFont typeface="Noto Sans"/>
              <a:buNone/>
            </a:pPr>
            <a:r>
              <a:rPr b="1" i="0" lang="en-US" sz="2000" u="none" cap="none" strike="noStrike">
                <a:solidFill>
                  <a:srgbClr val="A77918"/>
                </a:solidFill>
                <a:latin typeface="Noto Sans"/>
                <a:ea typeface="Noto Sans"/>
                <a:cs typeface="Noto Sans"/>
                <a:sym typeface="Noto Sans"/>
              </a:rPr>
              <a:t>Exposed</a:t>
            </a:r>
            <a:endParaRPr b="0" i="0" sz="2000" u="none" cap="none" strike="noStrike">
              <a:solidFill>
                <a:schemeClr val="dk1"/>
              </a:solidFill>
              <a:latin typeface="Noto Sans"/>
              <a:ea typeface="Noto Sans"/>
              <a:cs typeface="Noto Sans"/>
              <a:sym typeface="Noto Sans"/>
            </a:endParaRPr>
          </a:p>
        </p:txBody>
      </p:sp>
      <p:sp>
        <p:nvSpPr>
          <p:cNvPr id="484" name="Google Shape;484;p14"/>
          <p:cNvSpPr/>
          <p:nvPr/>
        </p:nvSpPr>
        <p:spPr>
          <a:xfrm>
            <a:off x="6473949" y="2422273"/>
            <a:ext cx="2139600" cy="262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u="none" cap="none" strike="noStrike">
                <a:solidFill>
                  <a:srgbClr val="344054"/>
                </a:solidFill>
                <a:latin typeface="Noto Sans"/>
                <a:ea typeface="Noto Sans"/>
                <a:cs typeface="Noto Sans"/>
                <a:sym typeface="Noto Sans"/>
              </a:rPr>
              <a:t>deployment gap</a:t>
            </a:r>
            <a:endParaRPr b="0" i="0" u="none" cap="none" strike="noStrike">
              <a:solidFill>
                <a:schemeClr val="dk1"/>
              </a:solidFill>
              <a:latin typeface="Noto Sans"/>
              <a:ea typeface="Noto Sans"/>
              <a:cs typeface="Noto Sans"/>
              <a:sym typeface="Noto Sans"/>
            </a:endParaRPr>
          </a:p>
        </p:txBody>
      </p:sp>
      <p:sp>
        <p:nvSpPr>
          <p:cNvPr id="485" name="Google Shape;485;p14"/>
          <p:cNvSpPr/>
          <p:nvPr/>
        </p:nvSpPr>
        <p:spPr>
          <a:xfrm>
            <a:off x="6473949" y="2826667"/>
            <a:ext cx="2139600" cy="196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false alarm / smoke recall / calibration</a:t>
            </a:r>
            <a:endParaRPr b="0" i="0" sz="1100" u="none" cap="none" strike="noStrike">
              <a:solidFill>
                <a:schemeClr val="dk1"/>
              </a:solidFill>
              <a:latin typeface="Noto Sans"/>
              <a:ea typeface="Noto Sans"/>
              <a:cs typeface="Noto Sans"/>
              <a:sym typeface="Noto Sans"/>
            </a:endParaRPr>
          </a:p>
        </p:txBody>
      </p:sp>
      <p:sp>
        <p:nvSpPr>
          <p:cNvPr id="486" name="Google Shape;486;p14"/>
          <p:cNvSpPr/>
          <p:nvPr/>
        </p:nvSpPr>
        <p:spPr>
          <a:xfrm>
            <a:off x="9098273" y="1874526"/>
            <a:ext cx="2469000" cy="1367400"/>
          </a:xfrm>
          <a:prstGeom prst="roundRect">
            <a:avLst>
              <a:gd fmla="val 64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9262865" y="1962423"/>
            <a:ext cx="21396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1F33"/>
              </a:buClr>
              <a:buSzPts val="2300"/>
              <a:buFont typeface="Noto Sans"/>
              <a:buNone/>
            </a:pPr>
            <a:r>
              <a:rPr b="1" i="0" lang="en-US" sz="2000" u="none" cap="none" strike="noStrike">
                <a:solidFill>
                  <a:srgbClr val="0B1F33"/>
                </a:solidFill>
                <a:latin typeface="Noto Sans"/>
                <a:ea typeface="Noto Sans"/>
                <a:cs typeface="Noto Sans"/>
                <a:sym typeface="Noto Sans"/>
              </a:rPr>
              <a:t>Next</a:t>
            </a:r>
            <a:endParaRPr b="0" i="0" sz="2000" u="none" cap="none" strike="noStrike">
              <a:solidFill>
                <a:schemeClr val="dk1"/>
              </a:solidFill>
              <a:latin typeface="Noto Sans"/>
              <a:ea typeface="Noto Sans"/>
              <a:cs typeface="Noto Sans"/>
              <a:sym typeface="Noto Sans"/>
            </a:endParaRPr>
          </a:p>
        </p:txBody>
      </p:sp>
      <p:sp>
        <p:nvSpPr>
          <p:cNvPr id="488" name="Google Shape;488;p14"/>
          <p:cNvSpPr/>
          <p:nvPr/>
        </p:nvSpPr>
        <p:spPr>
          <a:xfrm>
            <a:off x="9262876" y="2422275"/>
            <a:ext cx="2304300" cy="2625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1050"/>
              <a:buFont typeface="Noto Sans"/>
              <a:buNone/>
            </a:pPr>
            <a:r>
              <a:rPr b="1" i="0" lang="en-US" u="none" cap="none" strike="noStrike">
                <a:solidFill>
                  <a:srgbClr val="344054"/>
                </a:solidFill>
                <a:latin typeface="Noto Sans"/>
                <a:ea typeface="Noto Sans"/>
                <a:cs typeface="Noto Sans"/>
                <a:sym typeface="Noto Sans"/>
              </a:rPr>
              <a:t>calibration-aware research</a:t>
            </a:r>
            <a:endParaRPr b="0" i="0" u="none" cap="none" strike="noStrike">
              <a:solidFill>
                <a:schemeClr val="dk1"/>
              </a:solidFill>
              <a:latin typeface="Noto Sans"/>
              <a:ea typeface="Noto Sans"/>
              <a:cs typeface="Noto Sans"/>
              <a:sym typeface="Noto Sans"/>
            </a:endParaRPr>
          </a:p>
        </p:txBody>
      </p:sp>
      <p:sp>
        <p:nvSpPr>
          <p:cNvPr id="489" name="Google Shape;489;p14"/>
          <p:cNvSpPr/>
          <p:nvPr/>
        </p:nvSpPr>
        <p:spPr>
          <a:xfrm>
            <a:off x="9262865" y="2826667"/>
            <a:ext cx="2139600" cy="196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valuation + hard-negative mining + ONNX/RTSP</a:t>
            </a:r>
            <a:endParaRPr b="0" i="0" sz="1100" u="none" cap="none" strike="noStrike">
              <a:solidFill>
                <a:schemeClr val="dk1"/>
              </a:solidFill>
              <a:latin typeface="Noto Sans"/>
              <a:ea typeface="Noto Sans"/>
              <a:cs typeface="Noto Sans"/>
              <a:sym typeface="Noto Sans"/>
            </a:endParaRPr>
          </a:p>
        </p:txBody>
      </p:sp>
      <p:sp>
        <p:nvSpPr>
          <p:cNvPr id="490" name="Google Shape;490;p14"/>
          <p:cNvSpPr/>
          <p:nvPr/>
        </p:nvSpPr>
        <p:spPr>
          <a:xfrm>
            <a:off x="822950" y="3672700"/>
            <a:ext cx="10561200" cy="1631400"/>
          </a:xfrm>
          <a:prstGeom prst="roundRect">
            <a:avLst>
              <a:gd fmla="val 4848"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1538800" y="4026300"/>
            <a:ext cx="1981800" cy="26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350"/>
              <a:buFont typeface="Noto Sans"/>
              <a:buNone/>
            </a:pPr>
            <a:r>
              <a:rPr b="1" i="0" lang="en-US" sz="2000" u="none" cap="none" strike="noStrike">
                <a:solidFill>
                  <a:srgbClr val="0B1F33"/>
                </a:solidFill>
                <a:latin typeface="Noto Sans"/>
                <a:ea typeface="Noto Sans"/>
                <a:cs typeface="Noto Sans"/>
                <a:sym typeface="Noto Sans"/>
              </a:rPr>
              <a:t>후속 연구 로드맵</a:t>
            </a:r>
            <a:endParaRPr b="0" i="0" sz="2000" u="none" cap="none" strike="noStrike">
              <a:solidFill>
                <a:schemeClr val="dk1"/>
              </a:solidFill>
              <a:latin typeface="Noto Sans"/>
              <a:ea typeface="Noto Sans"/>
              <a:cs typeface="Noto Sans"/>
              <a:sym typeface="Noto Sans"/>
            </a:endParaRPr>
          </a:p>
        </p:txBody>
      </p:sp>
      <p:sp>
        <p:nvSpPr>
          <p:cNvPr id="492" name="Google Shape;492;p14"/>
          <p:cNvSpPr/>
          <p:nvPr/>
        </p:nvSpPr>
        <p:spPr>
          <a:xfrm>
            <a:off x="4500262" y="3859200"/>
            <a:ext cx="436500" cy="449100"/>
          </a:xfrm>
          <a:prstGeom prst="ellipse">
            <a:avLst/>
          </a:prstGeom>
          <a:solidFill>
            <a:srgbClr val="0B1F33"/>
          </a:solidFill>
          <a:ln cap="flat" cmpd="sng" w="11975">
            <a:solidFill>
              <a:srgbClr val="0B1F3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1"/>
              <a:buFont typeface="Noto Sans"/>
              <a:buNone/>
            </a:pPr>
            <a:r>
              <a:rPr b="1" i="0" lang="en-US" u="none" cap="none" strike="noStrike">
                <a:solidFill>
                  <a:srgbClr val="FFFFFF"/>
                </a:solidFill>
                <a:latin typeface="Noto Sans"/>
                <a:ea typeface="Noto Sans"/>
                <a:cs typeface="Noto Sans"/>
                <a:sym typeface="Noto Sans"/>
              </a:rPr>
              <a:t>01</a:t>
            </a:r>
            <a:endParaRPr b="0" i="0" u="none" cap="none" strike="noStrike">
              <a:solidFill>
                <a:schemeClr val="dk1"/>
              </a:solidFill>
              <a:latin typeface="Noto Sans"/>
              <a:ea typeface="Noto Sans"/>
              <a:cs typeface="Noto Sans"/>
              <a:sym typeface="Noto Sans"/>
            </a:endParaRPr>
          </a:p>
        </p:txBody>
      </p:sp>
      <p:sp>
        <p:nvSpPr>
          <p:cNvPr id="493" name="Google Shape;493;p14"/>
          <p:cNvSpPr/>
          <p:nvPr/>
        </p:nvSpPr>
        <p:spPr>
          <a:xfrm>
            <a:off x="5044950" y="3853950"/>
            <a:ext cx="28560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39"/>
              <a:buFont typeface="Noto Sans"/>
              <a:buNone/>
            </a:pPr>
            <a:r>
              <a:rPr b="1" i="0" lang="en-US" u="none" cap="none" strike="noStrike">
                <a:solidFill>
                  <a:srgbClr val="344054"/>
                </a:solidFill>
                <a:latin typeface="Noto Sans"/>
                <a:ea typeface="Noto Sans"/>
                <a:cs typeface="Noto Sans"/>
                <a:sym typeface="Noto Sans"/>
              </a:rPr>
              <a:t>calibration-aware thresholding</a:t>
            </a:r>
            <a:endParaRPr b="1" i="0" u="none" cap="none" strike="noStrike">
              <a:solidFill>
                <a:schemeClr val="dk1"/>
              </a:solidFill>
              <a:latin typeface="Noto Sans"/>
              <a:ea typeface="Noto Sans"/>
              <a:cs typeface="Noto Sans"/>
              <a:sym typeface="Noto Sans"/>
            </a:endParaRPr>
          </a:p>
        </p:txBody>
      </p:sp>
      <p:sp>
        <p:nvSpPr>
          <p:cNvPr id="494" name="Google Shape;494;p14"/>
          <p:cNvSpPr/>
          <p:nvPr/>
        </p:nvSpPr>
        <p:spPr>
          <a:xfrm>
            <a:off x="8054868" y="3859200"/>
            <a:ext cx="436500" cy="449100"/>
          </a:xfrm>
          <a:prstGeom prst="ellipse">
            <a:avLst/>
          </a:prstGeom>
          <a:solidFill>
            <a:srgbClr val="0B1F33"/>
          </a:solidFill>
          <a:ln cap="flat" cmpd="sng" w="11975">
            <a:solidFill>
              <a:srgbClr val="0B1F3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1"/>
              <a:buFont typeface="Noto Sans"/>
              <a:buNone/>
            </a:pPr>
            <a:r>
              <a:rPr b="1" i="0" lang="en-US" u="none" cap="none" strike="noStrike">
                <a:solidFill>
                  <a:srgbClr val="FFFFFF"/>
                </a:solidFill>
                <a:latin typeface="Noto Sans"/>
                <a:ea typeface="Noto Sans"/>
                <a:cs typeface="Noto Sans"/>
                <a:sym typeface="Noto Sans"/>
              </a:rPr>
              <a:t>02</a:t>
            </a:r>
            <a:endParaRPr b="0" i="0" u="none" cap="none" strike="noStrike">
              <a:solidFill>
                <a:schemeClr val="dk1"/>
              </a:solidFill>
              <a:latin typeface="Noto Sans"/>
              <a:ea typeface="Noto Sans"/>
              <a:cs typeface="Noto Sans"/>
              <a:sym typeface="Noto Sans"/>
            </a:endParaRPr>
          </a:p>
        </p:txBody>
      </p:sp>
      <p:sp>
        <p:nvSpPr>
          <p:cNvPr id="495" name="Google Shape;495;p14"/>
          <p:cNvSpPr/>
          <p:nvPr/>
        </p:nvSpPr>
        <p:spPr>
          <a:xfrm>
            <a:off x="8594050" y="3853950"/>
            <a:ext cx="26742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39"/>
              <a:buFont typeface="Noto Sans"/>
              <a:buNone/>
            </a:pPr>
            <a:r>
              <a:rPr b="1" i="0" lang="en-US" u="none" cap="none" strike="noStrike">
                <a:solidFill>
                  <a:srgbClr val="344054"/>
                </a:solidFill>
                <a:latin typeface="Noto Sans"/>
                <a:ea typeface="Noto Sans"/>
                <a:cs typeface="Noto Sans"/>
                <a:sym typeface="Noto Sans"/>
              </a:rPr>
              <a:t>class-wise temporal window</a:t>
            </a:r>
            <a:endParaRPr b="1" i="0" u="none" cap="none" strike="noStrike">
              <a:solidFill>
                <a:schemeClr val="dk1"/>
              </a:solidFill>
              <a:latin typeface="Noto Sans"/>
              <a:ea typeface="Noto Sans"/>
              <a:cs typeface="Noto Sans"/>
              <a:sym typeface="Noto Sans"/>
            </a:endParaRPr>
          </a:p>
        </p:txBody>
      </p:sp>
      <p:sp>
        <p:nvSpPr>
          <p:cNvPr id="496" name="Google Shape;496;p14"/>
          <p:cNvSpPr/>
          <p:nvPr/>
        </p:nvSpPr>
        <p:spPr>
          <a:xfrm>
            <a:off x="1265100" y="4691080"/>
            <a:ext cx="436500" cy="449100"/>
          </a:xfrm>
          <a:prstGeom prst="ellipse">
            <a:avLst/>
          </a:prstGeom>
          <a:solidFill>
            <a:srgbClr val="0B1F33"/>
          </a:solidFill>
          <a:ln cap="flat" cmpd="sng" w="11975">
            <a:solidFill>
              <a:srgbClr val="0B1F3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1"/>
              <a:buFont typeface="Noto Sans"/>
              <a:buNone/>
            </a:pPr>
            <a:r>
              <a:rPr b="1" i="0" lang="en-US" u="none" cap="none" strike="noStrike">
                <a:solidFill>
                  <a:srgbClr val="FFFFFF"/>
                </a:solidFill>
                <a:latin typeface="Noto Sans"/>
                <a:ea typeface="Noto Sans"/>
                <a:cs typeface="Noto Sans"/>
                <a:sym typeface="Noto Sans"/>
              </a:rPr>
              <a:t>03</a:t>
            </a:r>
            <a:endParaRPr b="0" i="0" u="none" cap="none" strike="noStrike">
              <a:solidFill>
                <a:schemeClr val="dk1"/>
              </a:solidFill>
              <a:latin typeface="Noto Sans"/>
              <a:ea typeface="Noto Sans"/>
              <a:cs typeface="Noto Sans"/>
              <a:sym typeface="Noto Sans"/>
            </a:endParaRPr>
          </a:p>
        </p:txBody>
      </p:sp>
      <p:sp>
        <p:nvSpPr>
          <p:cNvPr id="497" name="Google Shape;497;p14"/>
          <p:cNvSpPr/>
          <p:nvPr/>
        </p:nvSpPr>
        <p:spPr>
          <a:xfrm>
            <a:off x="1828925" y="4672550"/>
            <a:ext cx="20430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39"/>
              <a:buFont typeface="Noto Sans"/>
              <a:buNone/>
            </a:pPr>
            <a:r>
              <a:rPr b="1" i="0" lang="en-US" u="none" cap="none" strike="noStrike">
                <a:solidFill>
                  <a:srgbClr val="344054"/>
                </a:solidFill>
                <a:latin typeface="Noto Sans"/>
                <a:ea typeface="Noto Sans"/>
                <a:cs typeface="Noto Sans"/>
                <a:sym typeface="Noto Sans"/>
              </a:rPr>
              <a:t>hard-negative mining</a:t>
            </a:r>
            <a:endParaRPr b="1" i="0" u="none" cap="none" strike="noStrike">
              <a:solidFill>
                <a:schemeClr val="dk1"/>
              </a:solidFill>
              <a:latin typeface="Noto Sans"/>
              <a:ea typeface="Noto Sans"/>
              <a:cs typeface="Noto Sans"/>
              <a:sym typeface="Noto Sans"/>
            </a:endParaRPr>
          </a:p>
        </p:txBody>
      </p:sp>
      <p:sp>
        <p:nvSpPr>
          <p:cNvPr id="498" name="Google Shape;498;p14"/>
          <p:cNvSpPr/>
          <p:nvPr/>
        </p:nvSpPr>
        <p:spPr>
          <a:xfrm>
            <a:off x="4500238" y="4667676"/>
            <a:ext cx="436500" cy="449100"/>
          </a:xfrm>
          <a:prstGeom prst="ellipse">
            <a:avLst/>
          </a:prstGeom>
          <a:solidFill>
            <a:srgbClr val="0B1F33"/>
          </a:solidFill>
          <a:ln cap="flat" cmpd="sng" w="11975">
            <a:solidFill>
              <a:srgbClr val="0B1F3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1"/>
              <a:buFont typeface="Noto Sans"/>
              <a:buNone/>
            </a:pPr>
            <a:r>
              <a:rPr b="1" i="0" lang="en-US" u="none" cap="none" strike="noStrike">
                <a:solidFill>
                  <a:srgbClr val="FFFFFF"/>
                </a:solidFill>
                <a:latin typeface="Noto Sans"/>
                <a:ea typeface="Noto Sans"/>
                <a:cs typeface="Noto Sans"/>
                <a:sym typeface="Noto Sans"/>
              </a:rPr>
              <a:t>04</a:t>
            </a:r>
            <a:endParaRPr b="0" i="0" u="none" cap="none" strike="noStrike">
              <a:solidFill>
                <a:schemeClr val="dk1"/>
              </a:solidFill>
              <a:latin typeface="Noto Sans"/>
              <a:ea typeface="Noto Sans"/>
              <a:cs typeface="Noto Sans"/>
              <a:sym typeface="Noto Sans"/>
            </a:endParaRPr>
          </a:p>
        </p:txBody>
      </p:sp>
      <p:sp>
        <p:nvSpPr>
          <p:cNvPr id="499" name="Google Shape;499;p14"/>
          <p:cNvSpPr/>
          <p:nvPr/>
        </p:nvSpPr>
        <p:spPr>
          <a:xfrm>
            <a:off x="5044952" y="4685225"/>
            <a:ext cx="28560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39"/>
              <a:buFont typeface="Noto Sans"/>
              <a:buNone/>
            </a:pPr>
            <a:r>
              <a:rPr b="1" i="0" lang="en-US" u="none" cap="none" strike="noStrike">
                <a:solidFill>
                  <a:srgbClr val="344054"/>
                </a:solidFill>
                <a:latin typeface="Noto Sans"/>
                <a:ea typeface="Noto Sans"/>
                <a:cs typeface="Noto Sans"/>
                <a:sym typeface="Noto Sans"/>
              </a:rPr>
              <a:t>synthetic sample valuation</a:t>
            </a:r>
            <a:endParaRPr b="1" i="0" u="none" cap="none" strike="noStrike">
              <a:solidFill>
                <a:schemeClr val="dk1"/>
              </a:solidFill>
              <a:latin typeface="Noto Sans"/>
              <a:ea typeface="Noto Sans"/>
              <a:cs typeface="Noto Sans"/>
              <a:sym typeface="Noto Sans"/>
            </a:endParaRPr>
          </a:p>
        </p:txBody>
      </p:sp>
      <p:sp>
        <p:nvSpPr>
          <p:cNvPr id="500" name="Google Shape;500;p14"/>
          <p:cNvSpPr/>
          <p:nvPr/>
        </p:nvSpPr>
        <p:spPr>
          <a:xfrm>
            <a:off x="8054885" y="4687934"/>
            <a:ext cx="436500" cy="449100"/>
          </a:xfrm>
          <a:prstGeom prst="ellipse">
            <a:avLst/>
          </a:prstGeom>
          <a:solidFill>
            <a:srgbClr val="0B1F33"/>
          </a:solidFill>
          <a:ln cap="flat" cmpd="sng" w="11975">
            <a:solidFill>
              <a:srgbClr val="0B1F3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31"/>
              <a:buFont typeface="Noto Sans"/>
              <a:buNone/>
            </a:pPr>
            <a:r>
              <a:rPr b="1" i="0" lang="en-US" u="none" cap="none" strike="noStrike">
                <a:solidFill>
                  <a:srgbClr val="FFFFFF"/>
                </a:solidFill>
                <a:latin typeface="Noto Sans"/>
                <a:ea typeface="Noto Sans"/>
                <a:cs typeface="Noto Sans"/>
                <a:sym typeface="Noto Sans"/>
              </a:rPr>
              <a:t>05</a:t>
            </a:r>
            <a:endParaRPr b="0" i="0" u="none" cap="none" strike="noStrike">
              <a:solidFill>
                <a:schemeClr val="dk1"/>
              </a:solidFill>
              <a:latin typeface="Noto Sans"/>
              <a:ea typeface="Noto Sans"/>
              <a:cs typeface="Noto Sans"/>
              <a:sym typeface="Noto Sans"/>
            </a:endParaRPr>
          </a:p>
        </p:txBody>
      </p:sp>
      <p:sp>
        <p:nvSpPr>
          <p:cNvPr id="501" name="Google Shape;501;p14"/>
          <p:cNvSpPr/>
          <p:nvPr/>
        </p:nvSpPr>
        <p:spPr>
          <a:xfrm>
            <a:off x="8594076" y="4697900"/>
            <a:ext cx="2674200" cy="459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44054"/>
              </a:buClr>
              <a:buSzPts val="839"/>
              <a:buFont typeface="Noto Sans"/>
              <a:buNone/>
            </a:pPr>
            <a:r>
              <a:rPr b="1" i="0" lang="en-US" u="none" cap="none" strike="noStrike">
                <a:solidFill>
                  <a:srgbClr val="344054"/>
                </a:solidFill>
                <a:latin typeface="Noto Sans"/>
                <a:ea typeface="Noto Sans"/>
                <a:cs typeface="Noto Sans"/>
                <a:sym typeface="Noto Sans"/>
              </a:rPr>
              <a:t>CPU-only ONNX / RTSP 장시간 emulator</a:t>
            </a:r>
            <a:endParaRPr b="1" i="0" u="none" cap="none" strike="noStrike">
              <a:solidFill>
                <a:schemeClr val="dk1"/>
              </a:solidFill>
              <a:latin typeface="Noto Sans"/>
              <a:ea typeface="Noto Sans"/>
              <a:cs typeface="Noto Sans"/>
              <a:sym typeface="Noto Sans"/>
            </a:endParaRPr>
          </a:p>
        </p:txBody>
      </p:sp>
      <p:sp>
        <p:nvSpPr>
          <p:cNvPr id="502" name="Google Shape;502;p14"/>
          <p:cNvSpPr/>
          <p:nvPr/>
        </p:nvSpPr>
        <p:spPr>
          <a:xfrm>
            <a:off x="868680" y="5593080"/>
            <a:ext cx="10515600" cy="530400"/>
          </a:xfrm>
          <a:prstGeom prst="roundRect">
            <a:avLst>
              <a:gd fmla="val 10345" name="adj"/>
            </a:avLst>
          </a:prstGeom>
          <a:noFill/>
          <a:ln>
            <a:noFill/>
          </a:ln>
        </p:spPr>
        <p:txBody>
          <a:bodyPr anchorCtr="0" anchor="ctr" bIns="1000" lIns="1000" spcFirstLastPara="1" rIns="1000" wrap="square" tIns="1000">
            <a:normAutofit/>
          </a:bodyPr>
          <a:lstStyle/>
          <a:p>
            <a:pPr indent="0" lvl="0" marL="0" marR="0" rtl="0" algn="l">
              <a:spcBef>
                <a:spcPts val="0"/>
              </a:spcBef>
              <a:spcAft>
                <a:spcPts val="0"/>
              </a:spcAft>
              <a:buClr>
                <a:srgbClr val="2F5D8C"/>
              </a:buClr>
              <a:buSzPts val="1010"/>
              <a:buFont typeface="Noto Sans"/>
              <a:buNone/>
            </a:pPr>
            <a:r>
              <a:rPr b="1" i="0" lang="en-US" sz="1210" u="none" cap="none" strike="noStrike">
                <a:solidFill>
                  <a:schemeClr val="dk1"/>
                </a:solidFill>
                <a:latin typeface="Noto Sans"/>
                <a:ea typeface="Noto Sans"/>
                <a:cs typeface="Noto Sans"/>
                <a:sym typeface="Noto Sans"/>
              </a:rPr>
              <a:t>장기 질문: 실제 shipboard positive label이 없는 조건에서 </a:t>
            </a:r>
            <a:r>
              <a:rPr b="1" i="0" lang="en-US" sz="1210" u="none" cap="none" strike="noStrike">
                <a:solidFill>
                  <a:schemeClr val="dk1"/>
                </a:solidFill>
                <a:latin typeface="Noto Sans"/>
                <a:ea typeface="Noto Sans"/>
                <a:cs typeface="Noto Sans"/>
                <a:sym typeface="Noto Sans"/>
              </a:rPr>
              <a:t>synthetic sample을 많이 넣는 것보다, </a:t>
            </a:r>
            <a:r>
              <a:rPr b="1" i="0" lang="en-US" sz="1210" u="none" cap="none" strike="noStrike">
                <a:solidFill>
                  <a:schemeClr val="dk1"/>
                </a:solidFill>
                <a:latin typeface="Noto Sans"/>
                <a:ea typeface="Noto Sans"/>
                <a:cs typeface="Noto Sans"/>
                <a:sym typeface="Noto Sans"/>
              </a:rPr>
              <a:t>calibration-aware valuation으로 선별/가중하는 것이 low-false-alarm recall과 reliability calibration을 동시에 개선하는가?</a:t>
            </a:r>
            <a:endParaRPr b="0" i="0" sz="1210" u="none" cap="none" strike="noStrike">
              <a:solidFill>
                <a:schemeClr val="dk1"/>
              </a:solidFill>
              <a:latin typeface="Noto Sans"/>
              <a:ea typeface="Noto Sans"/>
              <a:cs typeface="Noto Sans"/>
              <a:sym typeface="No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07" name="Shape 507"/>
        <p:cNvGrpSpPr/>
        <p:nvPr/>
      </p:nvGrpSpPr>
      <p:grpSpPr>
        <a:xfrm>
          <a:off x="0" y="0"/>
          <a:ext cx="0" cy="0"/>
          <a:chOff x="0" y="0"/>
          <a:chExt cx="0" cy="0"/>
        </a:xfrm>
      </p:grpSpPr>
      <p:sp>
        <p:nvSpPr>
          <p:cNvPr id="508" name="Google Shape;508;g3f1228d0cd6_0_207"/>
          <p:cNvSpPr/>
          <p:nvPr/>
        </p:nvSpPr>
        <p:spPr>
          <a:xfrm>
            <a:off x="0" y="0"/>
            <a:ext cx="12191700" cy="6858000"/>
          </a:xfrm>
          <a:prstGeom prst="rect">
            <a:avLst/>
          </a:prstGeom>
          <a:solidFill>
            <a:srgbClr val="F8FAFC"/>
          </a:solidFill>
          <a:ln cap="flat" cmpd="sng" w="12700">
            <a:solidFill>
              <a:srgbClr val="F8FA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3f1228d0cd6_0_207"/>
          <p:cNvSpPr/>
          <p:nvPr/>
        </p:nvSpPr>
        <p:spPr>
          <a:xfrm>
            <a:off x="0" y="0"/>
            <a:ext cx="164700" cy="6858000"/>
          </a:xfrm>
          <a:prstGeom prst="rect">
            <a:avLst/>
          </a:prstGeom>
          <a:solidFill>
            <a:srgbClr val="0B1F33"/>
          </a:solidFill>
          <a:ln cap="flat" cmpd="sng" w="12700">
            <a:solidFill>
              <a:srgbClr val="0B1F33">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3f1228d0cd6_0_207"/>
          <p:cNvSpPr/>
          <p:nvPr/>
        </p:nvSpPr>
        <p:spPr>
          <a:xfrm>
            <a:off x="164592" y="0"/>
            <a:ext cx="45600" cy="6858000"/>
          </a:xfrm>
          <a:prstGeom prst="rect">
            <a:avLst/>
          </a:prstGeom>
          <a:solidFill>
            <a:srgbClr val="2F5D8C"/>
          </a:solidFill>
          <a:ln cap="flat" cmpd="sng" w="12700">
            <a:solidFill>
              <a:srgbClr val="2F5D8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f1228d0cd6_0_207"/>
          <p:cNvSpPr/>
          <p:nvPr/>
        </p:nvSpPr>
        <p:spPr>
          <a:xfrm>
            <a:off x="640075" y="658375"/>
            <a:ext cx="4311600" cy="295500"/>
          </a:xfrm>
          <a:prstGeom prst="roundRect">
            <a:avLst>
              <a:gd fmla="val 29630" name="adj"/>
            </a:avLst>
          </a:prstGeom>
          <a:solidFill>
            <a:srgbClr val="EAF2FA"/>
          </a:solidFill>
          <a:ln cap="flat" cmpd="sng" w="9525">
            <a:solidFill>
              <a:srgbClr val="EAF2FA">
                <a:alpha val="0"/>
              </a:srgbClr>
            </a:solidFill>
            <a:prstDash val="solid"/>
            <a:round/>
            <a:headEnd len="sm" w="sm" type="none"/>
            <a:tailEnd len="sm" w="sm" type="none"/>
          </a:ln>
        </p:spPr>
        <p:txBody>
          <a:bodyPr anchorCtr="0" anchor="ctr" bIns="375" lIns="375" spcFirstLastPara="1" rIns="375" wrap="square" tIns="375">
            <a:noAutofit/>
          </a:bodyPr>
          <a:lstStyle/>
          <a:p>
            <a:pPr indent="0" lvl="0" marL="0" marR="0" rtl="0" algn="ctr">
              <a:spcBef>
                <a:spcPts val="0"/>
              </a:spcBef>
              <a:spcAft>
                <a:spcPts val="0"/>
              </a:spcAft>
              <a:buClr>
                <a:srgbClr val="2F5D8C"/>
              </a:buClr>
              <a:buSzPts val="870"/>
              <a:buFont typeface="Noto Sans"/>
              <a:buNone/>
            </a:pPr>
            <a:r>
              <a:rPr b="1" lang="en-US">
                <a:solidFill>
                  <a:srgbClr val="2F5D8C"/>
                </a:solidFill>
                <a:latin typeface="Noto Sans"/>
                <a:ea typeface="Noto Sans"/>
                <a:cs typeface="Noto Sans"/>
                <a:sym typeface="Noto Sans"/>
              </a:rPr>
              <a:t>2026 함정기술 무기체계 세미나 4분과(인공지능 적용)</a:t>
            </a:r>
            <a:endParaRPr b="0" i="0" u="none" cap="none" strike="noStrike">
              <a:solidFill>
                <a:schemeClr val="dk1"/>
              </a:solidFill>
              <a:latin typeface="Noto Sans"/>
              <a:ea typeface="Noto Sans"/>
              <a:cs typeface="Noto Sans"/>
              <a:sym typeface="Noto Sans"/>
            </a:endParaRPr>
          </a:p>
        </p:txBody>
      </p:sp>
      <p:sp>
        <p:nvSpPr>
          <p:cNvPr id="512" name="Google Shape;512;g3f1228d0cd6_0_207"/>
          <p:cNvSpPr/>
          <p:nvPr/>
        </p:nvSpPr>
        <p:spPr>
          <a:xfrm>
            <a:off x="640075" y="1234450"/>
            <a:ext cx="79080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2800"/>
              <a:buFont typeface="Noto Sans"/>
              <a:buNone/>
            </a:pPr>
            <a:r>
              <a:rPr b="1" i="0" lang="en-US" sz="3200" u="none" cap="none" strike="noStrike">
                <a:solidFill>
                  <a:srgbClr val="0B1F33"/>
                </a:solidFill>
                <a:latin typeface="Noto Sans"/>
                <a:ea typeface="Noto Sans"/>
                <a:cs typeface="Noto Sans"/>
                <a:sym typeface="Noto Sans"/>
              </a:rPr>
              <a:t>공개자료 기반 함정형 다중 CCTV</a:t>
            </a:r>
            <a:endParaRPr b="0" i="0" sz="32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0B1F33"/>
              </a:buClr>
              <a:buSzPts val="2800"/>
              <a:buFont typeface="Noto Sans"/>
              <a:buNone/>
            </a:pPr>
            <a:r>
              <a:rPr b="1" i="0" lang="en-US" sz="3200" u="none" cap="none" strike="noStrike">
                <a:solidFill>
                  <a:srgbClr val="0B1F33"/>
                </a:solidFill>
                <a:latin typeface="Noto Sans"/>
                <a:ea typeface="Noto Sans"/>
                <a:cs typeface="Noto Sans"/>
                <a:sym typeface="Noto Sans"/>
              </a:rPr>
              <a:t>화재·연기 조기경보 시스템의 설계와 예비 검증</a:t>
            </a:r>
            <a:endParaRPr b="0" i="0" sz="3200" u="none" cap="none" strike="noStrike">
              <a:solidFill>
                <a:schemeClr val="dk1"/>
              </a:solidFill>
              <a:latin typeface="Noto Sans"/>
              <a:ea typeface="Noto Sans"/>
              <a:cs typeface="Noto Sans"/>
              <a:sym typeface="Noto Sans"/>
            </a:endParaRPr>
          </a:p>
        </p:txBody>
      </p:sp>
      <p:sp>
        <p:nvSpPr>
          <p:cNvPr id="513" name="Google Shape;513;g3f1228d0cd6_0_207"/>
          <p:cNvSpPr/>
          <p:nvPr/>
        </p:nvSpPr>
        <p:spPr>
          <a:xfrm>
            <a:off x="658375" y="2606051"/>
            <a:ext cx="7303800" cy="41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054"/>
              </a:buClr>
              <a:buSzPts val="1250"/>
              <a:buFont typeface="Noto Sans"/>
              <a:buNone/>
            </a:pPr>
            <a:r>
              <a:rPr b="0" i="0" lang="en-US" sz="1600" u="none" cap="none" strike="noStrike">
                <a:solidFill>
                  <a:srgbClr val="344054"/>
                </a:solidFill>
                <a:latin typeface="Noto Sans"/>
                <a:ea typeface="Noto Sans"/>
                <a:cs typeface="Noto Sans"/>
                <a:sym typeface="Noto Sans"/>
              </a:rPr>
              <a:t>Design and Preliminary Validation of a Public-Data-Based Ship-Like Multi-CCTV Fire and Smoke Early Warning System</a:t>
            </a:r>
            <a:endParaRPr b="0" i="0" sz="1600" u="none" cap="none" strike="noStrike">
              <a:solidFill>
                <a:schemeClr val="dk1"/>
              </a:solidFill>
              <a:latin typeface="Noto Sans"/>
              <a:ea typeface="Noto Sans"/>
              <a:cs typeface="Noto Sans"/>
              <a:sym typeface="Noto Sans"/>
            </a:endParaRPr>
          </a:p>
        </p:txBody>
      </p:sp>
      <p:sp>
        <p:nvSpPr>
          <p:cNvPr id="514" name="Google Shape;514;g3f1228d0cd6_0_207"/>
          <p:cNvSpPr/>
          <p:nvPr/>
        </p:nvSpPr>
        <p:spPr>
          <a:xfrm>
            <a:off x="658380" y="3410698"/>
            <a:ext cx="1827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5D8C"/>
              </a:buClr>
              <a:buSzPts val="1050"/>
              <a:buFont typeface="Noto Sans"/>
              <a:buNone/>
            </a:pPr>
            <a:r>
              <a:rPr b="1" lang="en-US" sz="1800">
                <a:solidFill>
                  <a:srgbClr val="2F5D8C"/>
                </a:solidFill>
                <a:latin typeface="Noto Sans"/>
                <a:ea typeface="Noto Sans"/>
                <a:cs typeface="Noto Sans"/>
                <a:sym typeface="Noto Sans"/>
              </a:rPr>
              <a:t>목표</a:t>
            </a:r>
            <a:endParaRPr b="1" i="0" sz="1800" u="none" cap="none" strike="noStrike">
              <a:solidFill>
                <a:schemeClr val="dk1"/>
              </a:solidFill>
              <a:latin typeface="Noto Sans"/>
              <a:ea typeface="Noto Sans"/>
              <a:cs typeface="Noto Sans"/>
              <a:sym typeface="Noto Sans"/>
            </a:endParaRPr>
          </a:p>
        </p:txBody>
      </p:sp>
      <p:sp>
        <p:nvSpPr>
          <p:cNvPr id="515" name="Google Shape;515;g3f1228d0cd6_0_207"/>
          <p:cNvSpPr/>
          <p:nvPr/>
        </p:nvSpPr>
        <p:spPr>
          <a:xfrm>
            <a:off x="658375" y="3685025"/>
            <a:ext cx="7631400" cy="749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939"/>
              </a:buClr>
              <a:buSzPts val="1420"/>
              <a:buFont typeface="Noto Sans"/>
              <a:buNone/>
            </a:pPr>
            <a:r>
              <a:rPr lang="en-US" sz="1620">
                <a:solidFill>
                  <a:srgbClr val="1D2939"/>
                </a:solidFill>
                <a:latin typeface="Noto Sans"/>
                <a:ea typeface="Noto Sans"/>
                <a:cs typeface="Noto Sans"/>
                <a:sym typeface="Noto Sans"/>
              </a:rPr>
              <a:t>(</a:t>
            </a:r>
            <a:r>
              <a:rPr b="0" i="0" lang="en-US" sz="1620" u="none" cap="none" strike="noStrike">
                <a:solidFill>
                  <a:srgbClr val="1D2939"/>
                </a:solidFill>
                <a:latin typeface="Noto Sans"/>
                <a:ea typeface="Noto Sans"/>
                <a:cs typeface="Noto Sans"/>
                <a:sym typeface="Noto Sans"/>
              </a:rPr>
              <a:t>실함 성능 입증</a:t>
            </a:r>
            <a:r>
              <a:rPr lang="en-US" sz="1620">
                <a:solidFill>
                  <a:srgbClr val="1D2939"/>
                </a:solidFill>
                <a:latin typeface="Noto Sans"/>
                <a:ea typeface="Noto Sans"/>
                <a:cs typeface="Noto Sans"/>
                <a:sym typeface="Noto Sans"/>
              </a:rPr>
              <a:t> X) </a:t>
            </a:r>
            <a:r>
              <a:rPr b="0" i="0" lang="en-US" sz="1620" u="none" cap="none" strike="noStrike">
                <a:solidFill>
                  <a:srgbClr val="1D2939"/>
                </a:solidFill>
                <a:latin typeface="Noto Sans"/>
                <a:ea typeface="Noto Sans"/>
                <a:cs typeface="Noto Sans"/>
                <a:sym typeface="Noto Sans"/>
              </a:rPr>
              <a:t>public-data-only ship-like proxy 환경에서</a:t>
            </a:r>
            <a:endParaRPr b="0" i="0" sz="162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1D2939"/>
              </a:buClr>
              <a:buSzPts val="1420"/>
              <a:buFont typeface="Noto Sans"/>
              <a:buNone/>
            </a:pPr>
            <a:r>
              <a:rPr b="1" i="0" lang="en-US" sz="1620" u="none" cap="none" strike="noStrike">
                <a:solidFill>
                  <a:srgbClr val="1D2939"/>
                </a:solidFill>
                <a:latin typeface="Noto Sans"/>
                <a:ea typeface="Noto Sans"/>
                <a:cs typeface="Noto Sans"/>
                <a:sym typeface="Noto Sans"/>
              </a:rPr>
              <a:t>데이터 구성 → 합성 </a:t>
            </a:r>
            <a:r>
              <a:rPr b="1" lang="en-US" sz="1620">
                <a:solidFill>
                  <a:srgbClr val="1D2939"/>
                </a:solidFill>
                <a:latin typeface="Noto Sans"/>
                <a:ea typeface="Noto Sans"/>
                <a:cs typeface="Noto Sans"/>
                <a:sym typeface="Noto Sans"/>
              </a:rPr>
              <a:t>positive</a:t>
            </a:r>
            <a:r>
              <a:rPr b="1" i="0" lang="en-US" sz="1620" u="none" cap="none" strike="noStrike">
                <a:solidFill>
                  <a:srgbClr val="1D2939"/>
                </a:solidFill>
                <a:latin typeface="Noto Sans"/>
                <a:ea typeface="Noto Sans"/>
                <a:cs typeface="Noto Sans"/>
                <a:sym typeface="Noto Sans"/>
              </a:rPr>
              <a:t> proxy → detector/verifier → event evidence </a:t>
            </a:r>
            <a:r>
              <a:rPr b="0" i="0" lang="en-US" sz="1620" u="none" cap="none" strike="noStrike">
                <a:solidFill>
                  <a:srgbClr val="1D2939"/>
                </a:solidFill>
                <a:latin typeface="Noto Sans"/>
                <a:ea typeface="Noto Sans"/>
                <a:cs typeface="Noto Sans"/>
                <a:sym typeface="Noto Sans"/>
              </a:rPr>
              <a:t>까지의 preliminary feasibility를 검증</a:t>
            </a:r>
            <a:endParaRPr b="0" i="0" sz="1620" u="none" cap="none" strike="noStrike">
              <a:solidFill>
                <a:schemeClr val="dk1"/>
              </a:solidFill>
              <a:latin typeface="Noto Sans"/>
              <a:ea typeface="Noto Sans"/>
              <a:cs typeface="Noto Sans"/>
              <a:sym typeface="Noto Sans"/>
            </a:endParaRPr>
          </a:p>
        </p:txBody>
      </p:sp>
      <p:sp>
        <p:nvSpPr>
          <p:cNvPr id="516" name="Google Shape;516;g3f1228d0cd6_0_207"/>
          <p:cNvSpPr/>
          <p:nvPr/>
        </p:nvSpPr>
        <p:spPr>
          <a:xfrm>
            <a:off x="8942832" y="960120"/>
            <a:ext cx="2606100" cy="86880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f1228d0cd6_0_207"/>
          <p:cNvSpPr/>
          <p:nvPr/>
        </p:nvSpPr>
        <p:spPr>
          <a:xfrm>
            <a:off x="9107424" y="1246712"/>
            <a:ext cx="2277000" cy="29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500"/>
              <a:buFont typeface="Noto Sans"/>
              <a:buNone/>
            </a:pPr>
            <a:r>
              <a:rPr b="1" i="0" lang="en-US" sz="1500" u="none" cap="none" strike="noStrike">
                <a:solidFill>
                  <a:srgbClr val="0B1F33"/>
                </a:solidFill>
                <a:latin typeface="Noto Sans"/>
                <a:ea typeface="Noto Sans"/>
                <a:cs typeface="Noto Sans"/>
                <a:sym typeface="Noto Sans"/>
              </a:rPr>
              <a:t>No real ship CCTV</a:t>
            </a:r>
            <a:endParaRPr b="0" i="0" sz="1500" u="none" cap="none" strike="noStrike">
              <a:solidFill>
                <a:schemeClr val="dk1"/>
              </a:solidFill>
              <a:latin typeface="Noto Sans"/>
              <a:ea typeface="Noto Sans"/>
              <a:cs typeface="Noto Sans"/>
              <a:sym typeface="Noto Sans"/>
            </a:endParaRPr>
          </a:p>
        </p:txBody>
      </p:sp>
      <p:sp>
        <p:nvSpPr>
          <p:cNvPr id="518" name="Google Shape;518;g3f1228d0cd6_0_207"/>
          <p:cNvSpPr/>
          <p:nvPr/>
        </p:nvSpPr>
        <p:spPr>
          <a:xfrm>
            <a:off x="9107424" y="1055221"/>
            <a:ext cx="2277000" cy="17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054"/>
              </a:buClr>
              <a:buSzPts val="1050"/>
              <a:buFont typeface="Noto Sans"/>
              <a:buNone/>
            </a:pPr>
            <a:r>
              <a:rPr b="1" i="0" lang="en-US" sz="1050" u="none" cap="none" strike="noStrike">
                <a:solidFill>
                  <a:srgbClr val="344054"/>
                </a:solidFill>
                <a:latin typeface="Noto Sans"/>
                <a:ea typeface="Noto Sans"/>
                <a:cs typeface="Noto Sans"/>
                <a:sym typeface="Noto Sans"/>
              </a:rPr>
              <a:t>Claim boundary</a:t>
            </a:r>
            <a:endParaRPr b="0" i="0" sz="1050" u="none" cap="none" strike="noStrike">
              <a:solidFill>
                <a:schemeClr val="dk1"/>
              </a:solidFill>
              <a:latin typeface="Noto Sans"/>
              <a:ea typeface="Noto Sans"/>
              <a:cs typeface="Noto Sans"/>
              <a:sym typeface="Noto Sans"/>
            </a:endParaRPr>
          </a:p>
        </p:txBody>
      </p:sp>
      <p:sp>
        <p:nvSpPr>
          <p:cNvPr id="519" name="Google Shape;519;g3f1228d0cd6_0_207"/>
          <p:cNvSpPr/>
          <p:nvPr/>
        </p:nvSpPr>
        <p:spPr>
          <a:xfrm>
            <a:off x="9107425" y="1576477"/>
            <a:ext cx="2277000" cy="17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39"/>
              <a:buFont typeface="Noto Sans"/>
              <a:buNone/>
            </a:pPr>
            <a:r>
              <a:rPr b="0" i="0" lang="en-US" sz="1140" u="none" cap="none" strike="noStrike">
                <a:solidFill>
                  <a:srgbClr val="667085"/>
                </a:solidFill>
                <a:latin typeface="Noto Sans"/>
                <a:ea typeface="Noto Sans"/>
                <a:cs typeface="Noto Sans"/>
                <a:sym typeface="Noto Sans"/>
              </a:rPr>
              <a:t>실제 함정 CCTV 미사용</a:t>
            </a:r>
            <a:endParaRPr b="0" i="0" sz="1140" u="none" cap="none" strike="noStrike">
              <a:solidFill>
                <a:schemeClr val="dk1"/>
              </a:solidFill>
              <a:latin typeface="Noto Sans"/>
              <a:ea typeface="Noto Sans"/>
              <a:cs typeface="Noto Sans"/>
              <a:sym typeface="Noto Sans"/>
            </a:endParaRPr>
          </a:p>
        </p:txBody>
      </p:sp>
      <p:sp>
        <p:nvSpPr>
          <p:cNvPr id="520" name="Google Shape;520;g3f1228d0cd6_0_207"/>
          <p:cNvSpPr/>
          <p:nvPr/>
        </p:nvSpPr>
        <p:spPr>
          <a:xfrm>
            <a:off x="8942832" y="1938528"/>
            <a:ext cx="2606100" cy="86880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g3f1228d0cd6_0_207"/>
          <p:cNvSpPr/>
          <p:nvPr/>
        </p:nvSpPr>
        <p:spPr>
          <a:xfrm>
            <a:off x="9107349" y="2225120"/>
            <a:ext cx="2277000" cy="29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500"/>
              <a:buFont typeface="Noto Sans"/>
              <a:buNone/>
            </a:pPr>
            <a:r>
              <a:rPr b="1" i="0" lang="en-US" sz="1500" u="none" cap="none" strike="noStrike">
                <a:solidFill>
                  <a:srgbClr val="0B1F33"/>
                </a:solidFill>
                <a:latin typeface="Noto Sans"/>
                <a:ea typeface="Noto Sans"/>
                <a:cs typeface="Noto Sans"/>
                <a:sym typeface="Noto Sans"/>
              </a:rPr>
              <a:t>No classified layout</a:t>
            </a:r>
            <a:endParaRPr b="0" i="0" sz="1500" u="none" cap="none" strike="noStrike">
              <a:solidFill>
                <a:schemeClr val="dk1"/>
              </a:solidFill>
              <a:latin typeface="Noto Sans"/>
              <a:ea typeface="Noto Sans"/>
              <a:cs typeface="Noto Sans"/>
              <a:sym typeface="Noto Sans"/>
            </a:endParaRPr>
          </a:p>
        </p:txBody>
      </p:sp>
      <p:sp>
        <p:nvSpPr>
          <p:cNvPr id="522" name="Google Shape;522;g3f1228d0cd6_0_207"/>
          <p:cNvSpPr/>
          <p:nvPr/>
        </p:nvSpPr>
        <p:spPr>
          <a:xfrm>
            <a:off x="9107424" y="2038179"/>
            <a:ext cx="2277000" cy="17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054"/>
              </a:buClr>
              <a:buSzPts val="1050"/>
              <a:buFont typeface="Noto Sans"/>
              <a:buNone/>
            </a:pPr>
            <a:r>
              <a:rPr b="1" i="0" lang="en-US" sz="1050" u="none" cap="none" strike="noStrike">
                <a:solidFill>
                  <a:srgbClr val="344054"/>
                </a:solidFill>
                <a:latin typeface="Noto Sans"/>
                <a:ea typeface="Noto Sans"/>
                <a:cs typeface="Noto Sans"/>
                <a:sym typeface="Noto Sans"/>
              </a:rPr>
              <a:t>Data boundary</a:t>
            </a:r>
            <a:endParaRPr b="0" i="0" sz="1050" u="none" cap="none" strike="noStrike">
              <a:solidFill>
                <a:schemeClr val="dk1"/>
              </a:solidFill>
              <a:latin typeface="Noto Sans"/>
              <a:ea typeface="Noto Sans"/>
              <a:cs typeface="Noto Sans"/>
              <a:sym typeface="Noto Sans"/>
            </a:endParaRPr>
          </a:p>
        </p:txBody>
      </p:sp>
      <p:sp>
        <p:nvSpPr>
          <p:cNvPr id="523" name="Google Shape;523;g3f1228d0cd6_0_207"/>
          <p:cNvSpPr/>
          <p:nvPr/>
        </p:nvSpPr>
        <p:spPr>
          <a:xfrm>
            <a:off x="9107425" y="2570003"/>
            <a:ext cx="2277000" cy="17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비공개 내부 구조 자료 미사용</a:t>
            </a:r>
            <a:endParaRPr b="0" i="0" sz="1100" u="none" cap="none" strike="noStrike">
              <a:solidFill>
                <a:schemeClr val="dk1"/>
              </a:solidFill>
              <a:latin typeface="Noto Sans"/>
              <a:ea typeface="Noto Sans"/>
              <a:cs typeface="Noto Sans"/>
              <a:sym typeface="Noto Sans"/>
            </a:endParaRPr>
          </a:p>
        </p:txBody>
      </p:sp>
      <p:sp>
        <p:nvSpPr>
          <p:cNvPr id="524" name="Google Shape;524;g3f1228d0cd6_0_207"/>
          <p:cNvSpPr/>
          <p:nvPr/>
        </p:nvSpPr>
        <p:spPr>
          <a:xfrm>
            <a:off x="8942832" y="2916936"/>
            <a:ext cx="2606100" cy="868800"/>
          </a:xfrm>
          <a:prstGeom prst="roundRect">
            <a:avLst>
              <a:gd fmla="val 8421"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3f1228d0cd6_0_207"/>
          <p:cNvSpPr/>
          <p:nvPr/>
        </p:nvSpPr>
        <p:spPr>
          <a:xfrm>
            <a:off x="9107424" y="3192828"/>
            <a:ext cx="2277000" cy="29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3"/>
              </a:buClr>
              <a:buSzPts val="1500"/>
              <a:buFont typeface="Noto Sans"/>
              <a:buNone/>
            </a:pPr>
            <a:r>
              <a:rPr b="1" i="0" lang="en-US" sz="1500" u="none" cap="none" strike="noStrike">
                <a:solidFill>
                  <a:srgbClr val="0B1F33"/>
                </a:solidFill>
                <a:latin typeface="Noto Sans"/>
                <a:ea typeface="Noto Sans"/>
                <a:cs typeface="Noto Sans"/>
                <a:sym typeface="Noto Sans"/>
              </a:rPr>
              <a:t>No deployment claim</a:t>
            </a:r>
            <a:endParaRPr b="0" i="0" sz="1500" u="none" cap="none" strike="noStrike">
              <a:solidFill>
                <a:schemeClr val="dk1"/>
              </a:solidFill>
              <a:latin typeface="Noto Sans"/>
              <a:ea typeface="Noto Sans"/>
              <a:cs typeface="Noto Sans"/>
              <a:sym typeface="Noto Sans"/>
            </a:endParaRPr>
          </a:p>
        </p:txBody>
      </p:sp>
      <p:sp>
        <p:nvSpPr>
          <p:cNvPr id="526" name="Google Shape;526;g3f1228d0cd6_0_207"/>
          <p:cNvSpPr/>
          <p:nvPr/>
        </p:nvSpPr>
        <p:spPr>
          <a:xfrm>
            <a:off x="9107424" y="3022100"/>
            <a:ext cx="2277000" cy="17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054"/>
              </a:buClr>
              <a:buSzPts val="1050"/>
              <a:buFont typeface="Noto Sans"/>
              <a:buNone/>
            </a:pPr>
            <a:r>
              <a:rPr b="1" i="0" lang="en-US" sz="1050" u="none" cap="none" strike="noStrike">
                <a:solidFill>
                  <a:srgbClr val="344054"/>
                </a:solidFill>
                <a:latin typeface="Noto Sans"/>
                <a:ea typeface="Noto Sans"/>
                <a:cs typeface="Noto Sans"/>
                <a:sym typeface="Noto Sans"/>
              </a:rPr>
              <a:t>Validation boundary</a:t>
            </a:r>
            <a:endParaRPr b="0" i="0" sz="1050" u="none" cap="none" strike="noStrike">
              <a:solidFill>
                <a:schemeClr val="dk1"/>
              </a:solidFill>
              <a:latin typeface="Noto Sans"/>
              <a:ea typeface="Noto Sans"/>
              <a:cs typeface="Noto Sans"/>
              <a:sym typeface="Noto Sans"/>
            </a:endParaRPr>
          </a:p>
        </p:txBody>
      </p:sp>
      <p:sp>
        <p:nvSpPr>
          <p:cNvPr id="527" name="Google Shape;527;g3f1228d0cd6_0_207"/>
          <p:cNvSpPr/>
          <p:nvPr/>
        </p:nvSpPr>
        <p:spPr>
          <a:xfrm>
            <a:off x="9107424" y="3563537"/>
            <a:ext cx="2277000" cy="12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839"/>
              <a:buFont typeface="Noto Sans"/>
              <a:buNone/>
            </a:pPr>
            <a:r>
              <a:rPr b="0" i="0" lang="en-US" sz="1100" u="none" cap="none" strike="noStrike">
                <a:solidFill>
                  <a:srgbClr val="667085"/>
                </a:solidFill>
                <a:latin typeface="Noto Sans"/>
                <a:ea typeface="Noto Sans"/>
                <a:cs typeface="Noto Sans"/>
                <a:sym typeface="Noto Sans"/>
              </a:rPr>
              <a:t>실함 일반화·배치 성능 주장 없음</a:t>
            </a:r>
            <a:endParaRPr b="0" i="0" sz="1100" u="none" cap="none" strike="noStrike">
              <a:solidFill>
                <a:schemeClr val="dk1"/>
              </a:solidFill>
              <a:latin typeface="Noto Sans"/>
              <a:ea typeface="Noto Sans"/>
              <a:cs typeface="Noto Sans"/>
              <a:sym typeface="Noto Sans"/>
            </a:endParaRPr>
          </a:p>
        </p:txBody>
      </p:sp>
      <p:sp>
        <p:nvSpPr>
          <p:cNvPr id="528" name="Google Shape;528;g3f1228d0cd6_0_207"/>
          <p:cNvSpPr/>
          <p:nvPr/>
        </p:nvSpPr>
        <p:spPr>
          <a:xfrm>
            <a:off x="8942832" y="4160520"/>
            <a:ext cx="2606100" cy="1143000"/>
          </a:xfrm>
          <a:prstGeom prst="roundRect">
            <a:avLst>
              <a:gd fmla="val 6400" name="adj"/>
            </a:avLst>
          </a:prstGeom>
          <a:solidFill>
            <a:srgbClr val="FFFFFF"/>
          </a:solidFill>
          <a:ln cap="flat" cmpd="sng" w="9525">
            <a:solidFill>
              <a:srgbClr val="E4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g3f1228d0cd6_0_207"/>
          <p:cNvSpPr/>
          <p:nvPr/>
        </p:nvSpPr>
        <p:spPr>
          <a:xfrm>
            <a:off x="9107350" y="4389100"/>
            <a:ext cx="2277000" cy="68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D8C"/>
              </a:buClr>
              <a:buSzPts val="1550"/>
              <a:buFont typeface="Noto Sans"/>
              <a:buNone/>
            </a:pPr>
            <a:r>
              <a:rPr b="1" lang="en-US">
                <a:solidFill>
                  <a:srgbClr val="2F5D8C"/>
                </a:solidFill>
                <a:latin typeface="Noto Sans"/>
                <a:ea typeface="Noto Sans"/>
                <a:cs typeface="Noto Sans"/>
                <a:sym typeface="Noto Sans"/>
              </a:rPr>
              <a:t>함정형 AI 연구를 시작하기 위한 재현 가능한 data · system · evaluation scaffold</a:t>
            </a:r>
            <a:endParaRPr b="1">
              <a:solidFill>
                <a:srgbClr val="2F5D8C"/>
              </a:solidFill>
              <a:latin typeface="Noto Sans"/>
              <a:ea typeface="Noto Sans"/>
              <a:cs typeface="Noto Sans"/>
              <a:sym typeface="Noto Sans"/>
            </a:endParaRPr>
          </a:p>
        </p:txBody>
      </p:sp>
      <p:sp>
        <p:nvSpPr>
          <p:cNvPr id="530" name="Google Shape;530;g3f1228d0cd6_0_207"/>
          <p:cNvSpPr/>
          <p:nvPr/>
        </p:nvSpPr>
        <p:spPr>
          <a:xfrm>
            <a:off x="658375" y="5891650"/>
            <a:ext cx="8449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085"/>
              </a:buClr>
              <a:buSzPts val="960"/>
              <a:buFont typeface="Noto Sans"/>
              <a:buNone/>
            </a:pPr>
            <a:r>
              <a:rPr lang="en-US">
                <a:solidFill>
                  <a:schemeClr val="dk1"/>
                </a:solidFill>
                <a:latin typeface="Noto Sans"/>
                <a:ea typeface="Noto Sans"/>
                <a:cs typeface="Noto Sans"/>
                <a:sym typeface="Noto Sans"/>
              </a:rPr>
              <a:t>심윤보(대한민국 해군), 고영권(연세대학교), 이도운(국민대학교), 최시율(KAIST), 박무현(대한민국 해군)</a:t>
            </a:r>
            <a:endParaRPr b="0" i="0" u="none" cap="none" strike="noStrike">
              <a:solidFill>
                <a:schemeClr val="dk1"/>
              </a:solidFill>
              <a:latin typeface="Noto Sans"/>
              <a:ea typeface="Noto Sans"/>
              <a:cs typeface="Noto Sans"/>
              <a:sym typeface="Noto Sans"/>
            </a:endParaRPr>
          </a:p>
        </p:txBody>
      </p:sp>
      <p:sp>
        <p:nvSpPr>
          <p:cNvPr id="531" name="Google Shape;531;g3f1228d0cd6_0_207"/>
          <p:cNvSpPr/>
          <p:nvPr/>
        </p:nvSpPr>
        <p:spPr>
          <a:xfrm>
            <a:off x="658375" y="4956050"/>
            <a:ext cx="6547500" cy="59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667085"/>
              </a:buClr>
              <a:buSzPts val="960"/>
              <a:buFont typeface="Noto Sans"/>
              <a:buNone/>
            </a:pPr>
            <a:r>
              <a:rPr b="1" lang="en-US" sz="1600">
                <a:solidFill>
                  <a:schemeClr val="dk1"/>
                </a:solidFill>
                <a:latin typeface="Noto Sans"/>
                <a:ea typeface="Noto Sans"/>
                <a:cs typeface="Noto Sans"/>
                <a:sym typeface="Noto Sans"/>
              </a:rPr>
              <a:t>발표자 : 심윤보 </a:t>
            </a:r>
            <a:r>
              <a:rPr lang="en-US" sz="1600">
                <a:solidFill>
                  <a:schemeClr val="dk1"/>
                </a:solidFill>
                <a:latin typeface="Noto Sans"/>
                <a:ea typeface="Noto Sans"/>
                <a:cs typeface="Noto Sans"/>
                <a:sym typeface="Noto Sans"/>
              </a:rPr>
              <a:t>(상등병)</a:t>
            </a:r>
            <a:endParaRPr sz="1600">
              <a:solidFill>
                <a:schemeClr val="dk1"/>
              </a:solidFill>
              <a:latin typeface="Noto Sans"/>
              <a:ea typeface="Noto Sans"/>
              <a:cs typeface="Noto Sans"/>
              <a:sym typeface="Noto Sans"/>
            </a:endParaRPr>
          </a:p>
          <a:p>
            <a:pPr indent="0" lvl="0" marL="0" marR="0" rtl="0" algn="l">
              <a:spcBef>
                <a:spcPts val="0"/>
              </a:spcBef>
              <a:spcAft>
                <a:spcPts val="0"/>
              </a:spcAft>
              <a:buClr>
                <a:srgbClr val="667085"/>
              </a:buClr>
              <a:buSzPts val="960"/>
              <a:buFont typeface="Noto Sans"/>
              <a:buNone/>
            </a:pPr>
            <a:r>
              <a:rPr lang="en-US" sz="1600">
                <a:solidFill>
                  <a:schemeClr val="dk1"/>
                </a:solidFill>
                <a:latin typeface="Noto Sans"/>
                <a:ea typeface="Noto Sans"/>
                <a:cs typeface="Noto Sans"/>
                <a:sym typeface="Noto Sans"/>
              </a:rPr>
              <a:t>해군 지능정보체계단 인공지능융합과</a:t>
            </a:r>
            <a:endParaRPr sz="1600">
              <a:solidFill>
                <a:schemeClr val="dk1"/>
              </a:solidFill>
              <a:latin typeface="Noto Sans"/>
              <a:ea typeface="Noto Sans"/>
              <a:cs typeface="Noto Sans"/>
              <a:sym typeface="No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36" name="Shape 536"/>
        <p:cNvGrpSpPr/>
        <p:nvPr/>
      </p:nvGrpSpPr>
      <p:grpSpPr>
        <a:xfrm>
          <a:off x="0" y="0"/>
          <a:ext cx="0" cy="0"/>
          <a:chOff x="0" y="0"/>
          <a:chExt cx="0" cy="0"/>
        </a:xfrm>
      </p:grpSpPr>
      <p:sp>
        <p:nvSpPr>
          <p:cNvPr id="537" name="Google Shape;537;g3f1228d0cd6_0_2"/>
          <p:cNvSpPr txBox="1"/>
          <p:nvPr/>
        </p:nvSpPr>
        <p:spPr>
          <a:xfrm>
            <a:off x="512050" y="164592"/>
            <a:ext cx="4755000" cy="130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50" u="none" cap="none" strike="noStrike">
                <a:solidFill>
                  <a:srgbClr val="325C87"/>
                </a:solidFill>
                <a:latin typeface="Noto Sans"/>
                <a:ea typeface="Noto Sans"/>
                <a:cs typeface="Noto Sans"/>
                <a:sym typeface="Noto Sans"/>
              </a:rPr>
              <a:t>Appendix / Evidence for Q&amp;A</a:t>
            </a:r>
            <a:endParaRPr/>
          </a:p>
        </p:txBody>
      </p:sp>
      <p:sp>
        <p:nvSpPr>
          <p:cNvPr id="538" name="Google Shape;538;g3f1228d0cd6_0_2"/>
          <p:cNvSpPr txBox="1"/>
          <p:nvPr/>
        </p:nvSpPr>
        <p:spPr>
          <a:xfrm>
            <a:off x="512050" y="475488"/>
            <a:ext cx="10012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A1F3A"/>
                </a:solidFill>
                <a:latin typeface="Noto Sans"/>
                <a:ea typeface="Noto Sans"/>
                <a:cs typeface="Noto Sans"/>
                <a:sym typeface="Noto Sans"/>
              </a:rPr>
              <a:t>A1. 실제 데이터 없이 테스트를 어떻게 해석해야 하는가?</a:t>
            </a:r>
            <a:endParaRPr/>
          </a:p>
        </p:txBody>
      </p:sp>
      <p:sp>
        <p:nvSpPr>
          <p:cNvPr id="539" name="Google Shape;539;g3f1228d0cd6_0_2"/>
          <p:cNvSpPr txBox="1"/>
          <p:nvPr/>
        </p:nvSpPr>
        <p:spPr>
          <a:xfrm>
            <a:off x="11265108" y="393192"/>
            <a:ext cx="411600" cy="123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00" u="none" cap="none" strike="noStrike">
                <a:solidFill>
                  <a:srgbClr val="566273"/>
                </a:solidFill>
                <a:latin typeface="Noto Sans"/>
                <a:ea typeface="Noto Sans"/>
                <a:cs typeface="Noto Sans"/>
                <a:sym typeface="Noto Sans"/>
              </a:rPr>
              <a:t>15</a:t>
            </a:r>
            <a:endParaRPr/>
          </a:p>
        </p:txBody>
      </p:sp>
      <p:sp>
        <p:nvSpPr>
          <p:cNvPr id="540" name="Google Shape;540;g3f1228d0cd6_0_2"/>
          <p:cNvSpPr/>
          <p:nvPr/>
        </p:nvSpPr>
        <p:spPr>
          <a:xfrm>
            <a:off x="512050" y="97840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1" name="Google Shape;541;g3f1228d0cd6_0_2"/>
          <p:cNvSpPr/>
          <p:nvPr/>
        </p:nvSpPr>
        <p:spPr>
          <a:xfrm>
            <a:off x="512050" y="641908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2" name="Google Shape;542;g3f1228d0cd6_0_2"/>
          <p:cNvSpPr txBox="1"/>
          <p:nvPr/>
        </p:nvSpPr>
        <p:spPr>
          <a:xfrm>
            <a:off x="512050" y="6510528"/>
            <a:ext cx="7772100" cy="11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해군 함정기술 무기체계 세미나 · 인공지능 적용 기반 함정 손상통제</a:t>
            </a:r>
            <a:endParaRPr/>
          </a:p>
        </p:txBody>
      </p:sp>
      <p:sp>
        <p:nvSpPr>
          <p:cNvPr id="543" name="Google Shape;543;g3f1228d0cd6_0_2"/>
          <p:cNvSpPr txBox="1"/>
          <p:nvPr/>
        </p:nvSpPr>
        <p:spPr>
          <a:xfrm>
            <a:off x="8430543" y="6510528"/>
            <a:ext cx="3246000" cy="110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Public-data-only ship-like proxy prototype · 15</a:t>
            </a:r>
            <a:endParaRPr/>
          </a:p>
        </p:txBody>
      </p:sp>
      <p:sp>
        <p:nvSpPr>
          <p:cNvPr id="544" name="Google Shape;544;g3f1228d0cd6_0_2"/>
          <p:cNvSpPr/>
          <p:nvPr/>
        </p:nvSpPr>
        <p:spPr>
          <a:xfrm>
            <a:off x="512050" y="1069848"/>
            <a:ext cx="11164500" cy="3840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US" sz="1420" u="none" cap="none" strike="noStrike">
                <a:solidFill>
                  <a:srgbClr val="0A1F3A"/>
                </a:solidFill>
                <a:latin typeface="Noto Sans"/>
                <a:ea typeface="Noto Sans"/>
                <a:cs typeface="Noto Sans"/>
                <a:sym typeface="Noto Sans"/>
              </a:rPr>
              <a:t>실제 함정 성능 추정이 아니라, “positive cue 반응”과 “non-fire failure mode”를 분리해 본 예비 검증입니다.</a:t>
            </a:r>
            <a:endParaRPr/>
          </a:p>
        </p:txBody>
      </p:sp>
      <p:sp>
        <p:nvSpPr>
          <p:cNvPr id="545" name="Google Shape;545;g3f1228d0cd6_0_2"/>
          <p:cNvSpPr/>
          <p:nvPr/>
        </p:nvSpPr>
        <p:spPr>
          <a:xfrm>
            <a:off x="594344" y="1664208"/>
            <a:ext cx="5349300" cy="3886200"/>
          </a:xfrm>
          <a:prstGeom prst="roundRect">
            <a:avLst>
              <a:gd fmla="val 16667" name="adj"/>
            </a:avLst>
          </a:prstGeom>
          <a:solidFill>
            <a:srgbClr val="EDF4FB"/>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6" name="Google Shape;546;g3f1228d0cd6_0_2"/>
          <p:cNvSpPr/>
          <p:nvPr/>
        </p:nvSpPr>
        <p:spPr>
          <a:xfrm>
            <a:off x="594344" y="1664208"/>
            <a:ext cx="50400" cy="3886200"/>
          </a:xfrm>
          <a:prstGeom prst="rect">
            <a:avLst/>
          </a:prstGeom>
          <a:solidFill>
            <a:srgbClr val="325C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7" name="Google Shape;547;g3f1228d0cd6_0_2"/>
          <p:cNvSpPr txBox="1"/>
          <p:nvPr/>
        </p:nvSpPr>
        <p:spPr>
          <a:xfrm>
            <a:off x="758932" y="1810512"/>
            <a:ext cx="50202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0A1F3A"/>
                </a:solidFill>
                <a:latin typeface="Noto Sans"/>
                <a:ea typeface="Noto Sans"/>
                <a:cs typeface="Noto Sans"/>
                <a:sym typeface="Noto Sans"/>
              </a:rPr>
              <a:t>A. Held-out synthetic proxy check</a:t>
            </a:r>
            <a:endParaRPr/>
          </a:p>
        </p:txBody>
      </p:sp>
      <p:sp>
        <p:nvSpPr>
          <p:cNvPr id="548" name="Google Shape;548;g3f1228d0cd6_0_2"/>
          <p:cNvSpPr txBox="1"/>
          <p:nvPr/>
        </p:nvSpPr>
        <p:spPr>
          <a:xfrm>
            <a:off x="758932" y="2139696"/>
            <a:ext cx="50202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566273"/>
                </a:solidFill>
                <a:latin typeface="Noto Sans"/>
                <a:ea typeface="Noto Sans"/>
                <a:cs typeface="Noto Sans"/>
                <a:sym typeface="Noto Sans"/>
              </a:rPr>
              <a:t>합성 방식 편향이 있으므로 실제 정확도(accuracy)로 해석하지 않음</a:t>
            </a:r>
            <a:endParaRPr/>
          </a:p>
        </p:txBody>
      </p:sp>
      <p:sp>
        <p:nvSpPr>
          <p:cNvPr id="549" name="Google Shape;549;g3f1228d0cd6_0_2"/>
          <p:cNvSpPr/>
          <p:nvPr/>
        </p:nvSpPr>
        <p:spPr>
          <a:xfrm>
            <a:off x="868657" y="2395728"/>
            <a:ext cx="1508700" cy="9876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0" name="Google Shape;550;g3f1228d0cd6_0_2"/>
          <p:cNvSpPr txBox="1"/>
          <p:nvPr/>
        </p:nvSpPr>
        <p:spPr>
          <a:xfrm>
            <a:off x="960094" y="2505456"/>
            <a:ext cx="13260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325C87"/>
                </a:solidFill>
                <a:latin typeface="Noto Sans"/>
                <a:ea typeface="Noto Sans"/>
                <a:cs typeface="Noto Sans"/>
                <a:sym typeface="Noto Sans"/>
              </a:rPr>
              <a:t>34</a:t>
            </a:r>
            <a:endParaRPr/>
          </a:p>
        </p:txBody>
      </p:sp>
      <p:sp>
        <p:nvSpPr>
          <p:cNvPr id="551" name="Google Shape;551;g3f1228d0cd6_0_2"/>
          <p:cNvSpPr txBox="1"/>
          <p:nvPr/>
        </p:nvSpPr>
        <p:spPr>
          <a:xfrm>
            <a:off x="960094" y="2871216"/>
            <a:ext cx="13260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eval images</a:t>
            </a:r>
            <a:endParaRPr/>
          </a:p>
        </p:txBody>
      </p:sp>
      <p:sp>
        <p:nvSpPr>
          <p:cNvPr id="552" name="Google Shape;552;g3f1228d0cd6_0_2"/>
          <p:cNvSpPr txBox="1"/>
          <p:nvPr/>
        </p:nvSpPr>
        <p:spPr>
          <a:xfrm>
            <a:off x="960094" y="3099816"/>
            <a:ext cx="1326000" cy="118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held-out synthetic</a:t>
            </a:r>
            <a:endParaRPr/>
          </a:p>
        </p:txBody>
      </p:sp>
      <p:sp>
        <p:nvSpPr>
          <p:cNvPr id="553" name="Google Shape;553;g3f1228d0cd6_0_2"/>
          <p:cNvSpPr/>
          <p:nvPr/>
        </p:nvSpPr>
        <p:spPr>
          <a:xfrm>
            <a:off x="2541964" y="2395728"/>
            <a:ext cx="1508700" cy="9876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4" name="Google Shape;554;g3f1228d0cd6_0_2"/>
          <p:cNvSpPr txBox="1"/>
          <p:nvPr/>
        </p:nvSpPr>
        <p:spPr>
          <a:xfrm>
            <a:off x="2633402" y="2505456"/>
            <a:ext cx="13260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325C87"/>
                </a:solidFill>
                <a:latin typeface="Noto Sans"/>
                <a:ea typeface="Noto Sans"/>
                <a:cs typeface="Noto Sans"/>
                <a:sym typeface="Noto Sans"/>
              </a:rPr>
              <a:t>58.82%</a:t>
            </a:r>
            <a:endParaRPr/>
          </a:p>
        </p:txBody>
      </p:sp>
      <p:sp>
        <p:nvSpPr>
          <p:cNvPr id="555" name="Google Shape;555;g3f1228d0cd6_0_2"/>
          <p:cNvSpPr txBox="1"/>
          <p:nvPr/>
        </p:nvSpPr>
        <p:spPr>
          <a:xfrm>
            <a:off x="2633402" y="2871216"/>
            <a:ext cx="13260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proxy hit-rate</a:t>
            </a:r>
            <a:endParaRPr/>
          </a:p>
        </p:txBody>
      </p:sp>
      <p:sp>
        <p:nvSpPr>
          <p:cNvPr id="556" name="Google Shape;556;g3f1228d0cd6_0_2"/>
          <p:cNvSpPr txBox="1"/>
          <p:nvPr/>
        </p:nvSpPr>
        <p:spPr>
          <a:xfrm>
            <a:off x="2633402" y="3099816"/>
            <a:ext cx="1326000" cy="118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20 / 34 hit</a:t>
            </a:r>
            <a:endParaRPr/>
          </a:p>
        </p:txBody>
      </p:sp>
      <p:sp>
        <p:nvSpPr>
          <p:cNvPr id="557" name="Google Shape;557;g3f1228d0cd6_0_2"/>
          <p:cNvSpPr/>
          <p:nvPr/>
        </p:nvSpPr>
        <p:spPr>
          <a:xfrm>
            <a:off x="4215272" y="2395728"/>
            <a:ext cx="1326000" cy="9876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8" name="Google Shape;558;g3f1228d0cd6_0_2"/>
          <p:cNvSpPr txBox="1"/>
          <p:nvPr/>
        </p:nvSpPr>
        <p:spPr>
          <a:xfrm>
            <a:off x="4306709" y="2505456"/>
            <a:ext cx="11430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AF7E2D"/>
                </a:solidFill>
                <a:latin typeface="Noto Sans"/>
                <a:ea typeface="Noto Sans"/>
                <a:cs typeface="Noto Sans"/>
                <a:sym typeface="Noto Sans"/>
              </a:rPr>
              <a:t>41.18%</a:t>
            </a:r>
            <a:endParaRPr/>
          </a:p>
        </p:txBody>
      </p:sp>
      <p:sp>
        <p:nvSpPr>
          <p:cNvPr id="559" name="Google Shape;559;g3f1228d0cd6_0_2"/>
          <p:cNvSpPr txBox="1"/>
          <p:nvPr/>
        </p:nvSpPr>
        <p:spPr>
          <a:xfrm>
            <a:off x="4306709" y="2871216"/>
            <a:ext cx="11430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smoke hit</a:t>
            </a:r>
            <a:endParaRPr/>
          </a:p>
        </p:txBody>
      </p:sp>
      <p:sp>
        <p:nvSpPr>
          <p:cNvPr id="560" name="Google Shape;560;g3f1228d0cd6_0_2"/>
          <p:cNvSpPr txBox="1"/>
          <p:nvPr/>
        </p:nvSpPr>
        <p:spPr>
          <a:xfrm>
            <a:off x="4306709" y="3099816"/>
            <a:ext cx="1143000" cy="118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7 / 17 hit</a:t>
            </a:r>
            <a:endParaRPr/>
          </a:p>
        </p:txBody>
      </p:sp>
      <p:sp>
        <p:nvSpPr>
          <p:cNvPr id="561" name="Google Shape;561;g3f1228d0cd6_0_2"/>
          <p:cNvSpPr txBox="1"/>
          <p:nvPr/>
        </p:nvSpPr>
        <p:spPr>
          <a:xfrm>
            <a:off x="868657" y="3639312"/>
            <a:ext cx="4617600" cy="627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19" u="none" cap="none" strike="noStrike">
                <a:solidFill>
                  <a:srgbClr val="566273"/>
                </a:solidFill>
                <a:latin typeface="Noto Sans"/>
                <a:ea typeface="Noto Sans"/>
                <a:cs typeface="Noto Sans"/>
                <a:sym typeface="Noto Sans"/>
              </a:rPr>
              <a:t>해석: 합성 positive cue를 넣었을 때 detector가 반응하는지 확인하는 sanity-check입니다.</a:t>
            </a:r>
            <a:br>
              <a:rPr b="0" i="0" lang="en-US" sz="1019" u="none" cap="none" strike="noStrike">
                <a:solidFill>
                  <a:srgbClr val="566273"/>
                </a:solidFill>
                <a:latin typeface="Noto Sans"/>
                <a:ea typeface="Noto Sans"/>
                <a:cs typeface="Noto Sans"/>
                <a:sym typeface="Noto Sans"/>
              </a:rPr>
            </a:br>
            <a:r>
              <a:rPr b="0" i="0" lang="en-US" sz="1019" u="none" cap="none" strike="noStrike">
                <a:solidFill>
                  <a:srgbClr val="566273"/>
                </a:solidFill>
                <a:latin typeface="Noto Sans"/>
                <a:ea typeface="Noto Sans"/>
                <a:cs typeface="Noto Sans"/>
                <a:sym typeface="Noto Sans"/>
              </a:rPr>
              <a:t>Fire는 13/17 hit(76.47%), smoke는 낮은 hit-rate를 보여 후속 개선 과제를 드러냈습니다.</a:t>
            </a:r>
            <a:endParaRPr/>
          </a:p>
        </p:txBody>
      </p:sp>
      <p:sp>
        <p:nvSpPr>
          <p:cNvPr id="562" name="Google Shape;562;g3f1228d0cd6_0_2"/>
          <p:cNvSpPr/>
          <p:nvPr/>
        </p:nvSpPr>
        <p:spPr>
          <a:xfrm>
            <a:off x="6245186" y="1664208"/>
            <a:ext cx="5349300" cy="3886200"/>
          </a:xfrm>
          <a:prstGeom prst="roundRect">
            <a:avLst>
              <a:gd fmla="val 16667" name="adj"/>
            </a:avLst>
          </a:prstGeom>
          <a:solidFill>
            <a:srgbClr val="F9F4E8"/>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3" name="Google Shape;563;g3f1228d0cd6_0_2"/>
          <p:cNvSpPr/>
          <p:nvPr/>
        </p:nvSpPr>
        <p:spPr>
          <a:xfrm>
            <a:off x="6245186" y="1664208"/>
            <a:ext cx="50400" cy="3886200"/>
          </a:xfrm>
          <a:prstGeom prst="rect">
            <a:avLst/>
          </a:prstGeom>
          <a:solidFill>
            <a:srgbClr val="AF7E2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4" name="Google Shape;564;g3f1228d0cd6_0_2"/>
          <p:cNvSpPr txBox="1"/>
          <p:nvPr/>
        </p:nvSpPr>
        <p:spPr>
          <a:xfrm>
            <a:off x="6409773" y="1810512"/>
            <a:ext cx="50202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0A1F3A"/>
                </a:solidFill>
                <a:latin typeface="Noto Sans"/>
                <a:ea typeface="Noto Sans"/>
                <a:cs typeface="Noto Sans"/>
                <a:sym typeface="Noto Sans"/>
              </a:rPr>
              <a:t>B. Ship-like hard-negative check</a:t>
            </a:r>
            <a:endParaRPr/>
          </a:p>
        </p:txBody>
      </p:sp>
      <p:sp>
        <p:nvSpPr>
          <p:cNvPr id="565" name="Google Shape;565;g3f1228d0cd6_0_2"/>
          <p:cNvSpPr txBox="1"/>
          <p:nvPr/>
        </p:nvSpPr>
        <p:spPr>
          <a:xfrm>
            <a:off x="6409773" y="2139696"/>
            <a:ext cx="5020200" cy="1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50" u="none" cap="none" strike="noStrike">
                <a:solidFill>
                  <a:srgbClr val="566273"/>
                </a:solidFill>
                <a:latin typeface="Noto Sans"/>
                <a:ea typeface="Noto Sans"/>
                <a:cs typeface="Noto Sans"/>
                <a:sym typeface="Noto Sans"/>
              </a:rPr>
              <a:t>실제 화재가 없는 공개 ship-like frame에서 오탐을 직접 측정</a:t>
            </a:r>
            <a:endParaRPr/>
          </a:p>
        </p:txBody>
      </p:sp>
      <p:sp>
        <p:nvSpPr>
          <p:cNvPr id="566" name="Google Shape;566;g3f1228d0cd6_0_2"/>
          <p:cNvSpPr/>
          <p:nvPr/>
        </p:nvSpPr>
        <p:spPr>
          <a:xfrm>
            <a:off x="6519498" y="2395728"/>
            <a:ext cx="1508700" cy="9876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7" name="Google Shape;567;g3f1228d0cd6_0_2"/>
          <p:cNvSpPr txBox="1"/>
          <p:nvPr/>
        </p:nvSpPr>
        <p:spPr>
          <a:xfrm>
            <a:off x="6610936" y="2505456"/>
            <a:ext cx="13260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AF7E2D"/>
                </a:solidFill>
                <a:latin typeface="Noto Sans"/>
                <a:ea typeface="Noto Sans"/>
                <a:cs typeface="Noto Sans"/>
                <a:sym typeface="Noto Sans"/>
              </a:rPr>
              <a:t>127</a:t>
            </a:r>
            <a:endParaRPr/>
          </a:p>
        </p:txBody>
      </p:sp>
      <p:sp>
        <p:nvSpPr>
          <p:cNvPr id="568" name="Google Shape;568;g3f1228d0cd6_0_2"/>
          <p:cNvSpPr txBox="1"/>
          <p:nvPr/>
        </p:nvSpPr>
        <p:spPr>
          <a:xfrm>
            <a:off x="6610936" y="2871216"/>
            <a:ext cx="13260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non-fire frames</a:t>
            </a:r>
            <a:endParaRPr/>
          </a:p>
        </p:txBody>
      </p:sp>
      <p:sp>
        <p:nvSpPr>
          <p:cNvPr id="569" name="Google Shape;569;g3f1228d0cd6_0_2"/>
          <p:cNvSpPr txBox="1"/>
          <p:nvPr/>
        </p:nvSpPr>
        <p:spPr>
          <a:xfrm>
            <a:off x="6610936" y="3099816"/>
            <a:ext cx="1326000" cy="118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hard-negative set</a:t>
            </a:r>
            <a:endParaRPr/>
          </a:p>
        </p:txBody>
      </p:sp>
      <p:sp>
        <p:nvSpPr>
          <p:cNvPr id="570" name="Google Shape;570;g3f1228d0cd6_0_2"/>
          <p:cNvSpPr/>
          <p:nvPr/>
        </p:nvSpPr>
        <p:spPr>
          <a:xfrm>
            <a:off x="8192806" y="2395728"/>
            <a:ext cx="1508700" cy="9876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1" name="Google Shape;571;g3f1228d0cd6_0_2"/>
          <p:cNvSpPr txBox="1"/>
          <p:nvPr/>
        </p:nvSpPr>
        <p:spPr>
          <a:xfrm>
            <a:off x="8284243" y="2505456"/>
            <a:ext cx="13260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AF7E2D"/>
                </a:solidFill>
                <a:latin typeface="Noto Sans"/>
                <a:ea typeface="Noto Sans"/>
                <a:cs typeface="Noto Sans"/>
                <a:sym typeface="Noto Sans"/>
              </a:rPr>
              <a:t>66.93%</a:t>
            </a:r>
            <a:endParaRPr/>
          </a:p>
        </p:txBody>
      </p:sp>
      <p:sp>
        <p:nvSpPr>
          <p:cNvPr id="572" name="Google Shape;572;g3f1228d0cd6_0_2"/>
          <p:cNvSpPr txBox="1"/>
          <p:nvPr/>
        </p:nvSpPr>
        <p:spPr>
          <a:xfrm>
            <a:off x="8284243" y="2871216"/>
            <a:ext cx="13260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false-alarm</a:t>
            </a:r>
            <a:endParaRPr/>
          </a:p>
        </p:txBody>
      </p:sp>
      <p:sp>
        <p:nvSpPr>
          <p:cNvPr id="573" name="Google Shape;573;g3f1228d0cd6_0_2"/>
          <p:cNvSpPr txBox="1"/>
          <p:nvPr/>
        </p:nvSpPr>
        <p:spPr>
          <a:xfrm>
            <a:off x="8284243" y="3099816"/>
            <a:ext cx="1326000" cy="118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85 / 127 frames</a:t>
            </a:r>
            <a:endParaRPr/>
          </a:p>
        </p:txBody>
      </p:sp>
      <p:sp>
        <p:nvSpPr>
          <p:cNvPr id="574" name="Google Shape;574;g3f1228d0cd6_0_2"/>
          <p:cNvSpPr/>
          <p:nvPr/>
        </p:nvSpPr>
        <p:spPr>
          <a:xfrm>
            <a:off x="9866113" y="2395728"/>
            <a:ext cx="1326000" cy="9876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5" name="Google Shape;575;g3f1228d0cd6_0_2"/>
          <p:cNvSpPr txBox="1"/>
          <p:nvPr/>
        </p:nvSpPr>
        <p:spPr>
          <a:xfrm>
            <a:off x="9957550" y="2505456"/>
            <a:ext cx="11430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AF7E2D"/>
                </a:solidFill>
                <a:latin typeface="Noto Sans"/>
                <a:ea typeface="Noto Sans"/>
                <a:cs typeface="Noto Sans"/>
                <a:sym typeface="Noto Sans"/>
              </a:rPr>
              <a:t>145</a:t>
            </a:r>
            <a:endParaRPr/>
          </a:p>
        </p:txBody>
      </p:sp>
      <p:sp>
        <p:nvSpPr>
          <p:cNvPr id="576" name="Google Shape;576;g3f1228d0cd6_0_2"/>
          <p:cNvSpPr txBox="1"/>
          <p:nvPr/>
        </p:nvSpPr>
        <p:spPr>
          <a:xfrm>
            <a:off x="9957550" y="2871216"/>
            <a:ext cx="11430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boxes</a:t>
            </a:r>
            <a:endParaRPr/>
          </a:p>
        </p:txBody>
      </p:sp>
      <p:sp>
        <p:nvSpPr>
          <p:cNvPr id="577" name="Google Shape;577;g3f1228d0cd6_0_2"/>
          <p:cNvSpPr txBox="1"/>
          <p:nvPr/>
        </p:nvSpPr>
        <p:spPr>
          <a:xfrm>
            <a:off x="9957550" y="3099816"/>
            <a:ext cx="1143000" cy="118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predictions</a:t>
            </a:r>
            <a:endParaRPr/>
          </a:p>
        </p:txBody>
      </p:sp>
      <p:sp>
        <p:nvSpPr>
          <p:cNvPr id="578" name="Google Shape;578;g3f1228d0cd6_0_2"/>
          <p:cNvSpPr txBox="1"/>
          <p:nvPr/>
        </p:nvSpPr>
        <p:spPr>
          <a:xfrm>
            <a:off x="6519498" y="3639312"/>
            <a:ext cx="4617600" cy="47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19" u="none" cap="none" strike="noStrike">
                <a:solidFill>
                  <a:srgbClr val="566273"/>
                </a:solidFill>
                <a:latin typeface="Noto Sans"/>
                <a:ea typeface="Noto Sans"/>
                <a:cs typeface="Noto Sans"/>
                <a:sym typeface="Noto Sans"/>
              </a:rPr>
              <a:t>해석: red valve, monitor, red light, exterior structure 같은 confuser에서 detector가 얼마나 쉽게 실패하는지 확인했습니다.</a:t>
            </a:r>
            <a:br>
              <a:rPr b="0" i="0" lang="en-US" sz="1019" u="none" cap="none" strike="noStrike">
                <a:solidFill>
                  <a:srgbClr val="566273"/>
                </a:solidFill>
                <a:latin typeface="Noto Sans"/>
                <a:ea typeface="Noto Sans"/>
                <a:cs typeface="Noto Sans"/>
                <a:sym typeface="Noto Sans"/>
              </a:rPr>
            </a:br>
            <a:r>
              <a:rPr b="0" i="0" lang="en-US" sz="1019" u="none" cap="none" strike="noStrike">
                <a:solidFill>
                  <a:srgbClr val="566273"/>
                </a:solidFill>
                <a:latin typeface="Noto Sans"/>
                <a:ea typeface="Noto Sans"/>
                <a:cs typeface="Noto Sans"/>
                <a:sym typeface="Noto Sans"/>
              </a:rPr>
              <a:t>이 수치가 deployment gap을 보여주는 핵심 evidence입니다.</a:t>
            </a:r>
            <a:endParaRPr/>
          </a:p>
        </p:txBody>
      </p:sp>
      <p:sp>
        <p:nvSpPr>
          <p:cNvPr id="579" name="Google Shape;579;g3f1228d0cd6_0_2"/>
          <p:cNvSpPr/>
          <p:nvPr/>
        </p:nvSpPr>
        <p:spPr>
          <a:xfrm>
            <a:off x="658350" y="5742432"/>
            <a:ext cx="10899300" cy="4206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US" sz="1000" u="none" cap="none" strike="noStrike">
                <a:solidFill>
                  <a:srgbClr val="0A1F3A"/>
                </a:solidFill>
                <a:latin typeface="Noto Sans"/>
                <a:ea typeface="Noto Sans"/>
                <a:cs typeface="Noto Sans"/>
                <a:sym typeface="Noto Sans"/>
              </a:rPr>
              <a:t>Bias-control interpretation: asset-level split 우선 적용 · synthetic eval과 hard-negative eval 분리 · 결과는 “accuracy”가 아니라 “prototype sanity-check + failure-mode measurement”로 제한</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84" name="Shape 584"/>
        <p:cNvGrpSpPr/>
        <p:nvPr/>
      </p:nvGrpSpPr>
      <p:grpSpPr>
        <a:xfrm>
          <a:off x="0" y="0"/>
          <a:ext cx="0" cy="0"/>
          <a:chOff x="0" y="0"/>
          <a:chExt cx="0" cy="0"/>
        </a:xfrm>
      </p:grpSpPr>
      <p:sp>
        <p:nvSpPr>
          <p:cNvPr id="585" name="Google Shape;585;g3f1228d0cd6_0_49"/>
          <p:cNvSpPr txBox="1"/>
          <p:nvPr/>
        </p:nvSpPr>
        <p:spPr>
          <a:xfrm>
            <a:off x="512050" y="164592"/>
            <a:ext cx="4755000" cy="130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50" u="none" cap="none" strike="noStrike">
                <a:solidFill>
                  <a:srgbClr val="325C87"/>
                </a:solidFill>
                <a:latin typeface="Noto Sans"/>
                <a:ea typeface="Noto Sans"/>
                <a:cs typeface="Noto Sans"/>
                <a:sym typeface="Noto Sans"/>
              </a:rPr>
              <a:t>Appendix / Data construction</a:t>
            </a:r>
            <a:endParaRPr/>
          </a:p>
        </p:txBody>
      </p:sp>
      <p:sp>
        <p:nvSpPr>
          <p:cNvPr id="586" name="Google Shape;586;g3f1228d0cd6_0_49"/>
          <p:cNvSpPr txBox="1"/>
          <p:nvPr/>
        </p:nvSpPr>
        <p:spPr>
          <a:xfrm>
            <a:off x="512050" y="475488"/>
            <a:ext cx="10012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A1F3A"/>
                </a:solidFill>
                <a:latin typeface="Noto Sans"/>
                <a:ea typeface="Noto Sans"/>
                <a:cs typeface="Noto Sans"/>
                <a:sym typeface="Noto Sans"/>
              </a:rPr>
              <a:t>A2. 792 → 259 → synthetic v1 170: 선별 기준과 validation PASS</a:t>
            </a:r>
            <a:endParaRPr/>
          </a:p>
        </p:txBody>
      </p:sp>
      <p:sp>
        <p:nvSpPr>
          <p:cNvPr id="587" name="Google Shape;587;g3f1228d0cd6_0_49"/>
          <p:cNvSpPr txBox="1"/>
          <p:nvPr/>
        </p:nvSpPr>
        <p:spPr>
          <a:xfrm>
            <a:off x="11265108" y="393192"/>
            <a:ext cx="411600" cy="123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00" u="none" cap="none" strike="noStrike">
                <a:solidFill>
                  <a:srgbClr val="566273"/>
                </a:solidFill>
                <a:latin typeface="Noto Sans"/>
                <a:ea typeface="Noto Sans"/>
                <a:cs typeface="Noto Sans"/>
                <a:sym typeface="Noto Sans"/>
              </a:rPr>
              <a:t>16</a:t>
            </a:r>
            <a:endParaRPr/>
          </a:p>
        </p:txBody>
      </p:sp>
      <p:sp>
        <p:nvSpPr>
          <p:cNvPr id="588" name="Google Shape;588;g3f1228d0cd6_0_49"/>
          <p:cNvSpPr/>
          <p:nvPr/>
        </p:nvSpPr>
        <p:spPr>
          <a:xfrm>
            <a:off x="512050" y="97840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9" name="Google Shape;589;g3f1228d0cd6_0_49"/>
          <p:cNvSpPr/>
          <p:nvPr/>
        </p:nvSpPr>
        <p:spPr>
          <a:xfrm>
            <a:off x="512050" y="641908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0" name="Google Shape;590;g3f1228d0cd6_0_49"/>
          <p:cNvSpPr txBox="1"/>
          <p:nvPr/>
        </p:nvSpPr>
        <p:spPr>
          <a:xfrm>
            <a:off x="512050" y="6510528"/>
            <a:ext cx="7772100" cy="11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해군 함정기술 무기체계 세미나 · 인공지능 적용 기반 함정 손상통제</a:t>
            </a:r>
            <a:endParaRPr/>
          </a:p>
        </p:txBody>
      </p:sp>
      <p:sp>
        <p:nvSpPr>
          <p:cNvPr id="591" name="Google Shape;591;g3f1228d0cd6_0_49"/>
          <p:cNvSpPr txBox="1"/>
          <p:nvPr/>
        </p:nvSpPr>
        <p:spPr>
          <a:xfrm>
            <a:off x="8430543" y="6510528"/>
            <a:ext cx="3246000" cy="110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Public-data-only ship-like proxy prototype · 16</a:t>
            </a:r>
            <a:endParaRPr/>
          </a:p>
        </p:txBody>
      </p:sp>
      <p:sp>
        <p:nvSpPr>
          <p:cNvPr id="592" name="Google Shape;592;g3f1228d0cd6_0_49"/>
          <p:cNvSpPr/>
          <p:nvPr/>
        </p:nvSpPr>
        <p:spPr>
          <a:xfrm>
            <a:off x="512050" y="1069848"/>
            <a:ext cx="11164500" cy="3840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US" sz="1420" u="none" cap="none" strike="noStrike">
                <a:solidFill>
                  <a:srgbClr val="0A1F3A"/>
                </a:solidFill>
                <a:latin typeface="Noto Sans"/>
                <a:ea typeface="Noto Sans"/>
                <a:cs typeface="Noto Sans"/>
                <a:sym typeface="Noto Sans"/>
              </a:rPr>
              <a:t>170장은 259개 frame을 단순 추출한 것이 아니라, 엄격한 background 조건을 만족한 frame 위에 donor crop을 합성한 output입니다.</a:t>
            </a:r>
            <a:endParaRPr/>
          </a:p>
        </p:txBody>
      </p:sp>
      <p:sp>
        <p:nvSpPr>
          <p:cNvPr id="593" name="Google Shape;593;g3f1228d0cd6_0_49"/>
          <p:cNvSpPr/>
          <p:nvPr/>
        </p:nvSpPr>
        <p:spPr>
          <a:xfrm>
            <a:off x="2423095" y="1883664"/>
            <a:ext cx="2559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4" name="Google Shape;594;g3f1228d0cd6_0_49"/>
          <p:cNvSpPr/>
          <p:nvPr/>
        </p:nvSpPr>
        <p:spPr>
          <a:xfrm>
            <a:off x="4443866" y="1883664"/>
            <a:ext cx="2559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5" name="Google Shape;595;g3f1228d0cd6_0_49"/>
          <p:cNvSpPr/>
          <p:nvPr/>
        </p:nvSpPr>
        <p:spPr>
          <a:xfrm>
            <a:off x="6455492" y="1883664"/>
            <a:ext cx="2559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6" name="Google Shape;596;g3f1228d0cd6_0_49"/>
          <p:cNvSpPr/>
          <p:nvPr/>
        </p:nvSpPr>
        <p:spPr>
          <a:xfrm>
            <a:off x="8457975" y="1883664"/>
            <a:ext cx="2559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7" name="Google Shape;597;g3f1228d0cd6_0_49"/>
          <p:cNvSpPr/>
          <p:nvPr/>
        </p:nvSpPr>
        <p:spPr>
          <a:xfrm>
            <a:off x="576057" y="1572768"/>
            <a:ext cx="1764900" cy="10242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8" name="Google Shape;598;g3f1228d0cd6_0_49"/>
          <p:cNvSpPr txBox="1"/>
          <p:nvPr/>
        </p:nvSpPr>
        <p:spPr>
          <a:xfrm>
            <a:off x="667494" y="1682495"/>
            <a:ext cx="15819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325C87"/>
                </a:solidFill>
                <a:latin typeface="Noto Sans"/>
                <a:ea typeface="Noto Sans"/>
                <a:cs typeface="Noto Sans"/>
                <a:sym typeface="Noto Sans"/>
              </a:rPr>
              <a:t>792</a:t>
            </a:r>
            <a:endParaRPr/>
          </a:p>
        </p:txBody>
      </p:sp>
      <p:sp>
        <p:nvSpPr>
          <p:cNvPr id="599" name="Google Shape;599;g3f1228d0cd6_0_49"/>
          <p:cNvSpPr txBox="1"/>
          <p:nvPr/>
        </p:nvSpPr>
        <p:spPr>
          <a:xfrm>
            <a:off x="667494" y="2048256"/>
            <a:ext cx="15819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keyframe 후보</a:t>
            </a:r>
            <a:endParaRPr/>
          </a:p>
        </p:txBody>
      </p:sp>
      <p:sp>
        <p:nvSpPr>
          <p:cNvPr id="600" name="Google Shape;600;g3f1228d0cd6_0_49"/>
          <p:cNvSpPr txBox="1"/>
          <p:nvPr/>
        </p:nvSpPr>
        <p:spPr>
          <a:xfrm>
            <a:off x="667494" y="2276856"/>
            <a:ext cx="1581900" cy="23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DVIDS / NOAA</a:t>
            </a:r>
            <a:br>
              <a:rPr b="0" i="0" lang="en-US" sz="770" u="none" cap="none" strike="noStrike">
                <a:solidFill>
                  <a:srgbClr val="6D7786"/>
                </a:solidFill>
                <a:latin typeface="Noto Sans"/>
                <a:ea typeface="Noto Sans"/>
                <a:cs typeface="Noto Sans"/>
                <a:sym typeface="Noto Sans"/>
              </a:rPr>
            </a:br>
            <a:r>
              <a:rPr b="0" i="0" lang="en-US" sz="770" u="none" cap="none" strike="noStrike">
                <a:solidFill>
                  <a:srgbClr val="6D7786"/>
                </a:solidFill>
                <a:latin typeface="Noto Sans"/>
                <a:ea typeface="Noto Sans"/>
                <a:cs typeface="Noto Sans"/>
                <a:sym typeface="Noto Sans"/>
              </a:rPr>
              <a:t>공개자료</a:t>
            </a:r>
            <a:endParaRPr/>
          </a:p>
        </p:txBody>
      </p:sp>
      <p:sp>
        <p:nvSpPr>
          <p:cNvPr id="601" name="Google Shape;601;g3f1228d0cd6_0_49"/>
          <p:cNvSpPr/>
          <p:nvPr/>
        </p:nvSpPr>
        <p:spPr>
          <a:xfrm>
            <a:off x="2697408" y="1572768"/>
            <a:ext cx="1764900" cy="10242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2" name="Google Shape;602;g3f1228d0cd6_0_49"/>
          <p:cNvSpPr txBox="1"/>
          <p:nvPr/>
        </p:nvSpPr>
        <p:spPr>
          <a:xfrm>
            <a:off x="2788846" y="1682495"/>
            <a:ext cx="15819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325C87"/>
                </a:solidFill>
                <a:latin typeface="Noto Sans"/>
                <a:ea typeface="Noto Sans"/>
                <a:cs typeface="Noto Sans"/>
                <a:sym typeface="Noto Sans"/>
              </a:rPr>
              <a:t>259</a:t>
            </a:r>
            <a:endParaRPr/>
          </a:p>
        </p:txBody>
      </p:sp>
      <p:sp>
        <p:nvSpPr>
          <p:cNvPr id="603" name="Google Shape;603;g3f1228d0cd6_0_49"/>
          <p:cNvSpPr txBox="1"/>
          <p:nvPr/>
        </p:nvSpPr>
        <p:spPr>
          <a:xfrm>
            <a:off x="2788846" y="2048256"/>
            <a:ext cx="15819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usable non-fire</a:t>
            </a:r>
            <a:endParaRPr/>
          </a:p>
        </p:txBody>
      </p:sp>
      <p:sp>
        <p:nvSpPr>
          <p:cNvPr id="604" name="Google Shape;604;g3f1228d0cd6_0_49"/>
          <p:cNvSpPr txBox="1"/>
          <p:nvPr/>
        </p:nvSpPr>
        <p:spPr>
          <a:xfrm>
            <a:off x="2788846" y="2276856"/>
            <a:ext cx="1581900" cy="23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수동 screening</a:t>
            </a:r>
            <a:br>
              <a:rPr b="0" i="0" lang="en-US" sz="770" u="none" cap="none" strike="noStrike">
                <a:solidFill>
                  <a:srgbClr val="6D7786"/>
                </a:solidFill>
                <a:latin typeface="Noto Sans"/>
                <a:ea typeface="Noto Sans"/>
                <a:cs typeface="Noto Sans"/>
                <a:sym typeface="Noto Sans"/>
              </a:rPr>
            </a:br>
            <a:r>
              <a:rPr b="0" i="0" lang="en-US" sz="770" u="none" cap="none" strike="noStrike">
                <a:solidFill>
                  <a:srgbClr val="6D7786"/>
                </a:solidFill>
                <a:latin typeface="Noto Sans"/>
                <a:ea typeface="Noto Sans"/>
                <a:cs typeface="Noto Sans"/>
                <a:sym typeface="Noto Sans"/>
              </a:rPr>
              <a:t>+ metadata tagging</a:t>
            </a:r>
            <a:endParaRPr/>
          </a:p>
        </p:txBody>
      </p:sp>
      <p:sp>
        <p:nvSpPr>
          <p:cNvPr id="605" name="Google Shape;605;g3f1228d0cd6_0_49"/>
          <p:cNvSpPr/>
          <p:nvPr/>
        </p:nvSpPr>
        <p:spPr>
          <a:xfrm>
            <a:off x="4709034" y="1572768"/>
            <a:ext cx="1764900" cy="10242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6" name="Google Shape;606;g3f1228d0cd6_0_49"/>
          <p:cNvSpPr txBox="1"/>
          <p:nvPr/>
        </p:nvSpPr>
        <p:spPr>
          <a:xfrm>
            <a:off x="4800472" y="1682495"/>
            <a:ext cx="15819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325C87"/>
                </a:solidFill>
                <a:latin typeface="Noto Sans"/>
                <a:ea typeface="Noto Sans"/>
                <a:cs typeface="Noto Sans"/>
                <a:sym typeface="Noto Sans"/>
              </a:rPr>
              <a:t>103 / 29 / 127</a:t>
            </a:r>
            <a:endParaRPr/>
          </a:p>
        </p:txBody>
      </p:sp>
      <p:sp>
        <p:nvSpPr>
          <p:cNvPr id="607" name="Google Shape;607;g3f1228d0cd6_0_49"/>
          <p:cNvSpPr txBox="1"/>
          <p:nvPr/>
        </p:nvSpPr>
        <p:spPr>
          <a:xfrm>
            <a:off x="4800472" y="2048256"/>
            <a:ext cx="15819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split</a:t>
            </a:r>
            <a:endParaRPr/>
          </a:p>
        </p:txBody>
      </p:sp>
      <p:sp>
        <p:nvSpPr>
          <p:cNvPr id="608" name="Google Shape;608;g3f1228d0cd6_0_49"/>
          <p:cNvSpPr txBox="1"/>
          <p:nvPr/>
        </p:nvSpPr>
        <p:spPr>
          <a:xfrm>
            <a:off x="4800472" y="2276856"/>
            <a:ext cx="1581900" cy="23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train / val /</a:t>
            </a:r>
            <a:br>
              <a:rPr b="0" i="0" lang="en-US" sz="770" u="none" cap="none" strike="noStrike">
                <a:solidFill>
                  <a:srgbClr val="6D7786"/>
                </a:solidFill>
                <a:latin typeface="Noto Sans"/>
                <a:ea typeface="Noto Sans"/>
                <a:cs typeface="Noto Sans"/>
                <a:sym typeface="Noto Sans"/>
              </a:rPr>
            </a:br>
            <a:r>
              <a:rPr b="0" i="0" lang="en-US" sz="770" u="none" cap="none" strike="noStrike">
                <a:solidFill>
                  <a:srgbClr val="6D7786"/>
                </a:solidFill>
                <a:latin typeface="Noto Sans"/>
                <a:ea typeface="Noto Sans"/>
                <a:cs typeface="Noto Sans"/>
                <a:sym typeface="Noto Sans"/>
              </a:rPr>
              <a:t>hard-neg test</a:t>
            </a:r>
            <a:endParaRPr/>
          </a:p>
        </p:txBody>
      </p:sp>
      <p:sp>
        <p:nvSpPr>
          <p:cNvPr id="609" name="Google Shape;609;g3f1228d0cd6_0_49"/>
          <p:cNvSpPr/>
          <p:nvPr/>
        </p:nvSpPr>
        <p:spPr>
          <a:xfrm>
            <a:off x="6720661" y="1572768"/>
            <a:ext cx="1764900" cy="10242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0" name="Google Shape;610;g3f1228d0cd6_0_49"/>
          <p:cNvSpPr txBox="1"/>
          <p:nvPr/>
        </p:nvSpPr>
        <p:spPr>
          <a:xfrm>
            <a:off x="6812097" y="1682495"/>
            <a:ext cx="15819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AF7E2D"/>
                </a:solidFill>
                <a:latin typeface="Noto Sans"/>
                <a:ea typeface="Noto Sans"/>
                <a:cs typeface="Noto Sans"/>
                <a:sym typeface="Noto Sans"/>
              </a:rPr>
              <a:t>strict</a:t>
            </a:r>
            <a:endParaRPr/>
          </a:p>
        </p:txBody>
      </p:sp>
      <p:sp>
        <p:nvSpPr>
          <p:cNvPr id="611" name="Google Shape;611;g3f1228d0cd6_0_49"/>
          <p:cNvSpPr txBox="1"/>
          <p:nvPr/>
        </p:nvSpPr>
        <p:spPr>
          <a:xfrm>
            <a:off x="6812097" y="2048256"/>
            <a:ext cx="15819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background eligibility</a:t>
            </a:r>
            <a:endParaRPr/>
          </a:p>
        </p:txBody>
      </p:sp>
      <p:sp>
        <p:nvSpPr>
          <p:cNvPr id="612" name="Google Shape;612;g3f1228d0cd6_0_49"/>
          <p:cNvSpPr txBox="1"/>
          <p:nvPr/>
        </p:nvSpPr>
        <p:spPr>
          <a:xfrm>
            <a:off x="6812097" y="2276856"/>
            <a:ext cx="1581900" cy="23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engine_room · train</a:t>
            </a:r>
            <a:br>
              <a:rPr b="0" i="0" lang="en-US" sz="770" u="none" cap="none" strike="noStrike">
                <a:solidFill>
                  <a:srgbClr val="6D7786"/>
                </a:solidFill>
                <a:latin typeface="Noto Sans"/>
                <a:ea typeface="Noto Sans"/>
                <a:cs typeface="Noto Sans"/>
                <a:sym typeface="Noto Sans"/>
              </a:rPr>
            </a:br>
            <a:r>
              <a:rPr b="0" i="0" lang="en-US" sz="770" u="none" cap="none" strike="noStrike">
                <a:solidFill>
                  <a:srgbClr val="6D7786"/>
                </a:solidFill>
                <a:latin typeface="Noto Sans"/>
                <a:ea typeface="Noto Sans"/>
                <a:cs typeface="Noto Sans"/>
                <a:sym typeface="Noto Sans"/>
              </a:rPr>
              <a:t>good · no human</a:t>
            </a:r>
            <a:endParaRPr/>
          </a:p>
        </p:txBody>
      </p:sp>
      <p:sp>
        <p:nvSpPr>
          <p:cNvPr id="613" name="Google Shape;613;g3f1228d0cd6_0_49"/>
          <p:cNvSpPr/>
          <p:nvPr/>
        </p:nvSpPr>
        <p:spPr>
          <a:xfrm>
            <a:off x="8732287" y="1572768"/>
            <a:ext cx="1764900" cy="1024200"/>
          </a:xfrm>
          <a:prstGeom prst="roundRect">
            <a:avLst>
              <a:gd fmla="val 16667" name="adj"/>
            </a:avLst>
          </a:prstGeom>
          <a:solidFill>
            <a:srgbClr val="FCFDFF"/>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4" name="Google Shape;614;g3f1228d0cd6_0_49"/>
          <p:cNvSpPr txBox="1"/>
          <p:nvPr/>
        </p:nvSpPr>
        <p:spPr>
          <a:xfrm>
            <a:off x="8823725" y="1682495"/>
            <a:ext cx="1581900" cy="26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750" u="none" cap="none" strike="noStrike">
                <a:solidFill>
                  <a:srgbClr val="AF7E2D"/>
                </a:solidFill>
                <a:latin typeface="Noto Sans"/>
                <a:ea typeface="Noto Sans"/>
                <a:cs typeface="Noto Sans"/>
                <a:sym typeface="Noto Sans"/>
              </a:rPr>
              <a:t>170</a:t>
            </a:r>
            <a:endParaRPr/>
          </a:p>
        </p:txBody>
      </p:sp>
      <p:sp>
        <p:nvSpPr>
          <p:cNvPr id="615" name="Google Shape;615;g3f1228d0cd6_0_49"/>
          <p:cNvSpPr txBox="1"/>
          <p:nvPr/>
        </p:nvSpPr>
        <p:spPr>
          <a:xfrm>
            <a:off x="8823725" y="2048256"/>
            <a:ext cx="1581900" cy="130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A1F3A"/>
                </a:solidFill>
                <a:latin typeface="Noto Sans"/>
                <a:ea typeface="Noto Sans"/>
                <a:cs typeface="Noto Sans"/>
                <a:sym typeface="Noto Sans"/>
              </a:rPr>
              <a:t>synthetic v1 output</a:t>
            </a:r>
            <a:endParaRPr/>
          </a:p>
        </p:txBody>
      </p:sp>
      <p:sp>
        <p:nvSpPr>
          <p:cNvPr id="616" name="Google Shape;616;g3f1228d0cd6_0_49"/>
          <p:cNvSpPr txBox="1"/>
          <p:nvPr/>
        </p:nvSpPr>
        <p:spPr>
          <a:xfrm>
            <a:off x="8823725" y="2276856"/>
            <a:ext cx="1581900" cy="237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70" u="none" cap="none" strike="noStrike">
                <a:solidFill>
                  <a:srgbClr val="6D7786"/>
                </a:solidFill>
                <a:latin typeface="Noto Sans"/>
                <a:ea typeface="Noto Sans"/>
                <a:cs typeface="Noto Sans"/>
                <a:sym typeface="Noto Sans"/>
              </a:rPr>
              <a:t>85 fire / 85 smoke</a:t>
            </a:r>
            <a:br>
              <a:rPr b="0" i="0" lang="en-US" sz="770" u="none" cap="none" strike="noStrike">
                <a:solidFill>
                  <a:srgbClr val="6D7786"/>
                </a:solidFill>
                <a:latin typeface="Noto Sans"/>
                <a:ea typeface="Noto Sans"/>
                <a:cs typeface="Noto Sans"/>
                <a:sym typeface="Noto Sans"/>
              </a:rPr>
            </a:br>
            <a:r>
              <a:rPr b="0" i="0" lang="en-US" sz="770" u="none" cap="none" strike="noStrike">
                <a:solidFill>
                  <a:srgbClr val="6D7786"/>
                </a:solidFill>
                <a:latin typeface="Noto Sans"/>
                <a:ea typeface="Noto Sans"/>
                <a:cs typeface="Noto Sans"/>
                <a:sym typeface="Noto Sans"/>
              </a:rPr>
              <a:t>proxy positives</a:t>
            </a:r>
            <a:endParaRPr/>
          </a:p>
        </p:txBody>
      </p:sp>
      <p:sp>
        <p:nvSpPr>
          <p:cNvPr id="617" name="Google Shape;617;g3f1228d0cd6_0_49"/>
          <p:cNvSpPr/>
          <p:nvPr/>
        </p:nvSpPr>
        <p:spPr>
          <a:xfrm>
            <a:off x="594344" y="2999232"/>
            <a:ext cx="5303400" cy="2148900"/>
          </a:xfrm>
          <a:prstGeom prst="roundRect">
            <a:avLst>
              <a:gd fmla="val 16667" name="adj"/>
            </a:avLst>
          </a:prstGeom>
          <a:solidFill>
            <a:srgbClr val="FCFDFF"/>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8" name="Google Shape;618;g3f1228d0cd6_0_49"/>
          <p:cNvSpPr/>
          <p:nvPr/>
        </p:nvSpPr>
        <p:spPr>
          <a:xfrm>
            <a:off x="594344" y="2999232"/>
            <a:ext cx="50400" cy="2148900"/>
          </a:xfrm>
          <a:prstGeom prst="rect">
            <a:avLst/>
          </a:prstGeom>
          <a:solidFill>
            <a:srgbClr val="325C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9" name="Google Shape;619;g3f1228d0cd6_0_49"/>
          <p:cNvSpPr txBox="1"/>
          <p:nvPr/>
        </p:nvSpPr>
        <p:spPr>
          <a:xfrm>
            <a:off x="758932" y="3145536"/>
            <a:ext cx="49743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0A1F3A"/>
                </a:solidFill>
                <a:latin typeface="Noto Sans"/>
                <a:ea typeface="Noto Sans"/>
                <a:cs typeface="Noto Sans"/>
                <a:sym typeface="Noto Sans"/>
              </a:rPr>
              <a:t>259 usable non-fire frame 기준</a:t>
            </a:r>
            <a:endParaRPr/>
          </a:p>
        </p:txBody>
      </p:sp>
      <p:sp>
        <p:nvSpPr>
          <p:cNvPr id="620" name="Google Shape;620;g3f1228d0cd6_0_49"/>
          <p:cNvSpPr txBox="1"/>
          <p:nvPr/>
        </p:nvSpPr>
        <p:spPr>
          <a:xfrm>
            <a:off x="868657" y="3456432"/>
            <a:ext cx="4755000" cy="32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40" u="none" cap="none" strike="noStrike">
                <a:solidFill>
                  <a:srgbClr val="566273"/>
                </a:solidFill>
                <a:latin typeface="Noto Sans"/>
                <a:ea typeface="Noto Sans"/>
                <a:cs typeface="Noto Sans"/>
                <a:sym typeface="Noto Sans"/>
              </a:rPr>
              <a:t>포함: 실제 화재/연기 없음 · ship-like zone 식별 가능 · 품질 사용 가능 · background/validation/hard-negative 목적에 적합 · metadata 태깅 가능</a:t>
            </a:r>
            <a:endParaRPr/>
          </a:p>
        </p:txBody>
      </p:sp>
      <p:sp>
        <p:nvSpPr>
          <p:cNvPr id="621" name="Google Shape;621;g3f1228d0cd6_0_49"/>
          <p:cNvSpPr txBox="1"/>
          <p:nvPr/>
        </p:nvSpPr>
        <p:spPr>
          <a:xfrm>
            <a:off x="868657" y="4370832"/>
            <a:ext cx="4755000" cy="32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40" u="none" cap="none" strike="noStrike">
                <a:solidFill>
                  <a:srgbClr val="566273"/>
                </a:solidFill>
                <a:latin typeface="Noto Sans"/>
                <a:ea typeface="Noto Sans"/>
                <a:cs typeface="Noto Sans"/>
                <a:sym typeface="Noto Sans"/>
              </a:rPr>
              <a:t>제외: 단순 외부 원경/연구 목적 부적합 · 품질 문제 · zone 불명확 · 추적 불가 metadata</a:t>
            </a:r>
            <a:endParaRPr/>
          </a:p>
        </p:txBody>
      </p:sp>
      <p:sp>
        <p:nvSpPr>
          <p:cNvPr id="622" name="Google Shape;622;g3f1228d0cd6_0_49"/>
          <p:cNvSpPr/>
          <p:nvPr/>
        </p:nvSpPr>
        <p:spPr>
          <a:xfrm>
            <a:off x="914376" y="4800600"/>
            <a:ext cx="1005900" cy="246900"/>
          </a:xfrm>
          <a:prstGeom prst="roundRect">
            <a:avLst>
              <a:gd fmla="val 16667" name="adj"/>
            </a:avLst>
          </a:prstGeom>
          <a:solidFill>
            <a:srgbClr val="EDF4FB"/>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3" name="Google Shape;623;g3f1228d0cd6_0_49"/>
          <p:cNvSpPr txBox="1"/>
          <p:nvPr/>
        </p:nvSpPr>
        <p:spPr>
          <a:xfrm>
            <a:off x="950951" y="4850892"/>
            <a:ext cx="932700" cy="120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80" u="none" cap="none" strike="noStrike">
                <a:solidFill>
                  <a:srgbClr val="325C87"/>
                </a:solidFill>
                <a:latin typeface="Noto Sans"/>
                <a:ea typeface="Noto Sans"/>
                <a:cs typeface="Noto Sans"/>
                <a:sym typeface="Noto Sans"/>
              </a:rPr>
              <a:t>non-fire</a:t>
            </a:r>
            <a:endParaRPr/>
          </a:p>
        </p:txBody>
      </p:sp>
      <p:sp>
        <p:nvSpPr>
          <p:cNvPr id="624" name="Google Shape;624;g3f1228d0cd6_0_49"/>
          <p:cNvSpPr/>
          <p:nvPr/>
        </p:nvSpPr>
        <p:spPr>
          <a:xfrm>
            <a:off x="2011626" y="4800600"/>
            <a:ext cx="1097400" cy="246900"/>
          </a:xfrm>
          <a:prstGeom prst="roundRect">
            <a:avLst>
              <a:gd fmla="val 16667" name="adj"/>
            </a:avLst>
          </a:prstGeom>
          <a:solidFill>
            <a:srgbClr val="EDF4FB"/>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5" name="Google Shape;625;g3f1228d0cd6_0_49"/>
          <p:cNvSpPr txBox="1"/>
          <p:nvPr/>
        </p:nvSpPr>
        <p:spPr>
          <a:xfrm>
            <a:off x="2048201" y="4850892"/>
            <a:ext cx="1024200" cy="120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80" u="none" cap="none" strike="noStrike">
                <a:solidFill>
                  <a:srgbClr val="325C87"/>
                </a:solidFill>
                <a:latin typeface="Noto Sans"/>
                <a:ea typeface="Noto Sans"/>
                <a:cs typeface="Noto Sans"/>
                <a:sym typeface="Noto Sans"/>
              </a:rPr>
              <a:t>zone tagged</a:t>
            </a:r>
            <a:endParaRPr/>
          </a:p>
        </p:txBody>
      </p:sp>
      <p:sp>
        <p:nvSpPr>
          <p:cNvPr id="626" name="Google Shape;626;g3f1228d0cd6_0_49"/>
          <p:cNvSpPr/>
          <p:nvPr/>
        </p:nvSpPr>
        <p:spPr>
          <a:xfrm>
            <a:off x="3218602" y="4800600"/>
            <a:ext cx="1005900" cy="246900"/>
          </a:xfrm>
          <a:prstGeom prst="roundRect">
            <a:avLst>
              <a:gd fmla="val 16667" name="adj"/>
            </a:avLst>
          </a:prstGeom>
          <a:solidFill>
            <a:srgbClr val="EDF4FB"/>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7" name="Google Shape;627;g3f1228d0cd6_0_49"/>
          <p:cNvSpPr txBox="1"/>
          <p:nvPr/>
        </p:nvSpPr>
        <p:spPr>
          <a:xfrm>
            <a:off x="3255177" y="4850892"/>
            <a:ext cx="932700" cy="120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80" u="none" cap="none" strike="noStrike">
                <a:solidFill>
                  <a:srgbClr val="325C87"/>
                </a:solidFill>
                <a:latin typeface="Noto Sans"/>
                <a:ea typeface="Noto Sans"/>
                <a:cs typeface="Noto Sans"/>
                <a:sym typeface="Noto Sans"/>
              </a:rPr>
              <a:t>usable quality</a:t>
            </a:r>
            <a:endParaRPr/>
          </a:p>
        </p:txBody>
      </p:sp>
      <p:sp>
        <p:nvSpPr>
          <p:cNvPr id="628" name="Google Shape;628;g3f1228d0cd6_0_49"/>
          <p:cNvSpPr/>
          <p:nvPr/>
        </p:nvSpPr>
        <p:spPr>
          <a:xfrm>
            <a:off x="4324997" y="4800600"/>
            <a:ext cx="960000" cy="246900"/>
          </a:xfrm>
          <a:prstGeom prst="roundRect">
            <a:avLst>
              <a:gd fmla="val 16667" name="adj"/>
            </a:avLst>
          </a:prstGeom>
          <a:solidFill>
            <a:srgbClr val="EDF4FB"/>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9" name="Google Shape;629;g3f1228d0cd6_0_49"/>
          <p:cNvSpPr txBox="1"/>
          <p:nvPr/>
        </p:nvSpPr>
        <p:spPr>
          <a:xfrm>
            <a:off x="4361572" y="4850892"/>
            <a:ext cx="887100" cy="120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80" u="none" cap="none" strike="noStrike">
                <a:solidFill>
                  <a:srgbClr val="325C87"/>
                </a:solidFill>
                <a:latin typeface="Noto Sans"/>
                <a:ea typeface="Noto Sans"/>
                <a:cs typeface="Noto Sans"/>
                <a:sym typeface="Noto Sans"/>
              </a:rPr>
              <a:t>metadata</a:t>
            </a:r>
            <a:endParaRPr/>
          </a:p>
        </p:txBody>
      </p:sp>
      <p:sp>
        <p:nvSpPr>
          <p:cNvPr id="630" name="Google Shape;630;g3f1228d0cd6_0_49"/>
          <p:cNvSpPr/>
          <p:nvPr/>
        </p:nvSpPr>
        <p:spPr>
          <a:xfrm>
            <a:off x="6263473" y="2999232"/>
            <a:ext cx="5349300" cy="2148900"/>
          </a:xfrm>
          <a:prstGeom prst="roundRect">
            <a:avLst>
              <a:gd fmla="val 16667" name="adj"/>
            </a:avLst>
          </a:prstGeom>
          <a:solidFill>
            <a:srgbClr val="FCFDFF"/>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1" name="Google Shape;631;g3f1228d0cd6_0_49"/>
          <p:cNvSpPr/>
          <p:nvPr/>
        </p:nvSpPr>
        <p:spPr>
          <a:xfrm>
            <a:off x="6263473" y="2999232"/>
            <a:ext cx="50400" cy="2148900"/>
          </a:xfrm>
          <a:prstGeom prst="rect">
            <a:avLst/>
          </a:prstGeom>
          <a:solidFill>
            <a:srgbClr val="AF7E2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2" name="Google Shape;632;g3f1228d0cd6_0_49"/>
          <p:cNvSpPr txBox="1"/>
          <p:nvPr/>
        </p:nvSpPr>
        <p:spPr>
          <a:xfrm>
            <a:off x="6428060" y="3145536"/>
            <a:ext cx="50202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0A1F3A"/>
                </a:solidFill>
                <a:latin typeface="Noto Sans"/>
                <a:ea typeface="Noto Sans"/>
                <a:cs typeface="Noto Sans"/>
                <a:sym typeface="Noto Sans"/>
              </a:rPr>
              <a:t>synthetic v1 background 조건 + PASS 의미</a:t>
            </a:r>
            <a:endParaRPr/>
          </a:p>
        </p:txBody>
      </p:sp>
      <p:sp>
        <p:nvSpPr>
          <p:cNvPr id="633" name="Google Shape;633;g3f1228d0cd6_0_49"/>
          <p:cNvSpPr txBox="1"/>
          <p:nvPr/>
        </p:nvSpPr>
        <p:spPr>
          <a:xfrm>
            <a:off x="6537786" y="3438144"/>
            <a:ext cx="4736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566273"/>
                </a:solidFill>
                <a:latin typeface="Noto Sans"/>
                <a:ea typeface="Noto Sans"/>
                <a:cs typeface="Noto Sans"/>
                <a:sym typeface="Noto Sans"/>
              </a:rPr>
              <a:t>조건: SHIP_DVIDS_001 · engine_room · use_purpose=synth_background · split=train · quality_flag=good · with_human 없음</a:t>
            </a:r>
            <a:endParaRPr/>
          </a:p>
        </p:txBody>
      </p:sp>
      <p:sp>
        <p:nvSpPr>
          <p:cNvPr id="634" name="Google Shape;634;g3f1228d0cd6_0_49"/>
          <p:cNvSpPr txBox="1"/>
          <p:nvPr/>
        </p:nvSpPr>
        <p:spPr>
          <a:xfrm>
            <a:off x="6537786" y="4206240"/>
            <a:ext cx="4736700" cy="30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90" u="none" cap="none" strike="noStrike">
                <a:solidFill>
                  <a:srgbClr val="566273"/>
                </a:solidFill>
                <a:latin typeface="Noto Sans"/>
                <a:ea typeface="Noto Sans"/>
                <a:cs typeface="Noto Sans"/>
                <a:sym typeface="Noto Sans"/>
              </a:rPr>
              <a:t>PASS: sample count, class, donor source, split/purpose, file–label pair, YOLO box coordinate, human-exclusion metadata가 서로 일치</a:t>
            </a:r>
            <a:endParaRPr/>
          </a:p>
        </p:txBody>
      </p:sp>
      <p:sp>
        <p:nvSpPr>
          <p:cNvPr id="635" name="Google Shape;635;g3f1228d0cd6_0_49"/>
          <p:cNvSpPr txBox="1"/>
          <p:nvPr/>
        </p:nvSpPr>
        <p:spPr>
          <a:xfrm>
            <a:off x="6537786" y="4828032"/>
            <a:ext cx="4736700" cy="156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19" u="none" cap="none" strike="noStrike">
                <a:solidFill>
                  <a:srgbClr val="AF7E2D"/>
                </a:solidFill>
                <a:latin typeface="Noto Sans"/>
                <a:ea typeface="Noto Sans"/>
                <a:cs typeface="Noto Sans"/>
                <a:sym typeface="Noto Sans"/>
              </a:rPr>
              <a:t>주의: PASS ≠ photorealism 검증 / 실함 운용 성능 검증</a:t>
            </a:r>
            <a:endParaRPr/>
          </a:p>
        </p:txBody>
      </p:sp>
      <p:sp>
        <p:nvSpPr>
          <p:cNvPr id="636" name="Google Shape;636;g3f1228d0cd6_0_49"/>
          <p:cNvSpPr/>
          <p:nvPr/>
        </p:nvSpPr>
        <p:spPr>
          <a:xfrm>
            <a:off x="658350" y="5742432"/>
            <a:ext cx="10899300" cy="420600"/>
          </a:xfrm>
          <a:prstGeom prst="roundRect">
            <a:avLst>
              <a:gd fmla="val 16667" name="adj"/>
            </a:avLst>
          </a:prstGeom>
          <a:solidFill>
            <a:srgbClr val="F9F4E8"/>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US" sz="1019" u="none" cap="none" strike="noStrike">
                <a:solidFill>
                  <a:srgbClr val="0A1F3A"/>
                </a:solidFill>
                <a:latin typeface="Noto Sans"/>
                <a:ea typeface="Noto Sans"/>
                <a:cs typeface="Noto Sans"/>
                <a:sym typeface="Noto Sans"/>
              </a:rPr>
              <a:t>발표 시 핵심: “data integrity QC는 통과했지만, 실제성·물리 정합성·deployment 성능을 검증한 것은 아닙니다.”</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41" name="Shape 641"/>
        <p:cNvGrpSpPr/>
        <p:nvPr/>
      </p:nvGrpSpPr>
      <p:grpSpPr>
        <a:xfrm>
          <a:off x="0" y="0"/>
          <a:ext cx="0" cy="0"/>
          <a:chOff x="0" y="0"/>
          <a:chExt cx="0" cy="0"/>
        </a:xfrm>
      </p:grpSpPr>
      <p:sp>
        <p:nvSpPr>
          <p:cNvPr id="642" name="Google Shape;642;g3f1228d0cd6_0_105"/>
          <p:cNvSpPr txBox="1"/>
          <p:nvPr/>
        </p:nvSpPr>
        <p:spPr>
          <a:xfrm>
            <a:off x="512050" y="164592"/>
            <a:ext cx="4755000" cy="130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50" u="none" cap="none" strike="noStrike">
                <a:solidFill>
                  <a:srgbClr val="325C87"/>
                </a:solidFill>
                <a:latin typeface="Noto Sans"/>
                <a:ea typeface="Noto Sans"/>
                <a:cs typeface="Noto Sans"/>
                <a:sym typeface="Noto Sans"/>
              </a:rPr>
              <a:t>Appendix / Synthetic proxy interpretation</a:t>
            </a:r>
            <a:endParaRPr/>
          </a:p>
        </p:txBody>
      </p:sp>
      <p:sp>
        <p:nvSpPr>
          <p:cNvPr id="643" name="Google Shape;643;g3f1228d0cd6_0_105"/>
          <p:cNvSpPr txBox="1"/>
          <p:nvPr/>
        </p:nvSpPr>
        <p:spPr>
          <a:xfrm>
            <a:off x="512050" y="475488"/>
            <a:ext cx="10012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A1F3A"/>
                </a:solidFill>
                <a:latin typeface="Noto Sans"/>
                <a:ea typeface="Noto Sans"/>
                <a:cs typeface="Noto Sans"/>
                <a:sym typeface="Noto Sans"/>
              </a:rPr>
              <a:t>A3. 저품질 synthetic v1은 어디까지 유의미한가?</a:t>
            </a:r>
            <a:endParaRPr/>
          </a:p>
        </p:txBody>
      </p:sp>
      <p:sp>
        <p:nvSpPr>
          <p:cNvPr id="644" name="Google Shape;644;g3f1228d0cd6_0_105"/>
          <p:cNvSpPr txBox="1"/>
          <p:nvPr/>
        </p:nvSpPr>
        <p:spPr>
          <a:xfrm>
            <a:off x="11265108" y="393192"/>
            <a:ext cx="411600" cy="123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00" u="none" cap="none" strike="noStrike">
                <a:solidFill>
                  <a:srgbClr val="566273"/>
                </a:solidFill>
                <a:latin typeface="Noto Sans"/>
                <a:ea typeface="Noto Sans"/>
                <a:cs typeface="Noto Sans"/>
                <a:sym typeface="Noto Sans"/>
              </a:rPr>
              <a:t>17</a:t>
            </a:r>
            <a:endParaRPr/>
          </a:p>
        </p:txBody>
      </p:sp>
      <p:sp>
        <p:nvSpPr>
          <p:cNvPr id="645" name="Google Shape;645;g3f1228d0cd6_0_105"/>
          <p:cNvSpPr/>
          <p:nvPr/>
        </p:nvSpPr>
        <p:spPr>
          <a:xfrm>
            <a:off x="512050" y="97840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6" name="Google Shape;646;g3f1228d0cd6_0_105"/>
          <p:cNvSpPr/>
          <p:nvPr/>
        </p:nvSpPr>
        <p:spPr>
          <a:xfrm>
            <a:off x="512050" y="641908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7" name="Google Shape;647;g3f1228d0cd6_0_105"/>
          <p:cNvSpPr txBox="1"/>
          <p:nvPr/>
        </p:nvSpPr>
        <p:spPr>
          <a:xfrm>
            <a:off x="512050" y="6510528"/>
            <a:ext cx="7772100" cy="11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해군 함정기술 무기체계 세미나 · 인공지능 적용 기반 함정 손상통제</a:t>
            </a:r>
            <a:endParaRPr/>
          </a:p>
        </p:txBody>
      </p:sp>
      <p:sp>
        <p:nvSpPr>
          <p:cNvPr id="648" name="Google Shape;648;g3f1228d0cd6_0_105"/>
          <p:cNvSpPr txBox="1"/>
          <p:nvPr/>
        </p:nvSpPr>
        <p:spPr>
          <a:xfrm>
            <a:off x="8430543" y="6510528"/>
            <a:ext cx="3246000" cy="110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Public-data-only ship-like proxy prototype · 17</a:t>
            </a:r>
            <a:endParaRPr/>
          </a:p>
        </p:txBody>
      </p:sp>
      <p:sp>
        <p:nvSpPr>
          <p:cNvPr id="649" name="Google Shape;649;g3f1228d0cd6_0_105"/>
          <p:cNvSpPr/>
          <p:nvPr/>
        </p:nvSpPr>
        <p:spPr>
          <a:xfrm>
            <a:off x="512050" y="1069848"/>
            <a:ext cx="11164500" cy="3840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US" sz="1420" u="none" cap="none" strike="noStrike">
                <a:solidFill>
                  <a:srgbClr val="0A1F3A"/>
                </a:solidFill>
                <a:latin typeface="Noto Sans"/>
                <a:ea typeface="Noto Sans"/>
                <a:cs typeface="Noto Sans"/>
                <a:sym typeface="Noto Sans"/>
              </a:rPr>
              <a:t>synthetic v1의 가치는 “사실성 입증”이 아니라, 공개자료 조건에서 positive signal을 주입하고 pipeline failure를 관찰하는 데 있습니다.</a:t>
            </a:r>
            <a:endParaRPr/>
          </a:p>
        </p:txBody>
      </p:sp>
      <p:sp>
        <p:nvSpPr>
          <p:cNvPr id="650" name="Google Shape;650;g3f1228d0cd6_0_105"/>
          <p:cNvSpPr/>
          <p:nvPr/>
        </p:nvSpPr>
        <p:spPr>
          <a:xfrm>
            <a:off x="594344" y="1664208"/>
            <a:ext cx="5212200" cy="3246000"/>
          </a:xfrm>
          <a:prstGeom prst="roundRect">
            <a:avLst>
              <a:gd fmla="val 16667" name="adj"/>
            </a:avLst>
          </a:prstGeom>
          <a:solidFill>
            <a:srgbClr val="EFF6F3"/>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1" name="Google Shape;651;g3f1228d0cd6_0_105"/>
          <p:cNvSpPr/>
          <p:nvPr/>
        </p:nvSpPr>
        <p:spPr>
          <a:xfrm>
            <a:off x="594344" y="1664208"/>
            <a:ext cx="50400" cy="3246000"/>
          </a:xfrm>
          <a:prstGeom prst="rect">
            <a:avLst/>
          </a:prstGeom>
          <a:solidFill>
            <a:srgbClr val="48735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2" name="Google Shape;652;g3f1228d0cd6_0_105"/>
          <p:cNvSpPr txBox="1"/>
          <p:nvPr/>
        </p:nvSpPr>
        <p:spPr>
          <a:xfrm>
            <a:off x="758932" y="1810512"/>
            <a:ext cx="48828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0A1F3A"/>
                </a:solidFill>
                <a:latin typeface="Noto Sans"/>
                <a:ea typeface="Noto Sans"/>
                <a:cs typeface="Noto Sans"/>
                <a:sym typeface="Noto Sans"/>
              </a:rPr>
              <a:t>검증 가능한 것 — utility for prototype</a:t>
            </a:r>
            <a:endParaRPr/>
          </a:p>
        </p:txBody>
      </p:sp>
      <p:sp>
        <p:nvSpPr>
          <p:cNvPr id="653" name="Google Shape;653;g3f1228d0cd6_0_105"/>
          <p:cNvSpPr/>
          <p:nvPr/>
        </p:nvSpPr>
        <p:spPr>
          <a:xfrm>
            <a:off x="868657" y="2167128"/>
            <a:ext cx="228600" cy="228600"/>
          </a:xfrm>
          <a:prstGeom prst="roundRect">
            <a:avLst>
              <a:gd fmla="val 16667" name="adj"/>
            </a:avLst>
          </a:prstGeom>
          <a:solidFill>
            <a:srgbClr val="48735F"/>
          </a:solidFill>
          <a:ln cap="flat" cmpd="sng" w="9525">
            <a:solidFill>
              <a:srgbClr val="48735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1</a:t>
            </a:r>
            <a:endParaRPr/>
          </a:p>
        </p:txBody>
      </p:sp>
      <p:sp>
        <p:nvSpPr>
          <p:cNvPr id="654" name="Google Shape;654;g3f1228d0cd6_0_105"/>
          <p:cNvSpPr txBox="1"/>
          <p:nvPr/>
        </p:nvSpPr>
        <p:spPr>
          <a:xfrm>
            <a:off x="1188688" y="2148840"/>
            <a:ext cx="43434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positive cue injection</a:t>
            </a:r>
            <a:endParaRPr/>
          </a:p>
        </p:txBody>
      </p:sp>
      <p:sp>
        <p:nvSpPr>
          <p:cNvPr id="655" name="Google Shape;655;g3f1228d0cd6_0_105"/>
          <p:cNvSpPr txBox="1"/>
          <p:nvPr/>
        </p:nvSpPr>
        <p:spPr>
          <a:xfrm>
            <a:off x="1188688" y="2368296"/>
            <a:ext cx="43434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실제 positive label이 없을 때 detector 입력 신호를 최소 구성</a:t>
            </a:r>
            <a:endParaRPr/>
          </a:p>
        </p:txBody>
      </p:sp>
      <p:sp>
        <p:nvSpPr>
          <p:cNvPr id="656" name="Google Shape;656;g3f1228d0cd6_0_105"/>
          <p:cNvSpPr/>
          <p:nvPr/>
        </p:nvSpPr>
        <p:spPr>
          <a:xfrm>
            <a:off x="868657" y="2788920"/>
            <a:ext cx="228600" cy="228600"/>
          </a:xfrm>
          <a:prstGeom prst="roundRect">
            <a:avLst>
              <a:gd fmla="val 16667" name="adj"/>
            </a:avLst>
          </a:prstGeom>
          <a:solidFill>
            <a:srgbClr val="48735F"/>
          </a:solidFill>
          <a:ln cap="flat" cmpd="sng" w="9525">
            <a:solidFill>
              <a:srgbClr val="48735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2</a:t>
            </a:r>
            <a:endParaRPr/>
          </a:p>
        </p:txBody>
      </p:sp>
      <p:sp>
        <p:nvSpPr>
          <p:cNvPr id="657" name="Google Shape;657;g3f1228d0cd6_0_105"/>
          <p:cNvSpPr txBox="1"/>
          <p:nvPr/>
        </p:nvSpPr>
        <p:spPr>
          <a:xfrm>
            <a:off x="1188688" y="2770632"/>
            <a:ext cx="43434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end-to-end path test</a:t>
            </a:r>
            <a:endParaRPr/>
          </a:p>
        </p:txBody>
      </p:sp>
      <p:sp>
        <p:nvSpPr>
          <p:cNvPr id="658" name="Google Shape;658;g3f1228d0cd6_0_105"/>
          <p:cNvSpPr txBox="1"/>
          <p:nvPr/>
        </p:nvSpPr>
        <p:spPr>
          <a:xfrm>
            <a:off x="1188688" y="2990088"/>
            <a:ext cx="43434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detector → temporal verifier → alarm/evidence 경로 점검</a:t>
            </a:r>
            <a:endParaRPr/>
          </a:p>
        </p:txBody>
      </p:sp>
      <p:sp>
        <p:nvSpPr>
          <p:cNvPr id="659" name="Google Shape;659;g3f1228d0cd6_0_105"/>
          <p:cNvSpPr/>
          <p:nvPr/>
        </p:nvSpPr>
        <p:spPr>
          <a:xfrm>
            <a:off x="868657" y="3410712"/>
            <a:ext cx="228600" cy="228600"/>
          </a:xfrm>
          <a:prstGeom prst="roundRect">
            <a:avLst>
              <a:gd fmla="val 16667" name="adj"/>
            </a:avLst>
          </a:prstGeom>
          <a:solidFill>
            <a:srgbClr val="48735F"/>
          </a:solidFill>
          <a:ln cap="flat" cmpd="sng" w="9525">
            <a:solidFill>
              <a:srgbClr val="48735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3</a:t>
            </a:r>
            <a:endParaRPr/>
          </a:p>
        </p:txBody>
      </p:sp>
      <p:sp>
        <p:nvSpPr>
          <p:cNvPr id="660" name="Google Shape;660;g3f1228d0cd6_0_105"/>
          <p:cNvSpPr txBox="1"/>
          <p:nvPr/>
        </p:nvSpPr>
        <p:spPr>
          <a:xfrm>
            <a:off x="1188688" y="3392424"/>
            <a:ext cx="43434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metadata-driven reproducibility</a:t>
            </a:r>
            <a:endParaRPr/>
          </a:p>
        </p:txBody>
      </p:sp>
      <p:sp>
        <p:nvSpPr>
          <p:cNvPr id="661" name="Google Shape;661;g3f1228d0cd6_0_105"/>
          <p:cNvSpPr txBox="1"/>
          <p:nvPr/>
        </p:nvSpPr>
        <p:spPr>
          <a:xfrm>
            <a:off x="1188688" y="3611880"/>
            <a:ext cx="43434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source, class, split, background 조건을 추적 가능</a:t>
            </a:r>
            <a:endParaRPr/>
          </a:p>
        </p:txBody>
      </p:sp>
      <p:sp>
        <p:nvSpPr>
          <p:cNvPr id="662" name="Google Shape;662;g3f1228d0cd6_0_105"/>
          <p:cNvSpPr/>
          <p:nvPr/>
        </p:nvSpPr>
        <p:spPr>
          <a:xfrm>
            <a:off x="868657" y="4032504"/>
            <a:ext cx="228600" cy="228600"/>
          </a:xfrm>
          <a:prstGeom prst="roundRect">
            <a:avLst>
              <a:gd fmla="val 16667" name="adj"/>
            </a:avLst>
          </a:prstGeom>
          <a:solidFill>
            <a:srgbClr val="48735F"/>
          </a:solidFill>
          <a:ln cap="flat" cmpd="sng" w="9525">
            <a:solidFill>
              <a:srgbClr val="48735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4</a:t>
            </a:r>
            <a:endParaRPr/>
          </a:p>
        </p:txBody>
      </p:sp>
      <p:sp>
        <p:nvSpPr>
          <p:cNvPr id="663" name="Google Shape;663;g3f1228d0cd6_0_105"/>
          <p:cNvSpPr txBox="1"/>
          <p:nvPr/>
        </p:nvSpPr>
        <p:spPr>
          <a:xfrm>
            <a:off x="1188688" y="4014216"/>
            <a:ext cx="43434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failure exposure</a:t>
            </a:r>
            <a:endParaRPr/>
          </a:p>
        </p:txBody>
      </p:sp>
      <p:sp>
        <p:nvSpPr>
          <p:cNvPr id="664" name="Google Shape;664;g3f1228d0cd6_0_105"/>
          <p:cNvSpPr txBox="1"/>
          <p:nvPr/>
        </p:nvSpPr>
        <p:spPr>
          <a:xfrm>
            <a:off x="1188688" y="4233672"/>
            <a:ext cx="43434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smoke hit-rate 저하와 confuser 오탐 문제를 조기에 노출</a:t>
            </a:r>
            <a:endParaRPr/>
          </a:p>
        </p:txBody>
      </p:sp>
      <p:sp>
        <p:nvSpPr>
          <p:cNvPr id="665" name="Google Shape;665;g3f1228d0cd6_0_105"/>
          <p:cNvSpPr/>
          <p:nvPr/>
        </p:nvSpPr>
        <p:spPr>
          <a:xfrm>
            <a:off x="6263473" y="1664208"/>
            <a:ext cx="5349300" cy="3246000"/>
          </a:xfrm>
          <a:prstGeom prst="roundRect">
            <a:avLst>
              <a:gd fmla="val 16667" name="adj"/>
            </a:avLst>
          </a:prstGeom>
          <a:solidFill>
            <a:srgbClr val="F8EEEE"/>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6" name="Google Shape;666;g3f1228d0cd6_0_105"/>
          <p:cNvSpPr/>
          <p:nvPr/>
        </p:nvSpPr>
        <p:spPr>
          <a:xfrm>
            <a:off x="6263473" y="1664208"/>
            <a:ext cx="50400" cy="3246000"/>
          </a:xfrm>
          <a:prstGeom prst="rect">
            <a:avLst/>
          </a:prstGeom>
          <a:solidFill>
            <a:srgbClr val="A04B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7" name="Google Shape;667;g3f1228d0cd6_0_105"/>
          <p:cNvSpPr txBox="1"/>
          <p:nvPr/>
        </p:nvSpPr>
        <p:spPr>
          <a:xfrm>
            <a:off x="6428060" y="1810512"/>
            <a:ext cx="5020200" cy="192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50" u="none" cap="none" strike="noStrike">
                <a:solidFill>
                  <a:srgbClr val="0A1F3A"/>
                </a:solidFill>
                <a:latin typeface="Noto Sans"/>
                <a:ea typeface="Noto Sans"/>
                <a:cs typeface="Noto Sans"/>
                <a:sym typeface="Noto Sans"/>
              </a:rPr>
              <a:t>검증할 수 없는 것 — claim boundary</a:t>
            </a:r>
            <a:endParaRPr/>
          </a:p>
        </p:txBody>
      </p:sp>
      <p:sp>
        <p:nvSpPr>
          <p:cNvPr id="668" name="Google Shape;668;g3f1228d0cd6_0_105"/>
          <p:cNvSpPr/>
          <p:nvPr/>
        </p:nvSpPr>
        <p:spPr>
          <a:xfrm>
            <a:off x="6537786" y="2167128"/>
            <a:ext cx="228600" cy="228600"/>
          </a:xfrm>
          <a:prstGeom prst="roundRect">
            <a:avLst>
              <a:gd fmla="val 16667" name="adj"/>
            </a:avLst>
          </a:prstGeom>
          <a:solidFill>
            <a:srgbClr val="A04B4B"/>
          </a:solidFill>
          <a:ln cap="flat" cmpd="sng" w="9525">
            <a:solidFill>
              <a:srgbClr val="A04B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a:t>
            </a:r>
            <a:endParaRPr/>
          </a:p>
        </p:txBody>
      </p:sp>
      <p:sp>
        <p:nvSpPr>
          <p:cNvPr id="669" name="Google Shape;669;g3f1228d0cd6_0_105"/>
          <p:cNvSpPr txBox="1"/>
          <p:nvPr/>
        </p:nvSpPr>
        <p:spPr>
          <a:xfrm>
            <a:off x="6857817" y="2148840"/>
            <a:ext cx="44349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실제 함정 화재 positive label</a:t>
            </a:r>
            <a:endParaRPr/>
          </a:p>
        </p:txBody>
      </p:sp>
      <p:sp>
        <p:nvSpPr>
          <p:cNvPr id="670" name="Google Shape;670;g3f1228d0cd6_0_105"/>
          <p:cNvSpPr txBox="1"/>
          <p:nvPr/>
        </p:nvSpPr>
        <p:spPr>
          <a:xfrm>
            <a:off x="6857817" y="2368296"/>
            <a:ext cx="44349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synthetic v1은 실제 label이 아니라 proxy</a:t>
            </a:r>
            <a:endParaRPr/>
          </a:p>
        </p:txBody>
      </p:sp>
      <p:sp>
        <p:nvSpPr>
          <p:cNvPr id="671" name="Google Shape;671;g3f1228d0cd6_0_105"/>
          <p:cNvSpPr/>
          <p:nvPr/>
        </p:nvSpPr>
        <p:spPr>
          <a:xfrm>
            <a:off x="6537786" y="2788920"/>
            <a:ext cx="228600" cy="228600"/>
          </a:xfrm>
          <a:prstGeom prst="roundRect">
            <a:avLst>
              <a:gd fmla="val 16667" name="adj"/>
            </a:avLst>
          </a:prstGeom>
          <a:solidFill>
            <a:srgbClr val="A04B4B"/>
          </a:solidFill>
          <a:ln cap="flat" cmpd="sng" w="9525">
            <a:solidFill>
              <a:srgbClr val="A04B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a:t>
            </a:r>
            <a:endParaRPr/>
          </a:p>
        </p:txBody>
      </p:sp>
      <p:sp>
        <p:nvSpPr>
          <p:cNvPr id="672" name="Google Shape;672;g3f1228d0cd6_0_105"/>
          <p:cNvSpPr txBox="1"/>
          <p:nvPr/>
        </p:nvSpPr>
        <p:spPr>
          <a:xfrm>
            <a:off x="6857817" y="2770632"/>
            <a:ext cx="44349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물리적 화재·연기 확산</a:t>
            </a:r>
            <a:endParaRPr/>
          </a:p>
        </p:txBody>
      </p:sp>
      <p:sp>
        <p:nvSpPr>
          <p:cNvPr id="673" name="Google Shape;673;g3f1228d0cd6_0_105"/>
          <p:cNvSpPr txBox="1"/>
          <p:nvPr/>
        </p:nvSpPr>
        <p:spPr>
          <a:xfrm>
            <a:off x="6857817" y="2990088"/>
            <a:ext cx="44349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2D crop overlay로 조명/연기/열역학 상호작용 미반영</a:t>
            </a:r>
            <a:endParaRPr/>
          </a:p>
        </p:txBody>
      </p:sp>
      <p:sp>
        <p:nvSpPr>
          <p:cNvPr id="674" name="Google Shape;674;g3f1228d0cd6_0_105"/>
          <p:cNvSpPr/>
          <p:nvPr/>
        </p:nvSpPr>
        <p:spPr>
          <a:xfrm>
            <a:off x="6537786" y="3410712"/>
            <a:ext cx="228600" cy="228600"/>
          </a:xfrm>
          <a:prstGeom prst="roundRect">
            <a:avLst>
              <a:gd fmla="val 16667" name="adj"/>
            </a:avLst>
          </a:prstGeom>
          <a:solidFill>
            <a:srgbClr val="A04B4B"/>
          </a:solidFill>
          <a:ln cap="flat" cmpd="sng" w="9525">
            <a:solidFill>
              <a:srgbClr val="A04B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a:t>
            </a:r>
            <a:endParaRPr/>
          </a:p>
        </p:txBody>
      </p:sp>
      <p:sp>
        <p:nvSpPr>
          <p:cNvPr id="675" name="Google Shape;675;g3f1228d0cd6_0_105"/>
          <p:cNvSpPr txBox="1"/>
          <p:nvPr/>
        </p:nvSpPr>
        <p:spPr>
          <a:xfrm>
            <a:off x="6857817" y="3392424"/>
            <a:ext cx="44349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실제 CCTV 운용 품질</a:t>
            </a:r>
            <a:endParaRPr/>
          </a:p>
        </p:txBody>
      </p:sp>
      <p:sp>
        <p:nvSpPr>
          <p:cNvPr id="676" name="Google Shape;676;g3f1228d0cd6_0_105"/>
          <p:cNvSpPr txBox="1"/>
          <p:nvPr/>
        </p:nvSpPr>
        <p:spPr>
          <a:xfrm>
            <a:off x="6857817" y="3611880"/>
            <a:ext cx="44349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압축, 고정 카메라, 조도 변화, 장시간 drift 미검증</a:t>
            </a:r>
            <a:endParaRPr/>
          </a:p>
        </p:txBody>
      </p:sp>
      <p:sp>
        <p:nvSpPr>
          <p:cNvPr id="677" name="Google Shape;677;g3f1228d0cd6_0_105"/>
          <p:cNvSpPr/>
          <p:nvPr/>
        </p:nvSpPr>
        <p:spPr>
          <a:xfrm>
            <a:off x="6537786" y="4032504"/>
            <a:ext cx="228600" cy="228600"/>
          </a:xfrm>
          <a:prstGeom prst="roundRect">
            <a:avLst>
              <a:gd fmla="val 16667" name="adj"/>
            </a:avLst>
          </a:prstGeom>
          <a:solidFill>
            <a:srgbClr val="A04B4B"/>
          </a:solidFill>
          <a:ln cap="flat" cmpd="sng" w="9525">
            <a:solidFill>
              <a:srgbClr val="A04B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850" u="none" cap="none" strike="noStrike">
                <a:solidFill>
                  <a:srgbClr val="FFFFFF"/>
                </a:solidFill>
                <a:latin typeface="Noto Sans"/>
                <a:ea typeface="Noto Sans"/>
                <a:cs typeface="Noto Sans"/>
                <a:sym typeface="Noto Sans"/>
              </a:rPr>
              <a:t>×</a:t>
            </a:r>
            <a:endParaRPr/>
          </a:p>
        </p:txBody>
      </p:sp>
      <p:sp>
        <p:nvSpPr>
          <p:cNvPr id="678" name="Google Shape;678;g3f1228d0cd6_0_105"/>
          <p:cNvSpPr txBox="1"/>
          <p:nvPr/>
        </p:nvSpPr>
        <p:spPr>
          <a:xfrm>
            <a:off x="6857817" y="4014216"/>
            <a:ext cx="4434900" cy="14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69" u="none" cap="none" strike="noStrike">
                <a:solidFill>
                  <a:srgbClr val="0A1F3A"/>
                </a:solidFill>
                <a:latin typeface="Noto Sans"/>
                <a:ea typeface="Noto Sans"/>
                <a:cs typeface="Noto Sans"/>
                <a:sym typeface="Noto Sans"/>
              </a:rPr>
              <a:t>deployment-ready 성능</a:t>
            </a:r>
            <a:endParaRPr/>
          </a:p>
        </p:txBody>
      </p:sp>
      <p:sp>
        <p:nvSpPr>
          <p:cNvPr id="679" name="Google Shape;679;g3f1228d0cd6_0_105"/>
          <p:cNvSpPr txBox="1"/>
          <p:nvPr/>
        </p:nvSpPr>
        <p:spPr>
          <a:xfrm>
            <a:off x="6857817" y="4233672"/>
            <a:ext cx="4434900" cy="13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80" u="none" cap="none" strike="noStrike">
                <a:solidFill>
                  <a:srgbClr val="566273"/>
                </a:solidFill>
                <a:latin typeface="Noto Sans"/>
                <a:ea typeface="Noto Sans"/>
                <a:cs typeface="Noto Sans"/>
                <a:sym typeface="Noto Sans"/>
              </a:rPr>
              <a:t>hit-rate는 accuracy나 인증 수준 지표가 아님</a:t>
            </a:r>
            <a:endParaRPr/>
          </a:p>
        </p:txBody>
      </p:sp>
      <p:sp>
        <p:nvSpPr>
          <p:cNvPr id="680" name="Google Shape;680;g3f1228d0cd6_0_105"/>
          <p:cNvSpPr/>
          <p:nvPr/>
        </p:nvSpPr>
        <p:spPr>
          <a:xfrm>
            <a:off x="658350" y="5257800"/>
            <a:ext cx="2423100" cy="3933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1019" u="none" cap="none" strike="noStrike">
                <a:solidFill>
                  <a:srgbClr val="0A1F3A"/>
                </a:solidFill>
                <a:latin typeface="Noto Sans"/>
                <a:ea typeface="Noto Sans"/>
                <a:cs typeface="Noto Sans"/>
                <a:sym typeface="Noto Sans"/>
              </a:rPr>
              <a:t>v1 crop compositing</a:t>
            </a:r>
            <a:endParaRPr/>
          </a:p>
        </p:txBody>
      </p:sp>
      <p:sp>
        <p:nvSpPr>
          <p:cNvPr id="681" name="Google Shape;681;g3f1228d0cd6_0_105"/>
          <p:cNvSpPr/>
          <p:nvPr/>
        </p:nvSpPr>
        <p:spPr>
          <a:xfrm>
            <a:off x="3182027" y="5404104"/>
            <a:ext cx="329100" cy="91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2" name="Google Shape;682;g3f1228d0cd6_0_105"/>
          <p:cNvSpPr/>
          <p:nvPr/>
        </p:nvSpPr>
        <p:spPr>
          <a:xfrm>
            <a:off x="3611784" y="5257800"/>
            <a:ext cx="2606100" cy="3933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1019" u="none" cap="none" strike="noStrike">
                <a:solidFill>
                  <a:srgbClr val="0A1F3A"/>
                </a:solidFill>
                <a:latin typeface="Noto Sans"/>
                <a:ea typeface="Noto Sans"/>
                <a:cs typeface="Noto Sans"/>
                <a:sym typeface="Noto Sans"/>
              </a:rPr>
              <a:t>sample valuation / weighting</a:t>
            </a:r>
            <a:endParaRPr/>
          </a:p>
        </p:txBody>
      </p:sp>
      <p:sp>
        <p:nvSpPr>
          <p:cNvPr id="683" name="Google Shape;683;g3f1228d0cd6_0_105"/>
          <p:cNvSpPr/>
          <p:nvPr/>
        </p:nvSpPr>
        <p:spPr>
          <a:xfrm>
            <a:off x="6327479" y="5404104"/>
            <a:ext cx="329100" cy="91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4" name="Google Shape;684;g3f1228d0cd6_0_105"/>
          <p:cNvSpPr/>
          <p:nvPr/>
        </p:nvSpPr>
        <p:spPr>
          <a:xfrm>
            <a:off x="6766380" y="5257800"/>
            <a:ext cx="2331600" cy="3933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1019" u="none" cap="none" strike="noStrike">
                <a:solidFill>
                  <a:srgbClr val="0A1F3A"/>
                </a:solidFill>
                <a:latin typeface="Noto Sans"/>
                <a:ea typeface="Noto Sans"/>
                <a:cs typeface="Noto Sans"/>
                <a:sym typeface="Noto Sans"/>
              </a:rPr>
              <a:t>hard-negative mining</a:t>
            </a:r>
            <a:endParaRPr/>
          </a:p>
        </p:txBody>
      </p:sp>
      <p:sp>
        <p:nvSpPr>
          <p:cNvPr id="685" name="Google Shape;685;g3f1228d0cd6_0_105"/>
          <p:cNvSpPr/>
          <p:nvPr/>
        </p:nvSpPr>
        <p:spPr>
          <a:xfrm>
            <a:off x="9216906" y="5404104"/>
            <a:ext cx="329100" cy="91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6" name="Google Shape;686;g3f1228d0cd6_0_105"/>
          <p:cNvSpPr/>
          <p:nvPr/>
        </p:nvSpPr>
        <p:spPr>
          <a:xfrm>
            <a:off x="9646663" y="5257800"/>
            <a:ext cx="1902000" cy="3933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i="0" lang="en-US" sz="1019" u="none" cap="none" strike="noStrike">
                <a:solidFill>
                  <a:srgbClr val="0A1F3A"/>
                </a:solidFill>
                <a:latin typeface="Noto Sans"/>
                <a:ea typeface="Noto Sans"/>
                <a:cs typeface="Noto Sans"/>
                <a:sym typeface="Noto Sans"/>
              </a:rPr>
              <a:t>secure validation</a:t>
            </a:r>
            <a:endParaRPr/>
          </a:p>
        </p:txBody>
      </p:sp>
      <p:sp>
        <p:nvSpPr>
          <p:cNvPr id="687" name="Google Shape;687;g3f1228d0cd6_0_105"/>
          <p:cNvSpPr/>
          <p:nvPr/>
        </p:nvSpPr>
        <p:spPr>
          <a:xfrm>
            <a:off x="658350" y="5797296"/>
            <a:ext cx="10899300" cy="310800"/>
          </a:xfrm>
          <a:prstGeom prst="roundRect">
            <a:avLst>
              <a:gd fmla="val 16667" name="adj"/>
            </a:avLst>
          </a:prstGeom>
          <a:solidFill>
            <a:srgbClr val="F9F4E8"/>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64000" lIns="64000" spcFirstLastPara="1" rIns="64000" wrap="square" tIns="64000">
            <a:noAutofit/>
          </a:bodyPr>
          <a:lstStyle/>
          <a:p>
            <a:pPr indent="0" lvl="0" marL="0" marR="0" rtl="0" algn="l">
              <a:lnSpc>
                <a:spcPct val="100000"/>
              </a:lnSpc>
              <a:spcBef>
                <a:spcPts val="0"/>
              </a:spcBef>
              <a:spcAft>
                <a:spcPts val="0"/>
              </a:spcAft>
              <a:buNone/>
            </a:pPr>
            <a:r>
              <a:rPr b="1" i="0" lang="en-US" sz="1000" u="none" cap="none" strike="noStrike">
                <a:solidFill>
                  <a:srgbClr val="0A1F3A"/>
                </a:solidFill>
                <a:latin typeface="Noto Sans"/>
                <a:ea typeface="Noto Sans"/>
                <a:cs typeface="Noto Sans"/>
                <a:sym typeface="Noto Sans"/>
              </a:rPr>
              <a:t>결론: 저품질 synthetic sample은 성능 증거가 아니라, 후속 calibration-aware valuation 연구를 위한 baseline stress-test입니다.</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92" name="Shape 692"/>
        <p:cNvGrpSpPr/>
        <p:nvPr/>
      </p:nvGrpSpPr>
      <p:grpSpPr>
        <a:xfrm>
          <a:off x="0" y="0"/>
          <a:ext cx="0" cy="0"/>
          <a:chOff x="0" y="0"/>
          <a:chExt cx="0" cy="0"/>
        </a:xfrm>
      </p:grpSpPr>
      <p:sp>
        <p:nvSpPr>
          <p:cNvPr id="693" name="Google Shape;693;g3f1228d0cd6_0_155"/>
          <p:cNvSpPr txBox="1"/>
          <p:nvPr/>
        </p:nvSpPr>
        <p:spPr>
          <a:xfrm>
            <a:off x="512050" y="164592"/>
            <a:ext cx="4755000" cy="130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50" u="none" cap="none" strike="noStrike">
                <a:solidFill>
                  <a:srgbClr val="325C87"/>
                </a:solidFill>
                <a:latin typeface="Noto Sans"/>
                <a:ea typeface="Noto Sans"/>
                <a:cs typeface="Noto Sans"/>
                <a:sym typeface="Noto Sans"/>
              </a:rPr>
              <a:t>Appendix / Public-data-only significance</a:t>
            </a:r>
            <a:endParaRPr/>
          </a:p>
        </p:txBody>
      </p:sp>
      <p:sp>
        <p:nvSpPr>
          <p:cNvPr id="694" name="Google Shape;694;g3f1228d0cd6_0_155"/>
          <p:cNvSpPr txBox="1"/>
          <p:nvPr/>
        </p:nvSpPr>
        <p:spPr>
          <a:xfrm>
            <a:off x="512050" y="475488"/>
            <a:ext cx="10012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400" u="none" cap="none" strike="noStrike">
                <a:solidFill>
                  <a:srgbClr val="0A1F3A"/>
                </a:solidFill>
                <a:latin typeface="Noto Sans"/>
                <a:ea typeface="Noto Sans"/>
                <a:cs typeface="Noto Sans"/>
                <a:sym typeface="Noto Sans"/>
              </a:rPr>
              <a:t>A4. 비밀 데이터가 가능해도 공개자료 연구가 필요한 이유</a:t>
            </a:r>
            <a:endParaRPr/>
          </a:p>
        </p:txBody>
      </p:sp>
      <p:sp>
        <p:nvSpPr>
          <p:cNvPr id="695" name="Google Shape;695;g3f1228d0cd6_0_155"/>
          <p:cNvSpPr txBox="1"/>
          <p:nvPr/>
        </p:nvSpPr>
        <p:spPr>
          <a:xfrm>
            <a:off x="11265108" y="393192"/>
            <a:ext cx="411600" cy="123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00" u="none" cap="none" strike="noStrike">
                <a:solidFill>
                  <a:srgbClr val="566273"/>
                </a:solidFill>
                <a:latin typeface="Noto Sans"/>
                <a:ea typeface="Noto Sans"/>
                <a:cs typeface="Noto Sans"/>
                <a:sym typeface="Noto Sans"/>
              </a:rPr>
              <a:t>18</a:t>
            </a:r>
            <a:endParaRPr/>
          </a:p>
        </p:txBody>
      </p:sp>
      <p:sp>
        <p:nvSpPr>
          <p:cNvPr id="696" name="Google Shape;696;g3f1228d0cd6_0_155"/>
          <p:cNvSpPr/>
          <p:nvPr/>
        </p:nvSpPr>
        <p:spPr>
          <a:xfrm>
            <a:off x="512050" y="97840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7" name="Google Shape;697;g3f1228d0cd6_0_155"/>
          <p:cNvSpPr/>
          <p:nvPr/>
        </p:nvSpPr>
        <p:spPr>
          <a:xfrm>
            <a:off x="512050" y="6419088"/>
            <a:ext cx="11164500" cy="5400"/>
          </a:xfrm>
          <a:prstGeom prst="rect">
            <a:avLst/>
          </a:prstGeom>
          <a:solidFill>
            <a:srgbClr val="DAE2E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8" name="Google Shape;698;g3f1228d0cd6_0_155"/>
          <p:cNvSpPr txBox="1"/>
          <p:nvPr/>
        </p:nvSpPr>
        <p:spPr>
          <a:xfrm>
            <a:off x="512050" y="6510528"/>
            <a:ext cx="7772100" cy="11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해군 함정기술 무기체계 세미나 · 인공지능 적용 기반 함정 손상통제</a:t>
            </a:r>
            <a:endParaRPr/>
          </a:p>
        </p:txBody>
      </p:sp>
      <p:sp>
        <p:nvSpPr>
          <p:cNvPr id="699" name="Google Shape;699;g3f1228d0cd6_0_155"/>
          <p:cNvSpPr txBox="1"/>
          <p:nvPr/>
        </p:nvSpPr>
        <p:spPr>
          <a:xfrm>
            <a:off x="8430543" y="6510528"/>
            <a:ext cx="3246000" cy="1107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720" u="none" cap="none" strike="noStrike">
                <a:solidFill>
                  <a:srgbClr val="6D7786"/>
                </a:solidFill>
                <a:latin typeface="Noto Sans"/>
                <a:ea typeface="Noto Sans"/>
                <a:cs typeface="Noto Sans"/>
                <a:sym typeface="Noto Sans"/>
              </a:rPr>
              <a:t>Public-data-only ship-like proxy prototype · 18</a:t>
            </a:r>
            <a:endParaRPr/>
          </a:p>
        </p:txBody>
      </p:sp>
      <p:sp>
        <p:nvSpPr>
          <p:cNvPr id="700" name="Google Shape;700;g3f1228d0cd6_0_155"/>
          <p:cNvSpPr/>
          <p:nvPr/>
        </p:nvSpPr>
        <p:spPr>
          <a:xfrm>
            <a:off x="512050" y="1069848"/>
            <a:ext cx="11164500" cy="3840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US" sz="1420" u="none" cap="none" strike="noStrike">
                <a:solidFill>
                  <a:srgbClr val="0A1F3A"/>
                </a:solidFill>
                <a:latin typeface="Noto Sans"/>
                <a:ea typeface="Noto Sans"/>
                <a:cs typeface="Noto Sans"/>
                <a:sym typeface="Noto Sans"/>
              </a:rPr>
              <a:t>공개자료 연구는 보안 데이터를 대체하지 않고, 보안 데이터 투입 전의 reproducible scaffold와 failure-mode map을 만듭니다.</a:t>
            </a:r>
            <a:endParaRPr/>
          </a:p>
        </p:txBody>
      </p:sp>
      <p:sp>
        <p:nvSpPr>
          <p:cNvPr id="701" name="Google Shape;701;g3f1228d0cd6_0_155"/>
          <p:cNvSpPr/>
          <p:nvPr/>
        </p:nvSpPr>
        <p:spPr>
          <a:xfrm>
            <a:off x="2724839" y="2331720"/>
            <a:ext cx="3474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2" name="Google Shape;702;g3f1228d0cd6_0_155"/>
          <p:cNvSpPr/>
          <p:nvPr/>
        </p:nvSpPr>
        <p:spPr>
          <a:xfrm>
            <a:off x="5102216" y="2331720"/>
            <a:ext cx="3474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3" name="Google Shape;703;g3f1228d0cd6_0_155"/>
          <p:cNvSpPr/>
          <p:nvPr/>
        </p:nvSpPr>
        <p:spPr>
          <a:xfrm>
            <a:off x="7479593" y="2331720"/>
            <a:ext cx="3474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4" name="Google Shape;704;g3f1228d0cd6_0_155"/>
          <p:cNvSpPr/>
          <p:nvPr/>
        </p:nvSpPr>
        <p:spPr>
          <a:xfrm>
            <a:off x="9856969" y="2331720"/>
            <a:ext cx="347400" cy="100500"/>
          </a:xfrm>
          <a:prstGeom prst="rightArrow">
            <a:avLst>
              <a:gd fmla="val 50000" name="adj1"/>
              <a:gd fmla="val 50000" name="adj2"/>
            </a:avLst>
          </a:prstGeom>
          <a:solidFill>
            <a:srgbClr val="C6D0D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5" name="Google Shape;705;g3f1228d0cd6_0_155"/>
          <p:cNvSpPr/>
          <p:nvPr/>
        </p:nvSpPr>
        <p:spPr>
          <a:xfrm>
            <a:off x="594344" y="1691640"/>
            <a:ext cx="1965900" cy="1828800"/>
          </a:xfrm>
          <a:prstGeom prst="roundRect">
            <a:avLst>
              <a:gd fmla="val 16667" name="adj"/>
            </a:avLst>
          </a:prstGeom>
          <a:solidFill>
            <a:srgbClr val="EDF4FB"/>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6" name="Google Shape;706;g3f1228d0cd6_0_155"/>
          <p:cNvSpPr/>
          <p:nvPr/>
        </p:nvSpPr>
        <p:spPr>
          <a:xfrm>
            <a:off x="594344" y="1691640"/>
            <a:ext cx="50400" cy="1828800"/>
          </a:xfrm>
          <a:prstGeom prst="rect">
            <a:avLst/>
          </a:prstGeom>
          <a:solidFill>
            <a:srgbClr val="325C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7" name="Google Shape;707;g3f1228d0cd6_0_155"/>
          <p:cNvSpPr txBox="1"/>
          <p:nvPr/>
        </p:nvSpPr>
        <p:spPr>
          <a:xfrm>
            <a:off x="758932" y="1837944"/>
            <a:ext cx="1636800" cy="32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40" u="none" cap="none" strike="noStrike">
                <a:solidFill>
                  <a:srgbClr val="0A1F3A"/>
                </a:solidFill>
                <a:latin typeface="Noto Sans"/>
                <a:ea typeface="Noto Sans"/>
                <a:cs typeface="Noto Sans"/>
                <a:sym typeface="Noto Sans"/>
              </a:rPr>
              <a:t>Stage 0</a:t>
            </a:r>
            <a:br>
              <a:rPr b="1" i="0" lang="en-US" sz="1040" u="none" cap="none" strike="noStrike">
                <a:solidFill>
                  <a:srgbClr val="0A1F3A"/>
                </a:solidFill>
                <a:latin typeface="Noto Sans"/>
                <a:ea typeface="Noto Sans"/>
                <a:cs typeface="Noto Sans"/>
                <a:sym typeface="Noto Sans"/>
              </a:rPr>
            </a:br>
            <a:r>
              <a:rPr b="1" i="0" lang="en-US" sz="1040" u="none" cap="none" strike="noStrike">
                <a:solidFill>
                  <a:srgbClr val="0A1F3A"/>
                </a:solidFill>
                <a:latin typeface="Noto Sans"/>
                <a:ea typeface="Noto Sans"/>
                <a:cs typeface="Noto Sans"/>
                <a:sym typeface="Noto Sans"/>
              </a:rPr>
              <a:t>Public-data scaffold</a:t>
            </a:r>
            <a:endParaRPr/>
          </a:p>
        </p:txBody>
      </p:sp>
      <p:sp>
        <p:nvSpPr>
          <p:cNvPr id="708" name="Google Shape;708;g3f1228d0cd6_0_155"/>
          <p:cNvSpPr txBox="1"/>
          <p:nvPr/>
        </p:nvSpPr>
        <p:spPr>
          <a:xfrm>
            <a:off x="758932" y="2167128"/>
            <a:ext cx="1636800" cy="39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60" u="none" cap="none" strike="noStrike">
                <a:solidFill>
                  <a:srgbClr val="566273"/>
                </a:solidFill>
                <a:latin typeface="Noto Sans"/>
                <a:ea typeface="Noto Sans"/>
                <a:cs typeface="Noto Sans"/>
                <a:sym typeface="Noto Sans"/>
              </a:rPr>
              <a:t>taxonomy · proxy generation</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detector/verifier/logging</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open review 가능</a:t>
            </a:r>
            <a:endParaRPr/>
          </a:p>
        </p:txBody>
      </p:sp>
      <p:sp>
        <p:nvSpPr>
          <p:cNvPr id="709" name="Google Shape;709;g3f1228d0cd6_0_155"/>
          <p:cNvSpPr/>
          <p:nvPr/>
        </p:nvSpPr>
        <p:spPr>
          <a:xfrm>
            <a:off x="3154596" y="1691640"/>
            <a:ext cx="1965900" cy="1828800"/>
          </a:xfrm>
          <a:prstGeom prst="roundRect">
            <a:avLst>
              <a:gd fmla="val 16667" name="adj"/>
            </a:avLst>
          </a:prstGeom>
          <a:solidFill>
            <a:srgbClr val="F7F9FC"/>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0" name="Google Shape;710;g3f1228d0cd6_0_155"/>
          <p:cNvSpPr/>
          <p:nvPr/>
        </p:nvSpPr>
        <p:spPr>
          <a:xfrm>
            <a:off x="3154596" y="1691640"/>
            <a:ext cx="50400" cy="1828800"/>
          </a:xfrm>
          <a:prstGeom prst="rect">
            <a:avLst/>
          </a:prstGeom>
          <a:solidFill>
            <a:srgbClr val="16375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1" name="Google Shape;711;g3f1228d0cd6_0_155"/>
          <p:cNvSpPr txBox="1"/>
          <p:nvPr/>
        </p:nvSpPr>
        <p:spPr>
          <a:xfrm>
            <a:off x="3319184" y="1837944"/>
            <a:ext cx="1636800" cy="32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40" u="none" cap="none" strike="noStrike">
                <a:solidFill>
                  <a:srgbClr val="0A1F3A"/>
                </a:solidFill>
                <a:latin typeface="Noto Sans"/>
                <a:ea typeface="Noto Sans"/>
                <a:cs typeface="Noto Sans"/>
                <a:sym typeface="Noto Sans"/>
              </a:rPr>
              <a:t>Stage 1</a:t>
            </a:r>
            <a:br>
              <a:rPr b="1" i="0" lang="en-US" sz="1040" u="none" cap="none" strike="noStrike">
                <a:solidFill>
                  <a:srgbClr val="0A1F3A"/>
                </a:solidFill>
                <a:latin typeface="Noto Sans"/>
                <a:ea typeface="Noto Sans"/>
                <a:cs typeface="Noto Sans"/>
                <a:sym typeface="Noto Sans"/>
              </a:rPr>
            </a:br>
            <a:r>
              <a:rPr b="1" i="0" lang="en-US" sz="1040" u="none" cap="none" strike="noStrike">
                <a:solidFill>
                  <a:srgbClr val="0A1F3A"/>
                </a:solidFill>
                <a:latin typeface="Noto Sans"/>
                <a:ea typeface="Noto Sans"/>
                <a:cs typeface="Noto Sans"/>
                <a:sym typeface="Noto Sans"/>
              </a:rPr>
              <a:t>Secure data integration</a:t>
            </a:r>
            <a:endParaRPr/>
          </a:p>
        </p:txBody>
      </p:sp>
      <p:sp>
        <p:nvSpPr>
          <p:cNvPr id="712" name="Google Shape;712;g3f1228d0cd6_0_155"/>
          <p:cNvSpPr txBox="1"/>
          <p:nvPr/>
        </p:nvSpPr>
        <p:spPr>
          <a:xfrm>
            <a:off x="3319184" y="2167128"/>
            <a:ext cx="1636800" cy="39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60" u="none" cap="none" strike="noStrike">
                <a:solidFill>
                  <a:srgbClr val="566273"/>
                </a:solidFill>
                <a:latin typeface="Noto Sans"/>
                <a:ea typeface="Noto Sans"/>
                <a:cs typeface="Noto Sans"/>
                <a:sym typeface="Noto Sans"/>
              </a:rPr>
              <a:t>실제 CCTV metadata</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보안/익명화/반출통제</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label protocol</a:t>
            </a:r>
            <a:endParaRPr/>
          </a:p>
        </p:txBody>
      </p:sp>
      <p:sp>
        <p:nvSpPr>
          <p:cNvPr id="713" name="Google Shape;713;g3f1228d0cd6_0_155"/>
          <p:cNvSpPr/>
          <p:nvPr/>
        </p:nvSpPr>
        <p:spPr>
          <a:xfrm>
            <a:off x="5531973" y="1691640"/>
            <a:ext cx="1965900" cy="1828800"/>
          </a:xfrm>
          <a:prstGeom prst="roundRect">
            <a:avLst>
              <a:gd fmla="val 16667" name="adj"/>
            </a:avLst>
          </a:prstGeom>
          <a:solidFill>
            <a:srgbClr val="F9F4E8"/>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4" name="Google Shape;714;g3f1228d0cd6_0_155"/>
          <p:cNvSpPr/>
          <p:nvPr/>
        </p:nvSpPr>
        <p:spPr>
          <a:xfrm>
            <a:off x="5531973" y="1691640"/>
            <a:ext cx="50400" cy="1828800"/>
          </a:xfrm>
          <a:prstGeom prst="rect">
            <a:avLst/>
          </a:prstGeom>
          <a:solidFill>
            <a:srgbClr val="AF7E2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5" name="Google Shape;715;g3f1228d0cd6_0_155"/>
          <p:cNvSpPr txBox="1"/>
          <p:nvPr/>
        </p:nvSpPr>
        <p:spPr>
          <a:xfrm>
            <a:off x="5696560" y="1837944"/>
            <a:ext cx="1636800" cy="32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40" u="none" cap="none" strike="noStrike">
                <a:solidFill>
                  <a:srgbClr val="0A1F3A"/>
                </a:solidFill>
                <a:latin typeface="Noto Sans"/>
                <a:ea typeface="Noto Sans"/>
                <a:cs typeface="Noto Sans"/>
                <a:sym typeface="Noto Sans"/>
              </a:rPr>
              <a:t>Stage 2</a:t>
            </a:r>
            <a:br>
              <a:rPr b="1" i="0" lang="en-US" sz="1040" u="none" cap="none" strike="noStrike">
                <a:solidFill>
                  <a:srgbClr val="0A1F3A"/>
                </a:solidFill>
                <a:latin typeface="Noto Sans"/>
                <a:ea typeface="Noto Sans"/>
                <a:cs typeface="Noto Sans"/>
                <a:sym typeface="Noto Sans"/>
              </a:rPr>
            </a:br>
            <a:r>
              <a:rPr b="1" i="0" lang="en-US" sz="1040" u="none" cap="none" strike="noStrike">
                <a:solidFill>
                  <a:srgbClr val="0A1F3A"/>
                </a:solidFill>
                <a:latin typeface="Noto Sans"/>
                <a:ea typeface="Noto Sans"/>
                <a:cs typeface="Noto Sans"/>
                <a:sym typeface="Noto Sans"/>
              </a:rPr>
              <a:t>Calibration &amp; mining</a:t>
            </a:r>
            <a:endParaRPr/>
          </a:p>
        </p:txBody>
      </p:sp>
      <p:sp>
        <p:nvSpPr>
          <p:cNvPr id="716" name="Google Shape;716;g3f1228d0cd6_0_155"/>
          <p:cNvSpPr txBox="1"/>
          <p:nvPr/>
        </p:nvSpPr>
        <p:spPr>
          <a:xfrm>
            <a:off x="5696560" y="2167128"/>
            <a:ext cx="1636800" cy="39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60" u="none" cap="none" strike="noStrike">
                <a:solidFill>
                  <a:srgbClr val="566273"/>
                </a:solidFill>
                <a:latin typeface="Noto Sans"/>
                <a:ea typeface="Noto Sans"/>
                <a:cs typeface="Noto Sans"/>
                <a:sym typeface="Noto Sans"/>
              </a:rPr>
              <a:t>class-wise threshold</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hard-negative mining</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reliability / ECE</a:t>
            </a:r>
            <a:endParaRPr/>
          </a:p>
        </p:txBody>
      </p:sp>
      <p:sp>
        <p:nvSpPr>
          <p:cNvPr id="717" name="Google Shape;717;g3f1228d0cd6_0_155"/>
          <p:cNvSpPr/>
          <p:nvPr/>
        </p:nvSpPr>
        <p:spPr>
          <a:xfrm>
            <a:off x="7909349" y="1691640"/>
            <a:ext cx="1965900" cy="1828800"/>
          </a:xfrm>
          <a:prstGeom prst="roundRect">
            <a:avLst>
              <a:gd fmla="val 16667" name="adj"/>
            </a:avLst>
          </a:prstGeom>
          <a:solidFill>
            <a:srgbClr val="EFF6F3"/>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8" name="Google Shape;718;g3f1228d0cd6_0_155"/>
          <p:cNvSpPr/>
          <p:nvPr/>
        </p:nvSpPr>
        <p:spPr>
          <a:xfrm>
            <a:off x="7909349" y="1691640"/>
            <a:ext cx="50400" cy="1828800"/>
          </a:xfrm>
          <a:prstGeom prst="rect">
            <a:avLst/>
          </a:prstGeom>
          <a:solidFill>
            <a:srgbClr val="48735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9" name="Google Shape;719;g3f1228d0cd6_0_155"/>
          <p:cNvSpPr txBox="1"/>
          <p:nvPr/>
        </p:nvSpPr>
        <p:spPr>
          <a:xfrm>
            <a:off x="8073937" y="1837944"/>
            <a:ext cx="1636800" cy="32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40" u="none" cap="none" strike="noStrike">
                <a:solidFill>
                  <a:srgbClr val="0A1F3A"/>
                </a:solidFill>
                <a:latin typeface="Noto Sans"/>
                <a:ea typeface="Noto Sans"/>
                <a:cs typeface="Noto Sans"/>
                <a:sym typeface="Noto Sans"/>
              </a:rPr>
              <a:t>Stage 3</a:t>
            </a:r>
            <a:br>
              <a:rPr b="1" i="0" lang="en-US" sz="1040" u="none" cap="none" strike="noStrike">
                <a:solidFill>
                  <a:srgbClr val="0A1F3A"/>
                </a:solidFill>
                <a:latin typeface="Noto Sans"/>
                <a:ea typeface="Noto Sans"/>
                <a:cs typeface="Noto Sans"/>
                <a:sym typeface="Noto Sans"/>
              </a:rPr>
            </a:br>
            <a:r>
              <a:rPr b="1" i="0" lang="en-US" sz="1040" u="none" cap="none" strike="noStrike">
                <a:solidFill>
                  <a:srgbClr val="0A1F3A"/>
                </a:solidFill>
                <a:latin typeface="Noto Sans"/>
                <a:ea typeface="Noto Sans"/>
                <a:cs typeface="Noto Sans"/>
                <a:sym typeface="Noto Sans"/>
              </a:rPr>
              <a:t>Long-run validation</a:t>
            </a:r>
            <a:endParaRPr/>
          </a:p>
        </p:txBody>
      </p:sp>
      <p:sp>
        <p:nvSpPr>
          <p:cNvPr id="720" name="Google Shape;720;g3f1228d0cd6_0_155"/>
          <p:cNvSpPr txBox="1"/>
          <p:nvPr/>
        </p:nvSpPr>
        <p:spPr>
          <a:xfrm>
            <a:off x="8073937" y="2167128"/>
            <a:ext cx="1636800" cy="39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60" u="none" cap="none" strike="noStrike">
                <a:solidFill>
                  <a:srgbClr val="566273"/>
                </a:solidFill>
                <a:latin typeface="Noto Sans"/>
                <a:ea typeface="Noto Sans"/>
                <a:cs typeface="Noto Sans"/>
                <a:sym typeface="Noto Sans"/>
              </a:rPr>
              <a:t>RTSP/MP4 장시간</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false alarm per hour/day</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drift / load test</a:t>
            </a:r>
            <a:endParaRPr/>
          </a:p>
        </p:txBody>
      </p:sp>
      <p:sp>
        <p:nvSpPr>
          <p:cNvPr id="721" name="Google Shape;721;g3f1228d0cd6_0_155"/>
          <p:cNvSpPr/>
          <p:nvPr/>
        </p:nvSpPr>
        <p:spPr>
          <a:xfrm>
            <a:off x="10103851" y="1691640"/>
            <a:ext cx="1965900" cy="1828800"/>
          </a:xfrm>
          <a:prstGeom prst="roundRect">
            <a:avLst>
              <a:gd fmla="val 16667" name="adj"/>
            </a:avLst>
          </a:prstGeom>
          <a:solidFill>
            <a:srgbClr val="F8EEEE"/>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2" name="Google Shape;722;g3f1228d0cd6_0_155"/>
          <p:cNvSpPr/>
          <p:nvPr/>
        </p:nvSpPr>
        <p:spPr>
          <a:xfrm>
            <a:off x="10103851" y="1691640"/>
            <a:ext cx="50400" cy="1828800"/>
          </a:xfrm>
          <a:prstGeom prst="rect">
            <a:avLst/>
          </a:prstGeom>
          <a:solidFill>
            <a:srgbClr val="A04B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3" name="Google Shape;723;g3f1228d0cd6_0_155"/>
          <p:cNvSpPr txBox="1"/>
          <p:nvPr/>
        </p:nvSpPr>
        <p:spPr>
          <a:xfrm>
            <a:off x="10268438" y="1837944"/>
            <a:ext cx="1636800" cy="32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40" u="none" cap="none" strike="noStrike">
                <a:solidFill>
                  <a:srgbClr val="0A1F3A"/>
                </a:solidFill>
                <a:latin typeface="Noto Sans"/>
                <a:ea typeface="Noto Sans"/>
                <a:cs typeface="Noto Sans"/>
                <a:sym typeface="Noto Sans"/>
              </a:rPr>
              <a:t>Gate</a:t>
            </a:r>
            <a:br>
              <a:rPr b="1" i="0" lang="en-US" sz="1040" u="none" cap="none" strike="noStrike">
                <a:solidFill>
                  <a:srgbClr val="0A1F3A"/>
                </a:solidFill>
                <a:latin typeface="Noto Sans"/>
                <a:ea typeface="Noto Sans"/>
                <a:cs typeface="Noto Sans"/>
                <a:sym typeface="Noto Sans"/>
              </a:rPr>
            </a:br>
            <a:r>
              <a:rPr b="1" i="0" lang="en-US" sz="1040" u="none" cap="none" strike="noStrike">
                <a:solidFill>
                  <a:srgbClr val="0A1F3A"/>
                </a:solidFill>
                <a:latin typeface="Noto Sans"/>
                <a:ea typeface="Noto Sans"/>
                <a:cs typeface="Noto Sans"/>
                <a:sym typeface="Noto Sans"/>
              </a:rPr>
              <a:t>Operational decision</a:t>
            </a:r>
            <a:endParaRPr/>
          </a:p>
        </p:txBody>
      </p:sp>
      <p:sp>
        <p:nvSpPr>
          <p:cNvPr id="724" name="Google Shape;724;g3f1228d0cd6_0_155"/>
          <p:cNvSpPr txBox="1"/>
          <p:nvPr/>
        </p:nvSpPr>
        <p:spPr>
          <a:xfrm>
            <a:off x="10268438" y="2167128"/>
            <a:ext cx="1636800" cy="39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60" u="none" cap="none" strike="noStrike">
                <a:solidFill>
                  <a:srgbClr val="566273"/>
                </a:solidFill>
                <a:latin typeface="Noto Sans"/>
                <a:ea typeface="Noto Sans"/>
                <a:cs typeface="Noto Sans"/>
                <a:sym typeface="Noto Sans"/>
              </a:rPr>
              <a:t>human-in-loop pilot</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audit trail · SOP</a:t>
            </a:r>
            <a:br>
              <a:rPr b="0" i="0" lang="en-US" sz="860" u="none" cap="none" strike="noStrike">
                <a:solidFill>
                  <a:srgbClr val="566273"/>
                </a:solidFill>
                <a:latin typeface="Noto Sans"/>
                <a:ea typeface="Noto Sans"/>
                <a:cs typeface="Noto Sans"/>
                <a:sym typeface="Noto Sans"/>
              </a:rPr>
            </a:br>
            <a:r>
              <a:rPr b="0" i="0" lang="en-US" sz="860" u="none" cap="none" strike="noStrike">
                <a:solidFill>
                  <a:srgbClr val="566273"/>
                </a:solidFill>
                <a:latin typeface="Noto Sans"/>
                <a:ea typeface="Noto Sans"/>
                <a:cs typeface="Noto Sans"/>
                <a:sym typeface="Noto Sans"/>
              </a:rPr>
              <a:t>운용 적합성 판단</a:t>
            </a:r>
            <a:endParaRPr/>
          </a:p>
        </p:txBody>
      </p:sp>
      <p:sp>
        <p:nvSpPr>
          <p:cNvPr id="725" name="Google Shape;725;g3f1228d0cd6_0_155"/>
          <p:cNvSpPr/>
          <p:nvPr/>
        </p:nvSpPr>
        <p:spPr>
          <a:xfrm>
            <a:off x="594344" y="3977639"/>
            <a:ext cx="3474600" cy="1234500"/>
          </a:xfrm>
          <a:prstGeom prst="roundRect">
            <a:avLst>
              <a:gd fmla="val 16667" name="adj"/>
            </a:avLst>
          </a:prstGeom>
          <a:solidFill>
            <a:srgbClr val="FCFDFF"/>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6" name="Google Shape;726;g3f1228d0cd6_0_155"/>
          <p:cNvSpPr/>
          <p:nvPr/>
        </p:nvSpPr>
        <p:spPr>
          <a:xfrm>
            <a:off x="594344" y="3977639"/>
            <a:ext cx="50400" cy="1234500"/>
          </a:xfrm>
          <a:prstGeom prst="rect">
            <a:avLst/>
          </a:prstGeom>
          <a:solidFill>
            <a:srgbClr val="325C8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7" name="Google Shape;727;g3f1228d0cd6_0_155"/>
          <p:cNvSpPr txBox="1"/>
          <p:nvPr/>
        </p:nvSpPr>
        <p:spPr>
          <a:xfrm>
            <a:off x="758932" y="4123944"/>
            <a:ext cx="3145500" cy="17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20" u="none" cap="none" strike="noStrike">
                <a:solidFill>
                  <a:srgbClr val="0A1F3A"/>
                </a:solidFill>
                <a:latin typeface="Noto Sans"/>
                <a:ea typeface="Noto Sans"/>
                <a:cs typeface="Noto Sans"/>
                <a:sym typeface="Noto Sans"/>
              </a:rPr>
              <a:t>공개자료 단계의 역할</a:t>
            </a:r>
            <a:endParaRPr/>
          </a:p>
        </p:txBody>
      </p:sp>
      <p:sp>
        <p:nvSpPr>
          <p:cNvPr id="728" name="Google Shape;728;g3f1228d0cd6_0_155"/>
          <p:cNvSpPr txBox="1"/>
          <p:nvPr/>
        </p:nvSpPr>
        <p:spPr>
          <a:xfrm>
            <a:off x="758932" y="4453127"/>
            <a:ext cx="3145500" cy="28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19" u="none" cap="none" strike="noStrike">
                <a:solidFill>
                  <a:srgbClr val="566273"/>
                </a:solidFill>
                <a:latin typeface="Noto Sans"/>
                <a:ea typeface="Noto Sans"/>
                <a:cs typeface="Noto Sans"/>
                <a:sym typeface="Noto Sans"/>
              </a:rPr>
              <a:t>비밀 데이터를 쓰지 않고도 data taxonomy, confuser 정의, logging/evidence 구조, temporal rule의 오류를 먼저 점검</a:t>
            </a:r>
            <a:endParaRPr/>
          </a:p>
        </p:txBody>
      </p:sp>
      <p:sp>
        <p:nvSpPr>
          <p:cNvPr id="729" name="Google Shape;729;g3f1228d0cd6_0_155"/>
          <p:cNvSpPr/>
          <p:nvPr/>
        </p:nvSpPr>
        <p:spPr>
          <a:xfrm>
            <a:off x="4370715" y="3977639"/>
            <a:ext cx="3474600" cy="1234500"/>
          </a:xfrm>
          <a:prstGeom prst="roundRect">
            <a:avLst>
              <a:gd fmla="val 16667" name="adj"/>
            </a:avLst>
          </a:prstGeom>
          <a:solidFill>
            <a:srgbClr val="FCFDFF"/>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0" name="Google Shape;730;g3f1228d0cd6_0_155"/>
          <p:cNvSpPr/>
          <p:nvPr/>
        </p:nvSpPr>
        <p:spPr>
          <a:xfrm>
            <a:off x="4370715" y="3977639"/>
            <a:ext cx="50400" cy="1234500"/>
          </a:xfrm>
          <a:prstGeom prst="rect">
            <a:avLst/>
          </a:prstGeom>
          <a:solidFill>
            <a:srgbClr val="AF7E2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1" name="Google Shape;731;g3f1228d0cd6_0_155"/>
          <p:cNvSpPr txBox="1"/>
          <p:nvPr/>
        </p:nvSpPr>
        <p:spPr>
          <a:xfrm>
            <a:off x="4535303" y="4123944"/>
            <a:ext cx="3145500" cy="17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20" u="none" cap="none" strike="noStrike">
                <a:solidFill>
                  <a:srgbClr val="0A1F3A"/>
                </a:solidFill>
                <a:latin typeface="Noto Sans"/>
                <a:ea typeface="Noto Sans"/>
                <a:cs typeface="Noto Sans"/>
                <a:sym typeface="Noto Sans"/>
              </a:rPr>
              <a:t>보안 데이터 단계의 역할</a:t>
            </a:r>
            <a:endParaRPr/>
          </a:p>
        </p:txBody>
      </p:sp>
      <p:sp>
        <p:nvSpPr>
          <p:cNvPr id="732" name="Google Shape;732;g3f1228d0cd6_0_155"/>
          <p:cNvSpPr txBox="1"/>
          <p:nvPr/>
        </p:nvSpPr>
        <p:spPr>
          <a:xfrm>
            <a:off x="4535303" y="4453127"/>
            <a:ext cx="3145500" cy="28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19" u="none" cap="none" strike="noStrike">
                <a:solidFill>
                  <a:srgbClr val="566273"/>
                </a:solidFill>
                <a:latin typeface="Noto Sans"/>
                <a:ea typeface="Noto Sans"/>
                <a:cs typeface="Noto Sans"/>
                <a:sym typeface="Noto Sans"/>
              </a:rPr>
              <a:t>실제 CCTV domain에서 calibration, class-wise threshold, blind validation, false-alarm rate를 재측정</a:t>
            </a:r>
            <a:endParaRPr/>
          </a:p>
        </p:txBody>
      </p:sp>
      <p:sp>
        <p:nvSpPr>
          <p:cNvPr id="733" name="Google Shape;733;g3f1228d0cd6_0_155"/>
          <p:cNvSpPr/>
          <p:nvPr/>
        </p:nvSpPr>
        <p:spPr>
          <a:xfrm>
            <a:off x="8147087" y="3977639"/>
            <a:ext cx="3456300" cy="1234500"/>
          </a:xfrm>
          <a:prstGeom prst="roundRect">
            <a:avLst>
              <a:gd fmla="val 16667" name="adj"/>
            </a:avLst>
          </a:prstGeom>
          <a:solidFill>
            <a:srgbClr val="FCFDFF"/>
          </a:solidFill>
          <a:ln cap="flat" cmpd="sng" w="10150">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4" name="Google Shape;734;g3f1228d0cd6_0_155"/>
          <p:cNvSpPr/>
          <p:nvPr/>
        </p:nvSpPr>
        <p:spPr>
          <a:xfrm>
            <a:off x="8147087" y="3977639"/>
            <a:ext cx="50400" cy="1234500"/>
          </a:xfrm>
          <a:prstGeom prst="rect">
            <a:avLst/>
          </a:prstGeom>
          <a:solidFill>
            <a:srgbClr val="48735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5" name="Google Shape;735;g3f1228d0cd6_0_155"/>
          <p:cNvSpPr txBox="1"/>
          <p:nvPr/>
        </p:nvSpPr>
        <p:spPr>
          <a:xfrm>
            <a:off x="8311674" y="4123944"/>
            <a:ext cx="3127200" cy="172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20" u="none" cap="none" strike="noStrike">
                <a:solidFill>
                  <a:srgbClr val="0A1F3A"/>
                </a:solidFill>
                <a:latin typeface="Noto Sans"/>
                <a:ea typeface="Noto Sans"/>
                <a:cs typeface="Noto Sans"/>
                <a:sym typeface="Noto Sans"/>
              </a:rPr>
              <a:t>배치 판단의 조건</a:t>
            </a:r>
            <a:endParaRPr/>
          </a:p>
        </p:txBody>
      </p:sp>
      <p:sp>
        <p:nvSpPr>
          <p:cNvPr id="736" name="Google Shape;736;g3f1228d0cd6_0_155"/>
          <p:cNvSpPr txBox="1"/>
          <p:nvPr/>
        </p:nvSpPr>
        <p:spPr>
          <a:xfrm>
            <a:off x="8311674" y="4453127"/>
            <a:ext cx="3127200" cy="28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19" u="none" cap="none" strike="noStrike">
                <a:solidFill>
                  <a:srgbClr val="566273"/>
                </a:solidFill>
                <a:latin typeface="Noto Sans"/>
                <a:ea typeface="Noto Sans"/>
                <a:cs typeface="Noto Sans"/>
                <a:sym typeface="Noto Sans"/>
              </a:rPr>
              <a:t>detector metric이 아니라 장시간 event-level evidence, 운용 절차, 감사 가능성까지 포함한 system assurance 필요</a:t>
            </a:r>
            <a:endParaRPr/>
          </a:p>
        </p:txBody>
      </p:sp>
      <p:sp>
        <p:nvSpPr>
          <p:cNvPr id="737" name="Google Shape;737;g3f1228d0cd6_0_155"/>
          <p:cNvSpPr/>
          <p:nvPr/>
        </p:nvSpPr>
        <p:spPr>
          <a:xfrm>
            <a:off x="658350" y="5742432"/>
            <a:ext cx="10899300" cy="420600"/>
          </a:xfrm>
          <a:prstGeom prst="roundRect">
            <a:avLst>
              <a:gd fmla="val 16667" name="adj"/>
            </a:avLst>
          </a:prstGeom>
          <a:solidFill>
            <a:srgbClr val="F7F9FC"/>
          </a:solidFill>
          <a:ln cap="flat" cmpd="sng" w="9525">
            <a:solidFill>
              <a:srgbClr val="DAE2ED"/>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73150" lIns="73150" spcFirstLastPara="1" rIns="73150" wrap="square" tIns="73150">
            <a:noAutofit/>
          </a:bodyPr>
          <a:lstStyle/>
          <a:p>
            <a:pPr indent="0" lvl="0" marL="0" marR="0" rtl="0" algn="l">
              <a:lnSpc>
                <a:spcPct val="100000"/>
              </a:lnSpc>
              <a:spcBef>
                <a:spcPts val="0"/>
              </a:spcBef>
              <a:spcAft>
                <a:spcPts val="0"/>
              </a:spcAft>
              <a:buNone/>
            </a:pPr>
            <a:r>
              <a:rPr b="1" i="0" lang="en-US" sz="1010" u="none" cap="none" strike="noStrike">
                <a:solidFill>
                  <a:srgbClr val="0A1F3A"/>
                </a:solidFill>
                <a:latin typeface="Noto Sans"/>
                <a:ea typeface="Noto Sans"/>
                <a:cs typeface="Noto Sans"/>
                <a:sym typeface="Noto Sans"/>
              </a:rPr>
              <a:t>한 문장 정리: 공개자료 연구는 “성능 최종 검증”이 아니라, 보안 데이터 검증을 더 안전하고 빠르게 시작하기 위한 방법론적 준비 단계입니다.</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2026-06-05T05:29:35Z</dcterms:created>
  <dc:creator>OpenAI</dc:creator>
</cp:coreProperties>
</file>